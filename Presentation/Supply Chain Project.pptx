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4" r:id="rId3"/>
    <p:sldId id="275" r:id="rId4"/>
    <p:sldId id="258" r:id="rId5"/>
    <p:sldId id="268" r:id="rId6"/>
    <p:sldId id="260" r:id="rId7"/>
    <p:sldId id="261" r:id="rId8"/>
    <p:sldId id="262" r:id="rId9"/>
    <p:sldId id="263" r:id="rId10"/>
    <p:sldId id="264" r:id="rId11"/>
    <p:sldId id="265" r:id="rId12"/>
    <p:sldId id="266" r:id="rId13"/>
    <p:sldId id="267"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US" sz="1000" b="0" i="0" u="none" strike="noStrike" dirty="0">
                <a:solidFill>
                  <a:srgbClr val="1F4E79"/>
                </a:solidFill>
                <a:latin typeface="Arial"/>
              </a:rPr>
              <a:t>Monthly Revenue (K) </a:t>
            </a:r>
          </a:p>
        </c:rich>
      </c:tx>
      <c:overlay val="0"/>
    </c:title>
    <c:autoTitleDeleted val="0"/>
    <c:plotArea>
      <c:layout/>
      <c:barChart>
        <c:barDir val="col"/>
        <c:grouping val="clustered"/>
        <c:varyColors val="0"/>
        <c:ser>
          <c:idx val="0"/>
          <c:order val="0"/>
          <c:tx>
            <c:strRef>
              <c:f>Sheet1!$B$1</c:f>
              <c:strCache>
                <c:ptCount val="1"/>
                <c:pt idx="0">
                  <c:v>Revenue (K)</c:v>
                </c:pt>
              </c:strCache>
            </c:strRef>
          </c:tx>
          <c:spPr>
            <a:solidFill>
              <a:srgbClr val="0E7490"/>
            </a:solidFill>
            <a:effectLst/>
          </c:spPr>
          <c:invertIfNegative val="0"/>
          <c:dLbls>
            <c:dLbl>
              <c:idx val="1"/>
              <c:tx>
                <c:rich>
                  <a:bodyPr/>
                  <a:lstStyle/>
                  <a:p>
                    <a:r>
                      <a:rPr lang="en-US" dirty="0"/>
                      <a:t>247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88-4AC8-94A1-A684DFAE1FA4}"/>
                </c:ext>
              </c:extLst>
            </c:dLbl>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194</c:v>
                </c:pt>
                <c:pt idx="1">
                  <c:v>247</c:v>
                </c:pt>
                <c:pt idx="2">
                  <c:v>355</c:v>
                </c:pt>
                <c:pt idx="3">
                  <c:v>287</c:v>
                </c:pt>
                <c:pt idx="4">
                  <c:v>524</c:v>
                </c:pt>
                <c:pt idx="5">
                  <c:v>275</c:v>
                </c:pt>
                <c:pt idx="6">
                  <c:v>459</c:v>
                </c:pt>
                <c:pt idx="7">
                  <c:v>368</c:v>
                </c:pt>
                <c:pt idx="8">
                  <c:v>204</c:v>
                </c:pt>
                <c:pt idx="9">
                  <c:v>392</c:v>
                </c:pt>
                <c:pt idx="10">
                  <c:v>264</c:v>
                </c:pt>
                <c:pt idx="11">
                  <c:v>311</c:v>
                </c:pt>
              </c:numCache>
            </c:numRef>
          </c:val>
          <c:extLst>
            <c:ext xmlns:c16="http://schemas.microsoft.com/office/drawing/2014/chart" uri="{C3380CC4-5D6E-409C-BE32-E72D297353CC}">
              <c16:uniqueId val="{00000000-3488-4AC8-94A1-A684DFAE1FA4}"/>
            </c:ext>
          </c:extLst>
        </c:ser>
        <c:dLbls>
          <c:showLegendKey val="0"/>
          <c:showVal val="1"/>
          <c:showCatName val="0"/>
          <c:showSerName val="0"/>
          <c:showPercent val="0"/>
          <c:showBubbleSize val="0"/>
        </c:dLbls>
        <c:gapWidth val="144"/>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IN" sz="1000" b="0" i="0" u="none" strike="noStrike" dirty="0">
                <a:solidFill>
                  <a:srgbClr val="1F4E79"/>
                </a:solidFill>
                <a:latin typeface="Arial"/>
              </a:rPr>
              <a:t>Order Status</a:t>
            </a:r>
          </a:p>
        </c:rich>
      </c:tx>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0D9488"/>
              </a:solidFill>
              <a:effectLst/>
            </c:spPr>
            <c:extLst>
              <c:ext xmlns:c16="http://schemas.microsoft.com/office/drawing/2014/chart" uri="{C3380CC4-5D6E-409C-BE32-E72D297353CC}">
                <c16:uniqueId val="{00000001-4E62-4A0E-82BD-4083E8F17613}"/>
              </c:ext>
            </c:extLst>
          </c:dPt>
          <c:dPt>
            <c:idx val="1"/>
            <c:bubble3D val="0"/>
            <c:spPr>
              <a:solidFill>
                <a:srgbClr val="B45309"/>
              </a:solidFill>
              <a:effectLst/>
            </c:spPr>
            <c:extLst>
              <c:ext xmlns:c16="http://schemas.microsoft.com/office/drawing/2014/chart" uri="{C3380CC4-5D6E-409C-BE32-E72D297353CC}">
                <c16:uniqueId val="{00000003-4E62-4A0E-82BD-4083E8F17613}"/>
              </c:ext>
            </c:extLst>
          </c:dPt>
          <c:dPt>
            <c:idx val="2"/>
            <c:bubble3D val="0"/>
            <c:spPr>
              <a:solidFill>
                <a:srgbClr val="991B1B"/>
              </a:solidFill>
              <a:effectLst/>
            </c:spPr>
            <c:extLst>
              <c:ext xmlns:c16="http://schemas.microsoft.com/office/drawing/2014/chart" uri="{C3380CC4-5D6E-409C-BE32-E72D297353CC}">
                <c16:uniqueId val="{00000005-4E62-4A0E-82BD-4083E8F17613}"/>
              </c:ext>
            </c:extLst>
          </c:dPt>
          <c:dPt>
            <c:idx val="3"/>
            <c:bubble3D val="0"/>
            <c:spPr>
              <a:solidFill>
                <a:srgbClr val="1F4E79"/>
              </a:solidFill>
              <a:effectLst/>
            </c:spPr>
            <c:extLst>
              <c:ext xmlns:c16="http://schemas.microsoft.com/office/drawing/2014/chart" uri="{C3380CC4-5D6E-409C-BE32-E72D297353CC}">
                <c16:uniqueId val="{00000007-4E62-4A0E-82BD-4083E8F17613}"/>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E62-4A0E-82BD-4083E8F17613}"/>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E62-4A0E-82BD-4083E8F17613}"/>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E62-4A0E-82BD-4083E8F17613}"/>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E62-4A0E-82BD-4083E8F1761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Delivered</c:v>
                </c:pt>
                <c:pt idx="1">
                  <c:v>In Transit</c:v>
                </c:pt>
                <c:pt idx="2">
                  <c:v>Cancelled</c:v>
                </c:pt>
                <c:pt idx="3">
                  <c:v>Pending</c:v>
                </c:pt>
              </c:strCache>
            </c:strRef>
          </c:cat>
          <c:val>
            <c:numRef>
              <c:f>Sheet1!$B$2:$B$5</c:f>
              <c:numCache>
                <c:formatCode>General</c:formatCode>
                <c:ptCount val="4"/>
                <c:pt idx="0">
                  <c:v>250</c:v>
                </c:pt>
                <c:pt idx="1">
                  <c:v>86</c:v>
                </c:pt>
                <c:pt idx="2">
                  <c:v>83</c:v>
                </c:pt>
                <c:pt idx="3">
                  <c:v>81</c:v>
                </c:pt>
              </c:numCache>
            </c:numRef>
          </c:val>
          <c:extLst>
            <c:ext xmlns:c16="http://schemas.microsoft.com/office/drawing/2014/chart" uri="{C3380CC4-5D6E-409C-BE32-E72D297353CC}">
              <c16:uniqueId val="{00000008-4E62-4A0E-82BD-4083E8F17613}"/>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US" sz="1000" b="0" i="0" u="none" strike="noStrike" dirty="0">
                <a:solidFill>
                  <a:srgbClr val="1F4E79"/>
                </a:solidFill>
                <a:latin typeface="Arial"/>
              </a:rPr>
              <a:t>Total Revenue by Product Category ($K)</a:t>
            </a:r>
          </a:p>
        </c:rich>
      </c:tx>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F4E79"/>
            </a:solidFill>
            <a:effectLst/>
          </c:spPr>
          <c:invertIfNegative val="0"/>
          <c:dPt>
            <c:idx val="0"/>
            <c:invertIfNegative val="0"/>
            <c:bubble3D val="0"/>
            <c:extLst>
              <c:ext xmlns:c16="http://schemas.microsoft.com/office/drawing/2014/chart" uri="{C3380CC4-5D6E-409C-BE32-E72D297353CC}">
                <c16:uniqueId val="{00000001-098F-440C-8BA2-1AD6B1A49880}"/>
              </c:ext>
            </c:extLst>
          </c:dPt>
          <c:dPt>
            <c:idx val="1"/>
            <c:invertIfNegative val="0"/>
            <c:bubble3D val="0"/>
            <c:spPr>
              <a:solidFill>
                <a:srgbClr val="0E7490"/>
              </a:solidFill>
              <a:effectLst/>
            </c:spPr>
            <c:extLst>
              <c:ext xmlns:c16="http://schemas.microsoft.com/office/drawing/2014/chart" uri="{C3380CC4-5D6E-409C-BE32-E72D297353CC}">
                <c16:uniqueId val="{00000003-098F-440C-8BA2-1AD6B1A49880}"/>
              </c:ext>
            </c:extLst>
          </c:dPt>
          <c:dPt>
            <c:idx val="2"/>
            <c:invertIfNegative val="0"/>
            <c:bubble3D val="0"/>
            <c:spPr>
              <a:solidFill>
                <a:srgbClr val="0D9488"/>
              </a:solidFill>
              <a:effectLst/>
            </c:spPr>
            <c:extLst>
              <c:ext xmlns:c16="http://schemas.microsoft.com/office/drawing/2014/chart" uri="{C3380CC4-5D6E-409C-BE32-E72D297353CC}">
                <c16:uniqueId val="{00000005-098F-440C-8BA2-1AD6B1A49880}"/>
              </c:ext>
            </c:extLst>
          </c:dPt>
          <c:dPt>
            <c:idx val="3"/>
            <c:invertIfNegative val="0"/>
            <c:bubble3D val="0"/>
            <c:spPr>
              <a:solidFill>
                <a:srgbClr val="B45309"/>
              </a:solidFill>
              <a:effectLst/>
            </c:spPr>
            <c:extLst>
              <c:ext xmlns:c16="http://schemas.microsoft.com/office/drawing/2014/chart" uri="{C3380CC4-5D6E-409C-BE32-E72D297353CC}">
                <c16:uniqueId val="{00000007-098F-440C-8BA2-1AD6B1A49880}"/>
              </c:ext>
            </c:extLst>
          </c:dPt>
          <c:dPt>
            <c:idx val="4"/>
            <c:invertIfNegative val="0"/>
            <c:bubble3D val="0"/>
            <c:spPr>
              <a:solidFill>
                <a:srgbClr val="C2410C"/>
              </a:solidFill>
              <a:effectLst/>
            </c:spPr>
            <c:extLst>
              <c:ext xmlns:c16="http://schemas.microsoft.com/office/drawing/2014/chart" uri="{C3380CC4-5D6E-409C-BE32-E72D297353CC}">
                <c16:uniqueId val="{00000009-098F-440C-8BA2-1AD6B1A49880}"/>
              </c:ext>
            </c:extLst>
          </c:dPt>
          <c:dPt>
            <c:idx val="5"/>
            <c:invertIfNegative val="0"/>
            <c:bubble3D val="0"/>
            <c:spPr>
              <a:solidFill>
                <a:srgbClr val="6B21A8"/>
              </a:solidFill>
              <a:effectLst/>
            </c:spPr>
            <c:extLst>
              <c:ext xmlns:c16="http://schemas.microsoft.com/office/drawing/2014/chart" uri="{C3380CC4-5D6E-409C-BE32-E72D297353CC}">
                <c16:uniqueId val="{0000000B-098F-440C-8BA2-1AD6B1A49880}"/>
              </c:ext>
            </c:extLst>
          </c:dPt>
          <c:dLbls>
            <c:numFmt formatCode="#,##0" sourceLinked="0"/>
            <c:spPr>
              <a:noFill/>
              <a:ln>
                <a:noFill/>
              </a:ln>
              <a:effectLst/>
            </c:spPr>
            <c:txPr>
              <a:bodyPr/>
              <a:lstStyle/>
              <a:p>
                <a:pPr>
                  <a:defRPr sz="85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Electronics</c:v>
                </c:pt>
                <c:pt idx="1">
                  <c:v>Raw Material</c:v>
                </c:pt>
                <c:pt idx="2">
                  <c:v>Packaging</c:v>
                </c:pt>
                <c:pt idx="3">
                  <c:v>Chemicals</c:v>
                </c:pt>
                <c:pt idx="4">
                  <c:v>Components</c:v>
                </c:pt>
                <c:pt idx="5">
                  <c:v>Hardware</c:v>
                </c:pt>
              </c:strCache>
            </c:strRef>
          </c:cat>
          <c:val>
            <c:numRef>
              <c:f>Sheet1!$B$2:$B$7</c:f>
              <c:numCache>
                <c:formatCode>General</c:formatCode>
                <c:ptCount val="6"/>
                <c:pt idx="0">
                  <c:v>2843.63</c:v>
                </c:pt>
                <c:pt idx="1">
                  <c:v>665.93</c:v>
                </c:pt>
                <c:pt idx="2">
                  <c:v>199.37</c:v>
                </c:pt>
                <c:pt idx="3">
                  <c:v>102.18</c:v>
                </c:pt>
                <c:pt idx="4">
                  <c:v>38.71</c:v>
                </c:pt>
                <c:pt idx="5">
                  <c:v>32.299999999999997</c:v>
                </c:pt>
              </c:numCache>
            </c:numRef>
          </c:val>
          <c:extLst>
            <c:ext xmlns:c16="http://schemas.microsoft.com/office/drawing/2014/chart" uri="{C3380CC4-5D6E-409C-BE32-E72D297353CC}">
              <c16:uniqueId val="{0000000C-098F-440C-8BA2-1AD6B1A4988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US" sz="1000" b="0" i="0" u="none" strike="noStrike" dirty="0">
                <a:solidFill>
                  <a:srgbClr val="1F4E79"/>
                </a:solidFill>
                <a:latin typeface="Arial"/>
              </a:rPr>
              <a:t>OTDR % by Supplier </a:t>
            </a:r>
          </a:p>
        </c:rich>
      </c:tx>
      <c:overlay val="0"/>
    </c:title>
    <c:autoTitleDeleted val="0"/>
    <c:plotArea>
      <c:layout/>
      <c:barChart>
        <c:barDir val="bar"/>
        <c:grouping val="clustered"/>
        <c:varyColors val="0"/>
        <c:ser>
          <c:idx val="0"/>
          <c:order val="0"/>
          <c:tx>
            <c:strRef>
              <c:f>Sheet1!$B$1</c:f>
              <c:strCache>
                <c:ptCount val="1"/>
                <c:pt idx="0">
                  <c:v>OTDR %</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65C5-4625-831C-CF5EE27E176B}"/>
              </c:ext>
            </c:extLst>
          </c:dPt>
          <c:dPt>
            <c:idx val="1"/>
            <c:invertIfNegative val="0"/>
            <c:bubble3D val="0"/>
            <c:spPr>
              <a:solidFill>
                <a:srgbClr val="0E7490"/>
              </a:solidFill>
              <a:effectLst/>
            </c:spPr>
            <c:extLst>
              <c:ext xmlns:c16="http://schemas.microsoft.com/office/drawing/2014/chart" uri="{C3380CC4-5D6E-409C-BE32-E72D297353CC}">
                <c16:uniqueId val="{00000003-65C5-4625-831C-CF5EE27E176B}"/>
              </c:ext>
            </c:extLst>
          </c:dPt>
          <c:dPt>
            <c:idx val="2"/>
            <c:invertIfNegative val="0"/>
            <c:bubble3D val="0"/>
            <c:spPr>
              <a:solidFill>
                <a:srgbClr val="B45309"/>
              </a:solidFill>
              <a:effectLst/>
            </c:spPr>
            <c:extLst>
              <c:ext xmlns:c16="http://schemas.microsoft.com/office/drawing/2014/chart" uri="{C3380CC4-5D6E-409C-BE32-E72D297353CC}">
                <c16:uniqueId val="{00000005-65C5-4625-831C-CF5EE27E176B}"/>
              </c:ext>
            </c:extLst>
          </c:dPt>
          <c:dPt>
            <c:idx val="3"/>
            <c:invertIfNegative val="0"/>
            <c:bubble3D val="0"/>
            <c:spPr>
              <a:solidFill>
                <a:srgbClr val="991B1B"/>
              </a:solidFill>
              <a:effectLst/>
            </c:spPr>
            <c:extLst>
              <c:ext xmlns:c16="http://schemas.microsoft.com/office/drawing/2014/chart" uri="{C3380CC4-5D6E-409C-BE32-E72D297353CC}">
                <c16:uniqueId val="{00000007-65C5-4625-831C-CF5EE27E176B}"/>
              </c:ext>
            </c:extLst>
          </c:dPt>
          <c:dPt>
            <c:idx val="4"/>
            <c:invertIfNegative val="0"/>
            <c:bubble3D val="0"/>
            <c:spPr>
              <a:solidFill>
                <a:srgbClr val="1F4E79"/>
              </a:solidFill>
              <a:effectLst/>
            </c:spPr>
            <c:extLst>
              <c:ext xmlns:c16="http://schemas.microsoft.com/office/drawing/2014/chart" uri="{C3380CC4-5D6E-409C-BE32-E72D297353CC}">
                <c16:uniqueId val="{00000009-65C5-4625-831C-CF5EE27E176B}"/>
              </c:ext>
            </c:extLst>
          </c:dPt>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TechSource Inc</c:v>
                </c:pt>
                <c:pt idx="1">
                  <c:v>EuroParts GmbH</c:v>
                </c:pt>
                <c:pt idx="2">
                  <c:v>AsiaTrade Co</c:v>
                </c:pt>
                <c:pt idx="3">
                  <c:v>GlobalParts Ltd</c:v>
                </c:pt>
                <c:pt idx="4">
                  <c:v>PrimeMaterials Corp</c:v>
                </c:pt>
              </c:strCache>
            </c:strRef>
          </c:cat>
          <c:val>
            <c:numRef>
              <c:f>Sheet1!$B$2:$B$6</c:f>
              <c:numCache>
                <c:formatCode>General</c:formatCode>
                <c:ptCount val="5"/>
                <c:pt idx="0">
                  <c:v>89</c:v>
                </c:pt>
                <c:pt idx="1">
                  <c:v>86.48</c:v>
                </c:pt>
                <c:pt idx="2">
                  <c:v>85.99</c:v>
                </c:pt>
                <c:pt idx="3">
                  <c:v>84.68</c:v>
                </c:pt>
                <c:pt idx="4">
                  <c:v>83.12</c:v>
                </c:pt>
              </c:numCache>
            </c:numRef>
          </c:val>
          <c:extLst>
            <c:ext xmlns:c16="http://schemas.microsoft.com/office/drawing/2014/chart" uri="{C3380CC4-5D6E-409C-BE32-E72D297353CC}">
              <c16:uniqueId val="{0000000A-65C5-4625-831C-CF5EE27E17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At val="0"/>
        <c:auto val="1"/>
        <c:lblAlgn val="ctr"/>
        <c:lblOffset val="100"/>
        <c:noMultiLvlLbl val="1"/>
      </c:catAx>
      <c:valAx>
        <c:axId val="2094734552"/>
        <c:scaling>
          <c:orientation val="minMax"/>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US" sz="1000" b="0" i="0" u="none" strike="noStrike" dirty="0">
                <a:solidFill>
                  <a:srgbClr val="1F4E79"/>
                </a:solidFill>
                <a:latin typeface="Arial"/>
              </a:rPr>
              <a:t>Stock Quantity by Category (K)</a:t>
            </a:r>
          </a:p>
        </c:rich>
      </c:tx>
      <c:layout>
        <c:manualLayout>
          <c:xMode val="edge"/>
          <c:yMode val="edge"/>
          <c:x val="0.29448154918135233"/>
          <c:y val="3.4113060428849901E-2"/>
        </c:manualLayout>
      </c:layout>
      <c:overlay val="0"/>
    </c:title>
    <c:autoTitleDeleted val="0"/>
    <c:plotArea>
      <c:layout/>
      <c:barChart>
        <c:barDir val="col"/>
        <c:grouping val="clustered"/>
        <c:varyColors val="0"/>
        <c:ser>
          <c:idx val="0"/>
          <c:order val="0"/>
          <c:tx>
            <c:strRef>
              <c:f>Sheet1!$B$1</c:f>
              <c:strCache>
                <c:ptCount val="1"/>
                <c:pt idx="0">
                  <c:v>Stock Quantity (K)</c:v>
                </c:pt>
              </c:strCache>
            </c:strRef>
          </c:tx>
          <c:spPr>
            <a:solidFill>
              <a:srgbClr val="1F4E79"/>
            </a:solidFill>
            <a:effectLst/>
          </c:spPr>
          <c:invertIfNegative val="0"/>
          <c:dPt>
            <c:idx val="0"/>
            <c:invertIfNegative val="0"/>
            <c:bubble3D val="0"/>
            <c:extLst>
              <c:ext xmlns:c16="http://schemas.microsoft.com/office/drawing/2014/chart" uri="{C3380CC4-5D6E-409C-BE32-E72D297353CC}">
                <c16:uniqueId val="{00000001-9973-4D16-8C4D-439790218A89}"/>
              </c:ext>
            </c:extLst>
          </c:dPt>
          <c:dPt>
            <c:idx val="1"/>
            <c:invertIfNegative val="0"/>
            <c:bubble3D val="0"/>
            <c:spPr>
              <a:solidFill>
                <a:srgbClr val="0E7490"/>
              </a:solidFill>
              <a:effectLst/>
            </c:spPr>
            <c:extLst>
              <c:ext xmlns:c16="http://schemas.microsoft.com/office/drawing/2014/chart" uri="{C3380CC4-5D6E-409C-BE32-E72D297353CC}">
                <c16:uniqueId val="{00000003-9973-4D16-8C4D-439790218A89}"/>
              </c:ext>
            </c:extLst>
          </c:dPt>
          <c:dPt>
            <c:idx val="2"/>
            <c:invertIfNegative val="0"/>
            <c:bubble3D val="0"/>
            <c:spPr>
              <a:solidFill>
                <a:srgbClr val="B45309"/>
              </a:solidFill>
              <a:effectLst/>
            </c:spPr>
            <c:extLst>
              <c:ext xmlns:c16="http://schemas.microsoft.com/office/drawing/2014/chart" uri="{C3380CC4-5D6E-409C-BE32-E72D297353CC}">
                <c16:uniqueId val="{00000005-9973-4D16-8C4D-439790218A89}"/>
              </c:ext>
            </c:extLst>
          </c:dPt>
          <c:dPt>
            <c:idx val="3"/>
            <c:invertIfNegative val="0"/>
            <c:bubble3D val="0"/>
            <c:spPr>
              <a:solidFill>
                <a:srgbClr val="0D9488"/>
              </a:solidFill>
              <a:effectLst/>
            </c:spPr>
            <c:extLst>
              <c:ext xmlns:c16="http://schemas.microsoft.com/office/drawing/2014/chart" uri="{C3380CC4-5D6E-409C-BE32-E72D297353CC}">
                <c16:uniqueId val="{00000007-9973-4D16-8C4D-439790218A89}"/>
              </c:ext>
            </c:extLst>
          </c:dPt>
          <c:dPt>
            <c:idx val="4"/>
            <c:invertIfNegative val="0"/>
            <c:bubble3D val="0"/>
            <c:spPr>
              <a:solidFill>
                <a:srgbClr val="6B21A8"/>
              </a:solidFill>
              <a:effectLst/>
            </c:spPr>
            <c:extLst>
              <c:ext xmlns:c16="http://schemas.microsoft.com/office/drawing/2014/chart" uri="{C3380CC4-5D6E-409C-BE32-E72D297353CC}">
                <c16:uniqueId val="{00000009-9973-4D16-8C4D-439790218A89}"/>
              </c:ext>
            </c:extLst>
          </c:dPt>
          <c:dPt>
            <c:idx val="5"/>
            <c:invertIfNegative val="0"/>
            <c:bubble3D val="0"/>
            <c:spPr>
              <a:solidFill>
                <a:srgbClr val="C2410C"/>
              </a:solidFill>
              <a:effectLst/>
            </c:spPr>
            <c:extLst>
              <c:ext xmlns:c16="http://schemas.microsoft.com/office/drawing/2014/chart" uri="{C3380CC4-5D6E-409C-BE32-E72D297353CC}">
                <c16:uniqueId val="{0000000B-9973-4D16-8C4D-439790218A89}"/>
              </c:ext>
            </c:extLst>
          </c:dPt>
          <c:dLbls>
            <c:numFmt formatCode="#,##0" sourceLinked="0"/>
            <c:spPr>
              <a:noFill/>
              <a:ln>
                <a:noFill/>
              </a:ln>
              <a:effectLst/>
            </c:spPr>
            <c:txPr>
              <a:bodyPr/>
              <a:lstStyle/>
              <a:p>
                <a:pPr>
                  <a:defRPr sz="10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Raw Material</c:v>
                </c:pt>
                <c:pt idx="1">
                  <c:v>Electronics</c:v>
                </c:pt>
                <c:pt idx="2">
                  <c:v>Packaging</c:v>
                </c:pt>
                <c:pt idx="3">
                  <c:v>Components</c:v>
                </c:pt>
                <c:pt idx="4">
                  <c:v>Hardware</c:v>
                </c:pt>
                <c:pt idx="5">
                  <c:v>Chemicals</c:v>
                </c:pt>
              </c:strCache>
            </c:strRef>
          </c:cat>
          <c:val>
            <c:numRef>
              <c:f>Sheet1!$B$2:$B$7</c:f>
              <c:numCache>
                <c:formatCode>General</c:formatCode>
                <c:ptCount val="6"/>
                <c:pt idx="0">
                  <c:v>11</c:v>
                </c:pt>
                <c:pt idx="1">
                  <c:v>7</c:v>
                </c:pt>
                <c:pt idx="2">
                  <c:v>3</c:v>
                </c:pt>
                <c:pt idx="3">
                  <c:v>3</c:v>
                </c:pt>
                <c:pt idx="4">
                  <c:v>3</c:v>
                </c:pt>
                <c:pt idx="5">
                  <c:v>1</c:v>
                </c:pt>
              </c:numCache>
            </c:numRef>
          </c:val>
          <c:extLst>
            <c:ext xmlns:c16="http://schemas.microsoft.com/office/drawing/2014/chart" uri="{C3380CC4-5D6E-409C-BE32-E72D297353CC}">
              <c16:uniqueId val="{0000000C-9973-4D16-8C4D-439790218A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4E79"/>
                </a:solidFill>
                <a:latin typeface="Arial"/>
              </a:defRPr>
            </a:pPr>
            <a:r>
              <a:rPr lang="en-US" sz="1000" b="0" i="0" u="none" strike="noStrike" dirty="0">
                <a:solidFill>
                  <a:srgbClr val="1F4E79"/>
                </a:solidFill>
                <a:latin typeface="Arial"/>
              </a:rPr>
              <a:t>Freight per KG by Transport Mode</a:t>
            </a:r>
          </a:p>
        </c:rich>
      </c:tx>
      <c:overlay val="0"/>
    </c:title>
    <c:autoTitleDeleted val="0"/>
    <c:plotArea>
      <c:layout/>
      <c:barChart>
        <c:barDir val="col"/>
        <c:grouping val="clustered"/>
        <c:varyColors val="0"/>
        <c:ser>
          <c:idx val="0"/>
          <c:order val="0"/>
          <c:tx>
            <c:strRef>
              <c:f>Sheet1!$B$1</c:f>
              <c:strCache>
                <c:ptCount val="1"/>
                <c:pt idx="0">
                  <c:v>Freight per KG ($)</c:v>
                </c:pt>
              </c:strCache>
            </c:strRef>
          </c:tx>
          <c:spPr>
            <a:solidFill>
              <a:srgbClr val="991B1B"/>
            </a:solidFill>
            <a:effectLst/>
          </c:spPr>
          <c:invertIfNegative val="0"/>
          <c:dPt>
            <c:idx val="0"/>
            <c:invertIfNegative val="0"/>
            <c:bubble3D val="0"/>
            <c:extLst>
              <c:ext xmlns:c16="http://schemas.microsoft.com/office/drawing/2014/chart" uri="{C3380CC4-5D6E-409C-BE32-E72D297353CC}">
                <c16:uniqueId val="{00000001-1E2A-40ED-B771-B7650513046D}"/>
              </c:ext>
            </c:extLst>
          </c:dPt>
          <c:dPt>
            <c:idx val="1"/>
            <c:invertIfNegative val="0"/>
            <c:bubble3D val="0"/>
            <c:spPr>
              <a:solidFill>
                <a:srgbClr val="B45309"/>
              </a:solidFill>
              <a:effectLst/>
            </c:spPr>
            <c:extLst>
              <c:ext xmlns:c16="http://schemas.microsoft.com/office/drawing/2014/chart" uri="{C3380CC4-5D6E-409C-BE32-E72D297353CC}">
                <c16:uniqueId val="{00000003-1E2A-40ED-B771-B7650513046D}"/>
              </c:ext>
            </c:extLst>
          </c:dPt>
          <c:dPt>
            <c:idx val="2"/>
            <c:invertIfNegative val="0"/>
            <c:bubble3D val="0"/>
            <c:spPr>
              <a:solidFill>
                <a:srgbClr val="0E7490"/>
              </a:solidFill>
              <a:effectLst/>
            </c:spPr>
            <c:extLst>
              <c:ext xmlns:c16="http://schemas.microsoft.com/office/drawing/2014/chart" uri="{C3380CC4-5D6E-409C-BE32-E72D297353CC}">
                <c16:uniqueId val="{00000005-1E2A-40ED-B771-B7650513046D}"/>
              </c:ext>
            </c:extLst>
          </c:dPt>
          <c:dPt>
            <c:idx val="3"/>
            <c:invertIfNegative val="0"/>
            <c:bubble3D val="0"/>
            <c:spPr>
              <a:solidFill>
                <a:srgbClr val="166534"/>
              </a:solidFill>
              <a:effectLst/>
            </c:spPr>
            <c:extLst>
              <c:ext xmlns:c16="http://schemas.microsoft.com/office/drawing/2014/chart" uri="{C3380CC4-5D6E-409C-BE32-E72D297353CC}">
                <c16:uniqueId val="{00000007-1E2A-40ED-B771-B7650513046D}"/>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Air</c:v>
                </c:pt>
                <c:pt idx="1">
                  <c:v>Road</c:v>
                </c:pt>
                <c:pt idx="2">
                  <c:v>Rail</c:v>
                </c:pt>
                <c:pt idx="3">
                  <c:v>Sea</c:v>
                </c:pt>
              </c:strCache>
            </c:strRef>
          </c:cat>
          <c:val>
            <c:numRef>
              <c:f>Sheet1!$B$2:$B$5</c:f>
              <c:numCache>
                <c:formatCode>General</c:formatCode>
                <c:ptCount val="4"/>
                <c:pt idx="0">
                  <c:v>200</c:v>
                </c:pt>
                <c:pt idx="1">
                  <c:v>100</c:v>
                </c:pt>
                <c:pt idx="2">
                  <c:v>60</c:v>
                </c:pt>
                <c:pt idx="3">
                  <c:v>30</c:v>
                </c:pt>
              </c:numCache>
            </c:numRef>
          </c:val>
          <c:extLst>
            <c:ext xmlns:c16="http://schemas.microsoft.com/office/drawing/2014/chart" uri="{C3380CC4-5D6E-409C-BE32-E72D297353CC}">
              <c16:uniqueId val="{00000008-1E2A-40ED-B771-B7650513046D}"/>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080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9C7D4-9E6D-2E1B-EA26-C038404A0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18114-7CA6-E2CF-3861-FCE94AE8C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F4263-8C6D-3A49-38DB-177D429E1A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18991-21CE-08FC-D8EF-B1A7E7BE0E9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85100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DD13-0A39-3382-6020-EFE193F81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0385B-86B5-E197-2E9B-C78F4DA43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6E7B8-0FAB-2676-421D-6A74D9CDB6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16DAC-E204-1FCB-3688-D666AE45778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74385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E7490"/>
          </a:solidFill>
          <a:ln w="12700">
            <a:solidFill>
              <a:srgbClr val="0E7490"/>
            </a:solidFill>
            <a:prstDash val="solid"/>
          </a:ln>
        </p:spPr>
      </p:sp>
      <p:sp>
        <p:nvSpPr>
          <p:cNvPr id="3" name="Shape 1"/>
          <p:cNvSpPr/>
          <p:nvPr/>
        </p:nvSpPr>
        <p:spPr>
          <a:xfrm>
            <a:off x="5943600" y="-731520"/>
            <a:ext cx="4754880" cy="4754880"/>
          </a:xfrm>
          <a:prstGeom prst="ellipse">
            <a:avLst/>
          </a:prstGeom>
          <a:solidFill>
            <a:srgbClr val="0E7490">
              <a:alpha val="12000"/>
            </a:srgbClr>
          </a:solidFill>
          <a:ln w="12700">
            <a:solidFill>
              <a:srgbClr val="0E7490">
                <a:alpha val="12000"/>
              </a:srgbClr>
            </a:solidFill>
            <a:prstDash val="solid"/>
          </a:ln>
        </p:spPr>
      </p:sp>
      <p:sp>
        <p:nvSpPr>
          <p:cNvPr id="4" name="Shape 2"/>
          <p:cNvSpPr/>
          <p:nvPr/>
        </p:nvSpPr>
        <p:spPr>
          <a:xfrm>
            <a:off x="6583680" y="2377440"/>
            <a:ext cx="3200400" cy="3200400"/>
          </a:xfrm>
          <a:prstGeom prst="ellipse">
            <a:avLst/>
          </a:prstGeom>
          <a:solidFill>
            <a:srgbClr val="1F4E79">
              <a:alpha val="20000"/>
            </a:srgbClr>
          </a:solidFill>
          <a:ln w="12700">
            <a:solidFill>
              <a:srgbClr val="1F4E79">
                <a:alpha val="20000"/>
              </a:srgbClr>
            </a:solidFill>
            <a:prstDash val="solid"/>
          </a:ln>
        </p:spPr>
      </p:sp>
      <p:sp>
        <p:nvSpPr>
          <p:cNvPr id="5" name="Text 3"/>
          <p:cNvSpPr/>
          <p:nvPr/>
        </p:nvSpPr>
        <p:spPr>
          <a:xfrm>
            <a:off x="548640" y="1535136"/>
            <a:ext cx="5113606"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Supply Chain Analytics</a:t>
            </a:r>
            <a:endParaRPr lang="en-US" sz="4000" dirty="0"/>
          </a:p>
        </p:txBody>
      </p:sp>
      <p:sp>
        <p:nvSpPr>
          <p:cNvPr id="19" name="Shape 17"/>
          <p:cNvSpPr/>
          <p:nvPr/>
        </p:nvSpPr>
        <p:spPr>
          <a:xfrm>
            <a:off x="0" y="4480560"/>
            <a:ext cx="9144000" cy="662940"/>
          </a:xfrm>
          <a:prstGeom prst="rect">
            <a:avLst/>
          </a:prstGeom>
          <a:solidFill>
            <a:srgbClr val="0C1A2E"/>
          </a:solidFill>
          <a:ln w="12700">
            <a:solidFill>
              <a:srgbClr val="0C1A2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B87EF2E3-9CD7-D591-FFA7-2806741696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BFB406-B87E-9AD0-FBB4-38969E5EFA68}"/>
              </a:ext>
            </a:extLst>
          </p:cNvPr>
          <p:cNvSpPr/>
          <p:nvPr/>
        </p:nvSpPr>
        <p:spPr>
          <a:xfrm>
            <a:off x="0" y="0"/>
            <a:ext cx="9144000" cy="658368"/>
          </a:xfrm>
          <a:prstGeom prst="rect">
            <a:avLst/>
          </a:prstGeom>
          <a:solidFill>
            <a:srgbClr val="1F4E79"/>
          </a:solidFill>
          <a:ln w="12700">
            <a:solidFill>
              <a:srgbClr val="1F4E79"/>
            </a:solidFill>
            <a:prstDash val="solid"/>
          </a:ln>
        </p:spPr>
      </p:sp>
      <p:sp>
        <p:nvSpPr>
          <p:cNvPr id="3" name="Text 1">
            <a:extLst>
              <a:ext uri="{FF2B5EF4-FFF2-40B4-BE49-F238E27FC236}">
                <a16:creationId xmlns:a16="http://schemas.microsoft.com/office/drawing/2014/main" id="{58AA4647-4272-39C2-4A7E-B7119787DB23}"/>
              </a:ext>
            </a:extLst>
          </p:cNvPr>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Business Understanding</a:t>
            </a:r>
            <a:endParaRPr lang="en-US" sz="1700" dirty="0"/>
          </a:p>
        </p:txBody>
      </p:sp>
      <p:sp>
        <p:nvSpPr>
          <p:cNvPr id="5" name="Shape 3">
            <a:extLst>
              <a:ext uri="{FF2B5EF4-FFF2-40B4-BE49-F238E27FC236}">
                <a16:creationId xmlns:a16="http://schemas.microsoft.com/office/drawing/2014/main" id="{3CBB7920-F768-F547-57B6-1C78FEBF0B97}"/>
              </a:ext>
            </a:extLst>
          </p:cNvPr>
          <p:cNvSpPr/>
          <p:nvPr/>
        </p:nvSpPr>
        <p:spPr>
          <a:xfrm>
            <a:off x="256032" y="1024128"/>
            <a:ext cx="4041648" cy="2770632"/>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6" name="Shape 4">
            <a:extLst>
              <a:ext uri="{FF2B5EF4-FFF2-40B4-BE49-F238E27FC236}">
                <a16:creationId xmlns:a16="http://schemas.microsoft.com/office/drawing/2014/main" id="{AB51331F-A1F1-7136-83BF-BB676DEBFDE0}"/>
              </a:ext>
            </a:extLst>
          </p:cNvPr>
          <p:cNvSpPr/>
          <p:nvPr/>
        </p:nvSpPr>
        <p:spPr>
          <a:xfrm>
            <a:off x="256032" y="1024128"/>
            <a:ext cx="4041648" cy="347472"/>
          </a:xfrm>
          <a:prstGeom prst="rect">
            <a:avLst/>
          </a:prstGeom>
          <a:solidFill>
            <a:srgbClr val="1F4E79"/>
          </a:solidFill>
          <a:ln w="12700">
            <a:solidFill>
              <a:srgbClr val="1F4E79"/>
            </a:solidFill>
            <a:prstDash val="solid"/>
          </a:ln>
        </p:spPr>
      </p:sp>
      <p:sp>
        <p:nvSpPr>
          <p:cNvPr id="7" name="Text 5">
            <a:extLst>
              <a:ext uri="{FF2B5EF4-FFF2-40B4-BE49-F238E27FC236}">
                <a16:creationId xmlns:a16="http://schemas.microsoft.com/office/drawing/2014/main" id="{8D02C88A-F75E-6FB6-CAAB-EC03D75411B8}"/>
              </a:ext>
            </a:extLst>
          </p:cNvPr>
          <p:cNvSpPr/>
          <p:nvPr/>
        </p:nvSpPr>
        <p:spPr>
          <a:xfrm>
            <a:off x="256032" y="1024128"/>
            <a:ext cx="4041648" cy="347472"/>
          </a:xfrm>
          <a:prstGeom prst="rect">
            <a:avLst/>
          </a:prstGeom>
          <a:noFill/>
          <a:ln/>
        </p:spPr>
        <p:txBody>
          <a:bodyPr wrap="square" lIns="0" tIns="0" rIns="0" bIns="0" rtlCol="0" anchor="ctr"/>
          <a:lstStyle/>
          <a:p>
            <a:pPr algn="ctr"/>
            <a:r>
              <a:rPr lang="en-IN" sz="1200" b="1" dirty="0">
                <a:solidFill>
                  <a:srgbClr val="FFFFFF"/>
                </a:solidFill>
                <a:latin typeface="Calibri" pitchFamily="34" charset="0"/>
                <a:ea typeface="Calibri" pitchFamily="34" charset="-122"/>
                <a:cs typeface="Calibri" pitchFamily="34" charset="-120"/>
              </a:rPr>
              <a:t>Business Problem</a:t>
            </a:r>
            <a:endParaRPr lang="en-US" sz="1200" b="1" dirty="0">
              <a:solidFill>
                <a:srgbClr val="FFFFFF"/>
              </a:solidFill>
              <a:latin typeface="Calibri" pitchFamily="34" charset="0"/>
              <a:ea typeface="Calibri" pitchFamily="34" charset="-122"/>
              <a:cs typeface="Calibri" pitchFamily="34" charset="-120"/>
            </a:endParaRPr>
          </a:p>
        </p:txBody>
      </p:sp>
      <p:sp>
        <p:nvSpPr>
          <p:cNvPr id="8" name="Text 6">
            <a:extLst>
              <a:ext uri="{FF2B5EF4-FFF2-40B4-BE49-F238E27FC236}">
                <a16:creationId xmlns:a16="http://schemas.microsoft.com/office/drawing/2014/main" id="{AB7211C3-E8BC-2873-6B47-5BC687F62B04}"/>
              </a:ext>
            </a:extLst>
          </p:cNvPr>
          <p:cNvSpPr/>
          <p:nvPr/>
        </p:nvSpPr>
        <p:spPr>
          <a:xfrm>
            <a:off x="402336" y="1463040"/>
            <a:ext cx="3749040" cy="3017520"/>
          </a:xfrm>
          <a:prstGeom prst="rect">
            <a:avLst/>
          </a:prstGeom>
          <a:noFill/>
          <a:ln/>
        </p:spPr>
        <p:txBody>
          <a:bodyPr wrap="square" rtlCol="0" anchor="t"/>
          <a:lstStyle/>
          <a:p>
            <a:r>
              <a:rPr lang="en-US" sz="1000" b="1" dirty="0">
                <a:solidFill>
                  <a:srgbClr val="1F4E79"/>
                </a:solidFill>
                <a:latin typeface="Calibri" pitchFamily="34" charset="0"/>
                <a:ea typeface="Calibri" pitchFamily="34" charset="-122"/>
                <a:cs typeface="Calibri" pitchFamily="34" charset="-120"/>
              </a:rPr>
              <a:t>The Supply Chain Business faces challenges such as</a:t>
            </a:r>
          </a:p>
          <a:p>
            <a:endParaRPr lang="en-US" sz="900" dirty="0">
              <a:solidFill>
                <a:srgbClr val="334155"/>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Delivery delays affecting customer satisfaction </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High cancellation rates </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Stockout risks </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Inefficient logistics cost </a:t>
            </a:r>
          </a:p>
          <a:p>
            <a:endParaRPr lang="en-US" sz="900" dirty="0"/>
          </a:p>
          <a:p>
            <a:pPr>
              <a:lnSpc>
                <a:spcPct val="115000"/>
              </a:lnSpc>
              <a:spcAft>
                <a:spcPts val="1000"/>
              </a:spcAft>
              <a:buNone/>
            </a:pPr>
            <a:r>
              <a:rPr lang="en-US" sz="1000" dirty="0">
                <a:solidFill>
                  <a:srgbClr val="334155"/>
                </a:solidFill>
                <a:latin typeface="Calibri" pitchFamily="34" charset="0"/>
                <a:ea typeface="Calibri" pitchFamily="34" charset="-122"/>
                <a:cs typeface="Calibri" pitchFamily="34" charset="-120"/>
              </a:rPr>
              <a:t>These issues impact customer satisfaction, increase operational costs, and reduce overall profitability. </a:t>
            </a:r>
            <a:endParaRPr lang="en-IN" sz="1000" dirty="0">
              <a:solidFill>
                <a:srgbClr val="334155"/>
              </a:solidFill>
              <a:latin typeface="Calibri" pitchFamily="34" charset="0"/>
              <a:ea typeface="Calibri" pitchFamily="34" charset="-122"/>
              <a:cs typeface="Calibri" pitchFamily="34" charset="-120"/>
            </a:endParaRPr>
          </a:p>
          <a:p>
            <a:pPr marL="0" indent="0">
              <a:buNone/>
            </a:pPr>
            <a:r>
              <a:rPr lang="en-US" sz="1000" dirty="0">
                <a:solidFill>
                  <a:srgbClr val="334155"/>
                </a:solidFill>
                <a:latin typeface="Calibri" pitchFamily="34" charset="0"/>
                <a:ea typeface="Calibri" pitchFamily="34" charset="-122"/>
                <a:cs typeface="Calibri" pitchFamily="34" charset="-120"/>
              </a:rPr>
              <a:t>.</a:t>
            </a:r>
          </a:p>
        </p:txBody>
      </p:sp>
      <p:sp>
        <p:nvSpPr>
          <p:cNvPr id="9" name="Shape 7">
            <a:extLst>
              <a:ext uri="{FF2B5EF4-FFF2-40B4-BE49-F238E27FC236}">
                <a16:creationId xmlns:a16="http://schemas.microsoft.com/office/drawing/2014/main" id="{39696359-AF1D-85C2-BB75-3F2A78D9C323}"/>
              </a:ext>
            </a:extLst>
          </p:cNvPr>
          <p:cNvSpPr/>
          <p:nvPr/>
        </p:nvSpPr>
        <p:spPr>
          <a:xfrm>
            <a:off x="4480560" y="1024128"/>
            <a:ext cx="4407408" cy="2770632"/>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0" name="Shape 8">
            <a:extLst>
              <a:ext uri="{FF2B5EF4-FFF2-40B4-BE49-F238E27FC236}">
                <a16:creationId xmlns:a16="http://schemas.microsoft.com/office/drawing/2014/main" id="{5A26FF01-9A78-F5D3-85A2-11BB358466AF}"/>
              </a:ext>
            </a:extLst>
          </p:cNvPr>
          <p:cNvSpPr/>
          <p:nvPr/>
        </p:nvSpPr>
        <p:spPr>
          <a:xfrm>
            <a:off x="4480560" y="1024128"/>
            <a:ext cx="4407408" cy="347472"/>
          </a:xfrm>
          <a:prstGeom prst="rect">
            <a:avLst/>
          </a:prstGeom>
          <a:solidFill>
            <a:srgbClr val="0E7490"/>
          </a:solidFill>
          <a:ln w="12700">
            <a:solidFill>
              <a:srgbClr val="0E7490"/>
            </a:solidFill>
            <a:prstDash val="solid"/>
          </a:ln>
        </p:spPr>
      </p:sp>
      <p:sp>
        <p:nvSpPr>
          <p:cNvPr id="11" name="Text 9">
            <a:extLst>
              <a:ext uri="{FF2B5EF4-FFF2-40B4-BE49-F238E27FC236}">
                <a16:creationId xmlns:a16="http://schemas.microsoft.com/office/drawing/2014/main" id="{C93663FC-8838-4141-050B-1B4A898EBD3D}"/>
              </a:ext>
            </a:extLst>
          </p:cNvPr>
          <p:cNvSpPr/>
          <p:nvPr/>
        </p:nvSpPr>
        <p:spPr>
          <a:xfrm>
            <a:off x="4480560" y="1024128"/>
            <a:ext cx="4407408" cy="347472"/>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Objective</a:t>
            </a:r>
          </a:p>
        </p:txBody>
      </p:sp>
      <p:sp>
        <p:nvSpPr>
          <p:cNvPr id="13" name="Text 11">
            <a:extLst>
              <a:ext uri="{FF2B5EF4-FFF2-40B4-BE49-F238E27FC236}">
                <a16:creationId xmlns:a16="http://schemas.microsoft.com/office/drawing/2014/main" id="{8838CAA6-E8CC-80F5-98A6-3B8A0E7DA529}"/>
              </a:ext>
            </a:extLst>
          </p:cNvPr>
          <p:cNvSpPr/>
          <p:nvPr/>
        </p:nvSpPr>
        <p:spPr>
          <a:xfrm>
            <a:off x="4572000" y="1463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7" name="Text 15">
            <a:extLst>
              <a:ext uri="{FF2B5EF4-FFF2-40B4-BE49-F238E27FC236}">
                <a16:creationId xmlns:a16="http://schemas.microsoft.com/office/drawing/2014/main" id="{68F94852-108A-C9A9-3AC3-DF9924CD835A}"/>
              </a:ext>
            </a:extLst>
          </p:cNvPr>
          <p:cNvSpPr/>
          <p:nvPr/>
        </p:nvSpPr>
        <p:spPr>
          <a:xfrm>
            <a:off x="4572000" y="211226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25" name="Text 23">
            <a:extLst>
              <a:ext uri="{FF2B5EF4-FFF2-40B4-BE49-F238E27FC236}">
                <a16:creationId xmlns:a16="http://schemas.microsoft.com/office/drawing/2014/main" id="{8F5DFF94-7972-9D9B-79E9-A209F1216D95}"/>
              </a:ext>
            </a:extLst>
          </p:cNvPr>
          <p:cNvSpPr/>
          <p:nvPr/>
        </p:nvSpPr>
        <p:spPr>
          <a:xfrm>
            <a:off x="4572000" y="341071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9" name="Text 27">
            <a:extLst>
              <a:ext uri="{FF2B5EF4-FFF2-40B4-BE49-F238E27FC236}">
                <a16:creationId xmlns:a16="http://schemas.microsoft.com/office/drawing/2014/main" id="{17DC179C-0F64-6437-CB9B-F73EF3A3A3F0}"/>
              </a:ext>
            </a:extLst>
          </p:cNvPr>
          <p:cNvSpPr/>
          <p:nvPr/>
        </p:nvSpPr>
        <p:spPr>
          <a:xfrm>
            <a:off x="4572000" y="405993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3" name="TextBox 32">
            <a:extLst>
              <a:ext uri="{FF2B5EF4-FFF2-40B4-BE49-F238E27FC236}">
                <a16:creationId xmlns:a16="http://schemas.microsoft.com/office/drawing/2014/main" id="{D72D8F76-C929-B765-8BE6-7A30FCCF6A29}"/>
              </a:ext>
            </a:extLst>
          </p:cNvPr>
          <p:cNvSpPr txBox="1"/>
          <p:nvPr/>
        </p:nvSpPr>
        <p:spPr>
          <a:xfrm>
            <a:off x="4632198" y="1636776"/>
            <a:ext cx="4579620" cy="707886"/>
          </a:xfrm>
          <a:prstGeom prst="rect">
            <a:avLst/>
          </a:prstGeom>
          <a:noFill/>
        </p:spPr>
        <p:txBody>
          <a:bodyPr wrap="square">
            <a:spAutoFit/>
          </a:bodyPr>
          <a:lstStyle/>
          <a:p>
            <a:pPr marL="171450" lvl="1" indent="-171450">
              <a:buFont typeface="Arial" panose="020B0604020202020204" pitchFamily="34" charset="0"/>
              <a:buChar char="•"/>
            </a:pPr>
            <a:r>
              <a:rPr lang="en-US" sz="1000" dirty="0" err="1">
                <a:solidFill>
                  <a:srgbClr val="334155"/>
                </a:solidFill>
                <a:latin typeface="Calibri" pitchFamily="34" charset="0"/>
                <a:ea typeface="Calibri" pitchFamily="34" charset="-122"/>
                <a:cs typeface="Calibri" pitchFamily="34" charset="-120"/>
              </a:rPr>
              <a:t>Analyse</a:t>
            </a:r>
            <a:r>
              <a:rPr lang="en-US" sz="1000" dirty="0">
                <a:solidFill>
                  <a:srgbClr val="334155"/>
                </a:solidFill>
                <a:latin typeface="Calibri" pitchFamily="34" charset="0"/>
                <a:ea typeface="Calibri" pitchFamily="34" charset="-122"/>
                <a:cs typeface="Calibri" pitchFamily="34" charset="-120"/>
              </a:rPr>
              <a:t> supplier performance </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Improve delivery reliability </a:t>
            </a:r>
          </a:p>
          <a:p>
            <a:pPr marL="171450" indent="-171450">
              <a:buFont typeface="Arial" panose="020B0604020202020204" pitchFamily="34" charset="0"/>
              <a:buChar char="•"/>
            </a:pPr>
            <a:r>
              <a:rPr lang="en-US" sz="1000" dirty="0" err="1">
                <a:solidFill>
                  <a:srgbClr val="334155"/>
                </a:solidFill>
                <a:latin typeface="Calibri" pitchFamily="34" charset="0"/>
                <a:ea typeface="Calibri" pitchFamily="34" charset="-122"/>
                <a:cs typeface="Calibri" pitchFamily="34" charset="-120"/>
              </a:rPr>
              <a:t>Optimise</a:t>
            </a:r>
            <a:r>
              <a:rPr lang="en-US" sz="1000" dirty="0">
                <a:solidFill>
                  <a:srgbClr val="334155"/>
                </a:solidFill>
                <a:latin typeface="Calibri" pitchFamily="34" charset="0"/>
                <a:ea typeface="Calibri" pitchFamily="34" charset="-122"/>
                <a:cs typeface="Calibri" pitchFamily="34" charset="-120"/>
              </a:rPr>
              <a:t> inventory management </a:t>
            </a:r>
          </a:p>
          <a:p>
            <a:pPr marL="171450" indent="-171450">
              <a:buFont typeface="Arial" panose="020B0604020202020204" pitchFamily="34" charset="0"/>
              <a:buChar char="•"/>
            </a:pPr>
            <a:r>
              <a:rPr lang="en-US" sz="1000" dirty="0">
                <a:solidFill>
                  <a:srgbClr val="334155"/>
                </a:solidFill>
                <a:latin typeface="Calibri" pitchFamily="34" charset="0"/>
                <a:ea typeface="Calibri" pitchFamily="34" charset="-122"/>
                <a:cs typeface="Calibri" pitchFamily="34" charset="-120"/>
              </a:rPr>
              <a:t>Reduce operational costs </a:t>
            </a:r>
          </a:p>
        </p:txBody>
      </p:sp>
      <p:sp>
        <p:nvSpPr>
          <p:cNvPr id="35" name="TextBox 34">
            <a:extLst>
              <a:ext uri="{FF2B5EF4-FFF2-40B4-BE49-F238E27FC236}">
                <a16:creationId xmlns:a16="http://schemas.microsoft.com/office/drawing/2014/main" id="{ED9A0A6B-3940-6C66-2BA0-45A15EBED203}"/>
              </a:ext>
            </a:extLst>
          </p:cNvPr>
          <p:cNvSpPr txBox="1"/>
          <p:nvPr/>
        </p:nvSpPr>
        <p:spPr>
          <a:xfrm>
            <a:off x="4632198" y="2455058"/>
            <a:ext cx="4109466" cy="612860"/>
          </a:xfrm>
          <a:prstGeom prst="rect">
            <a:avLst/>
          </a:prstGeom>
          <a:noFill/>
        </p:spPr>
        <p:txBody>
          <a:bodyPr wrap="square">
            <a:spAutoFit/>
          </a:bodyPr>
          <a:lstStyle/>
          <a:p>
            <a:pPr algn="just">
              <a:lnSpc>
                <a:spcPct val="115000"/>
              </a:lnSpc>
              <a:spcAft>
                <a:spcPts val="1000"/>
              </a:spcAft>
              <a:buNone/>
            </a:pPr>
            <a:r>
              <a:rPr lang="en-US" sz="1000" dirty="0">
                <a:solidFill>
                  <a:srgbClr val="334155"/>
                </a:solidFill>
                <a:latin typeface="Calibri" pitchFamily="34" charset="0"/>
                <a:ea typeface="Calibri" pitchFamily="34" charset="-122"/>
                <a:cs typeface="Calibri" pitchFamily="34" charset="-120"/>
              </a:rPr>
              <a:t>The objective of this project is to analyze key supply chain metrics to identify bottlenecks, evaluate supplier performance, optimize inventory levels, and improve delivery reliability.</a:t>
            </a:r>
            <a:endParaRPr lang="en-IN" sz="1000" dirty="0">
              <a:solidFill>
                <a:srgbClr val="334155"/>
              </a:solidFill>
              <a:latin typeface="Calibri" pitchFamily="34" charset="0"/>
              <a:ea typeface="Calibri" pitchFamily="34" charset="-122"/>
              <a:cs typeface="Calibri" pitchFamily="34" charset="-120"/>
            </a:endParaRPr>
          </a:p>
        </p:txBody>
      </p:sp>
      <p:sp>
        <p:nvSpPr>
          <p:cNvPr id="36" name="Shape 15">
            <a:extLst>
              <a:ext uri="{FF2B5EF4-FFF2-40B4-BE49-F238E27FC236}">
                <a16:creationId xmlns:a16="http://schemas.microsoft.com/office/drawing/2014/main" id="{B5F6B1D3-E226-E235-195B-D1F24044BB97}"/>
              </a:ext>
            </a:extLst>
          </p:cNvPr>
          <p:cNvSpPr/>
          <p:nvPr/>
        </p:nvSpPr>
        <p:spPr>
          <a:xfrm>
            <a:off x="256032" y="4133088"/>
            <a:ext cx="8631936" cy="786384"/>
          </a:xfrm>
          <a:prstGeom prst="rect">
            <a:avLst/>
          </a:prstGeom>
          <a:solidFill>
            <a:srgbClr val="F0F7FF"/>
          </a:solidFill>
          <a:ln w="12700">
            <a:solidFill>
              <a:srgbClr val="CBD5E1"/>
            </a:solidFill>
            <a:prstDash val="solid"/>
          </a:ln>
        </p:spPr>
      </p:sp>
      <p:sp>
        <p:nvSpPr>
          <p:cNvPr id="38" name="TextBox 37">
            <a:extLst>
              <a:ext uri="{FF2B5EF4-FFF2-40B4-BE49-F238E27FC236}">
                <a16:creationId xmlns:a16="http://schemas.microsoft.com/office/drawing/2014/main" id="{D286C42C-771F-5A39-70F3-078CE36C1C56}"/>
              </a:ext>
            </a:extLst>
          </p:cNvPr>
          <p:cNvSpPr txBox="1"/>
          <p:nvPr/>
        </p:nvSpPr>
        <p:spPr>
          <a:xfrm>
            <a:off x="241554" y="4197589"/>
            <a:ext cx="8781288" cy="400110"/>
          </a:xfrm>
          <a:prstGeom prst="rect">
            <a:avLst/>
          </a:prstGeom>
          <a:noFill/>
        </p:spPr>
        <p:txBody>
          <a:bodyPr wrap="square">
            <a:spAutoFit/>
          </a:bodyPr>
          <a:lstStyle/>
          <a:p>
            <a:r>
              <a:rPr lang="en-US" sz="1000" dirty="0">
                <a:solidFill>
                  <a:srgbClr val="334155"/>
                </a:solidFill>
                <a:latin typeface="Calibri" pitchFamily="34" charset="0"/>
                <a:ea typeface="Calibri" pitchFamily="34" charset="-122"/>
                <a:cs typeface="Calibri" pitchFamily="34" charset="-120"/>
              </a:rPr>
              <a:t>The business was facing issues like delivery delays, cancellations, and stockout risks. To address this, the objective of the project was to analyze supplier performance, improve delivery reliability, and </a:t>
            </a:r>
            <a:r>
              <a:rPr lang="en-US" sz="1000" dirty="0" err="1">
                <a:solidFill>
                  <a:srgbClr val="334155"/>
                </a:solidFill>
                <a:latin typeface="Calibri" pitchFamily="34" charset="0"/>
                <a:ea typeface="Calibri" pitchFamily="34" charset="-122"/>
                <a:cs typeface="Calibri" pitchFamily="34" charset="-120"/>
              </a:rPr>
              <a:t>optimise</a:t>
            </a:r>
            <a:r>
              <a:rPr lang="en-US" sz="1000" dirty="0">
                <a:solidFill>
                  <a:srgbClr val="334155"/>
                </a:solidFill>
                <a:latin typeface="Calibri" pitchFamily="34" charset="0"/>
                <a:ea typeface="Calibri" pitchFamily="34" charset="-122"/>
                <a:cs typeface="Calibri" pitchFamily="34" charset="-120"/>
              </a:rPr>
              <a:t> inventory and logistics operations.</a:t>
            </a:r>
            <a:endParaRPr lang="en-IN" sz="1000" dirty="0">
              <a:solidFill>
                <a:srgbClr val="334155"/>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83929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BCF91EE2-9351-B2CE-CA94-BD044FB6B8F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9FAB6B-940D-C2F0-B86F-E1C579207221}"/>
              </a:ext>
            </a:extLst>
          </p:cNvPr>
          <p:cNvSpPr/>
          <p:nvPr/>
        </p:nvSpPr>
        <p:spPr>
          <a:xfrm>
            <a:off x="0" y="0"/>
            <a:ext cx="9144000" cy="658368"/>
          </a:xfrm>
          <a:prstGeom prst="rect">
            <a:avLst/>
          </a:prstGeom>
          <a:solidFill>
            <a:srgbClr val="1F4E79"/>
          </a:solidFill>
          <a:ln w="12700">
            <a:solidFill>
              <a:srgbClr val="1F4E79"/>
            </a:solidFill>
            <a:prstDash val="solid"/>
          </a:ln>
        </p:spPr>
      </p:sp>
      <p:sp>
        <p:nvSpPr>
          <p:cNvPr id="3" name="Text 1">
            <a:extLst>
              <a:ext uri="{FF2B5EF4-FFF2-40B4-BE49-F238E27FC236}">
                <a16:creationId xmlns:a16="http://schemas.microsoft.com/office/drawing/2014/main" id="{E0CD90BD-6459-0AA8-AFC8-1D23FBC39DF9}"/>
              </a:ext>
            </a:extLst>
          </p:cNvPr>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Project Overview</a:t>
            </a:r>
            <a:endParaRPr lang="en-US" sz="1700" dirty="0"/>
          </a:p>
        </p:txBody>
      </p:sp>
      <p:sp>
        <p:nvSpPr>
          <p:cNvPr id="5" name="Shape 3">
            <a:extLst>
              <a:ext uri="{FF2B5EF4-FFF2-40B4-BE49-F238E27FC236}">
                <a16:creationId xmlns:a16="http://schemas.microsoft.com/office/drawing/2014/main" id="{2984678D-DD79-F7D1-74FE-6D4B0B68DAEA}"/>
              </a:ext>
            </a:extLst>
          </p:cNvPr>
          <p:cNvSpPr/>
          <p:nvPr/>
        </p:nvSpPr>
        <p:spPr>
          <a:xfrm>
            <a:off x="256032" y="1024128"/>
            <a:ext cx="4041648"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6" name="Shape 4">
            <a:extLst>
              <a:ext uri="{FF2B5EF4-FFF2-40B4-BE49-F238E27FC236}">
                <a16:creationId xmlns:a16="http://schemas.microsoft.com/office/drawing/2014/main" id="{DA22E525-C03F-15BA-52D7-FB379373A974}"/>
              </a:ext>
            </a:extLst>
          </p:cNvPr>
          <p:cNvSpPr/>
          <p:nvPr/>
        </p:nvSpPr>
        <p:spPr>
          <a:xfrm>
            <a:off x="256032" y="1024128"/>
            <a:ext cx="4041648" cy="347472"/>
          </a:xfrm>
          <a:prstGeom prst="rect">
            <a:avLst/>
          </a:prstGeom>
          <a:solidFill>
            <a:srgbClr val="1F4E79"/>
          </a:solidFill>
          <a:ln w="12700">
            <a:solidFill>
              <a:srgbClr val="1F4E79"/>
            </a:solidFill>
            <a:prstDash val="solid"/>
          </a:ln>
        </p:spPr>
      </p:sp>
      <p:sp>
        <p:nvSpPr>
          <p:cNvPr id="7" name="Text 5">
            <a:extLst>
              <a:ext uri="{FF2B5EF4-FFF2-40B4-BE49-F238E27FC236}">
                <a16:creationId xmlns:a16="http://schemas.microsoft.com/office/drawing/2014/main" id="{5202FB63-A20C-7E71-59C2-E41EAC05E611}"/>
              </a:ext>
            </a:extLst>
          </p:cNvPr>
          <p:cNvSpPr/>
          <p:nvPr/>
        </p:nvSpPr>
        <p:spPr>
          <a:xfrm>
            <a:off x="256032" y="1024128"/>
            <a:ext cx="4041648"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About This Project</a:t>
            </a:r>
            <a:endParaRPr lang="en-US" sz="1200" dirty="0"/>
          </a:p>
        </p:txBody>
      </p:sp>
      <p:sp>
        <p:nvSpPr>
          <p:cNvPr id="8" name="Text 6">
            <a:extLst>
              <a:ext uri="{FF2B5EF4-FFF2-40B4-BE49-F238E27FC236}">
                <a16:creationId xmlns:a16="http://schemas.microsoft.com/office/drawing/2014/main" id="{58822D78-954E-34BB-60AF-8040A0A1A4E3}"/>
              </a:ext>
            </a:extLst>
          </p:cNvPr>
          <p:cNvSpPr/>
          <p:nvPr/>
        </p:nvSpPr>
        <p:spPr>
          <a:xfrm>
            <a:off x="402336" y="1463040"/>
            <a:ext cx="3749040" cy="3017520"/>
          </a:xfrm>
          <a:prstGeom prst="rect">
            <a:avLst/>
          </a:prstGeom>
          <a:noFill/>
          <a:ln/>
        </p:spPr>
        <p:txBody>
          <a:bodyPr wrap="square" rtlCol="0" anchor="t"/>
          <a:lstStyle/>
          <a:p>
            <a:pPr algn="just"/>
            <a:r>
              <a:rPr lang="en-US" sz="1000" dirty="0">
                <a:solidFill>
                  <a:srgbClr val="334155"/>
                </a:solidFill>
                <a:latin typeface="Calibri" pitchFamily="34" charset="0"/>
                <a:ea typeface="Calibri" pitchFamily="34" charset="-122"/>
                <a:cs typeface="Calibri" pitchFamily="34" charset="-120"/>
              </a:rPr>
              <a:t>This project focuses on analyzing supply chain operations to identify inefficiencies in supplier performance, logistics, and inventory management. The dataset includes multiple components such as orders, shipments, inventory, and supplier performance, enabling a complete end-to-end view of the supply chain</a:t>
            </a:r>
          </a:p>
          <a:p>
            <a:endParaRPr lang="en-US" sz="1000" dirty="0">
              <a:solidFill>
                <a:srgbClr val="334155"/>
              </a:solidFill>
              <a:latin typeface="Calibri" pitchFamily="34" charset="0"/>
              <a:ea typeface="Calibri" pitchFamily="34" charset="-122"/>
              <a:cs typeface="Calibri" pitchFamily="34" charset="-120"/>
            </a:endParaRPr>
          </a:p>
          <a:p>
            <a:r>
              <a:rPr lang="en-US" sz="1000" dirty="0">
                <a:solidFill>
                  <a:srgbClr val="334155"/>
                </a:solidFill>
                <a:latin typeface="Calibri" pitchFamily="34" charset="0"/>
                <a:ea typeface="Calibri" pitchFamily="34" charset="-122"/>
                <a:cs typeface="Calibri" pitchFamily="34" charset="-120"/>
              </a:rPr>
              <a:t>This project analyses supply chain performance using SQL and Power BI. I evaluated KPIs such as on-time delivery, lead time, and stockout risk and built a dashboard to identify inefficiencies. </a:t>
            </a:r>
          </a:p>
          <a:p>
            <a:endParaRPr lang="en-US" sz="1000" dirty="0">
              <a:solidFill>
                <a:srgbClr val="334155"/>
              </a:solidFill>
              <a:latin typeface="Calibri" pitchFamily="34" charset="0"/>
              <a:ea typeface="Calibri" pitchFamily="34" charset="-122"/>
              <a:cs typeface="Calibri" pitchFamily="34" charset="-120"/>
            </a:endParaRPr>
          </a:p>
          <a:p>
            <a:r>
              <a:rPr lang="en-US" sz="1000" dirty="0">
                <a:solidFill>
                  <a:srgbClr val="334155"/>
                </a:solidFill>
                <a:latin typeface="Calibri" pitchFamily="34" charset="0"/>
                <a:ea typeface="Calibri" pitchFamily="34" charset="-122"/>
                <a:cs typeface="Calibri" pitchFamily="34" charset="-120"/>
              </a:rPr>
              <a:t>One key insight was a major gap between supplier-reported and actual delivery performance, indicating logistics issues</a:t>
            </a:r>
            <a:r>
              <a:rPr lang="en-US" sz="1000" dirty="0"/>
              <a:t>.</a:t>
            </a:r>
            <a:endParaRPr lang="en-US" sz="950" dirty="0"/>
          </a:p>
        </p:txBody>
      </p:sp>
      <p:sp>
        <p:nvSpPr>
          <p:cNvPr id="9" name="Shape 7">
            <a:extLst>
              <a:ext uri="{FF2B5EF4-FFF2-40B4-BE49-F238E27FC236}">
                <a16:creationId xmlns:a16="http://schemas.microsoft.com/office/drawing/2014/main" id="{A9C7346A-319E-EA35-B2F2-D44D62A5FE50}"/>
              </a:ext>
            </a:extLst>
          </p:cNvPr>
          <p:cNvSpPr/>
          <p:nvPr/>
        </p:nvSpPr>
        <p:spPr>
          <a:xfrm>
            <a:off x="4480560" y="1024128"/>
            <a:ext cx="4407408"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0" name="Shape 8">
            <a:extLst>
              <a:ext uri="{FF2B5EF4-FFF2-40B4-BE49-F238E27FC236}">
                <a16:creationId xmlns:a16="http://schemas.microsoft.com/office/drawing/2014/main" id="{E7901963-D089-AFEC-E836-9C1696794D96}"/>
              </a:ext>
            </a:extLst>
          </p:cNvPr>
          <p:cNvSpPr/>
          <p:nvPr/>
        </p:nvSpPr>
        <p:spPr>
          <a:xfrm>
            <a:off x="4480560" y="1024128"/>
            <a:ext cx="4407408" cy="347472"/>
          </a:xfrm>
          <a:prstGeom prst="rect">
            <a:avLst/>
          </a:prstGeom>
          <a:solidFill>
            <a:srgbClr val="0E7490"/>
          </a:solidFill>
          <a:ln w="12700">
            <a:solidFill>
              <a:srgbClr val="0E7490"/>
            </a:solidFill>
            <a:prstDash val="solid"/>
          </a:ln>
        </p:spPr>
      </p:sp>
      <p:sp>
        <p:nvSpPr>
          <p:cNvPr id="11" name="Text 9">
            <a:extLst>
              <a:ext uri="{FF2B5EF4-FFF2-40B4-BE49-F238E27FC236}">
                <a16:creationId xmlns:a16="http://schemas.microsoft.com/office/drawing/2014/main" id="{8C86974D-706A-F34C-01E9-E85BBE8CB0E4}"/>
              </a:ext>
            </a:extLst>
          </p:cNvPr>
          <p:cNvSpPr/>
          <p:nvPr/>
        </p:nvSpPr>
        <p:spPr>
          <a:xfrm>
            <a:off x="4480560" y="1024128"/>
            <a:ext cx="4407408"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What Was Done</a:t>
            </a:r>
            <a:endParaRPr lang="en-US" sz="1200" dirty="0"/>
          </a:p>
        </p:txBody>
      </p:sp>
      <p:sp>
        <p:nvSpPr>
          <p:cNvPr id="12" name="Shape 10">
            <a:extLst>
              <a:ext uri="{FF2B5EF4-FFF2-40B4-BE49-F238E27FC236}">
                <a16:creationId xmlns:a16="http://schemas.microsoft.com/office/drawing/2014/main" id="{A9C6D3DE-C80C-6B4F-749A-4CCDF97A51D0}"/>
              </a:ext>
            </a:extLst>
          </p:cNvPr>
          <p:cNvSpPr/>
          <p:nvPr/>
        </p:nvSpPr>
        <p:spPr>
          <a:xfrm>
            <a:off x="4572000" y="1485900"/>
            <a:ext cx="384048" cy="384048"/>
          </a:xfrm>
          <a:prstGeom prst="rect">
            <a:avLst/>
          </a:prstGeom>
          <a:solidFill>
            <a:srgbClr val="0E7490"/>
          </a:solidFill>
          <a:ln w="12700">
            <a:solidFill>
              <a:srgbClr val="0E7490"/>
            </a:solidFill>
            <a:prstDash val="solid"/>
          </a:ln>
        </p:spPr>
      </p:sp>
      <p:sp>
        <p:nvSpPr>
          <p:cNvPr id="13" name="Text 11">
            <a:extLst>
              <a:ext uri="{FF2B5EF4-FFF2-40B4-BE49-F238E27FC236}">
                <a16:creationId xmlns:a16="http://schemas.microsoft.com/office/drawing/2014/main" id="{E21757E4-7C72-C4D2-40CD-2EB23947576B}"/>
              </a:ext>
            </a:extLst>
          </p:cNvPr>
          <p:cNvSpPr/>
          <p:nvPr/>
        </p:nvSpPr>
        <p:spPr>
          <a:xfrm>
            <a:off x="4572000" y="1499616"/>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4" name="Text 12">
            <a:extLst>
              <a:ext uri="{FF2B5EF4-FFF2-40B4-BE49-F238E27FC236}">
                <a16:creationId xmlns:a16="http://schemas.microsoft.com/office/drawing/2014/main" id="{38E41673-CF70-BFBE-962E-E05A3D7CD21B}"/>
              </a:ext>
            </a:extLst>
          </p:cNvPr>
          <p:cNvSpPr/>
          <p:nvPr/>
        </p:nvSpPr>
        <p:spPr>
          <a:xfrm>
            <a:off x="5074920" y="1456944"/>
            <a:ext cx="3657600" cy="201168"/>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Data Import &amp; Cleaning</a:t>
            </a:r>
            <a:endParaRPr lang="en-US" sz="1000" dirty="0"/>
          </a:p>
        </p:txBody>
      </p:sp>
      <p:sp>
        <p:nvSpPr>
          <p:cNvPr id="15" name="Text 13">
            <a:extLst>
              <a:ext uri="{FF2B5EF4-FFF2-40B4-BE49-F238E27FC236}">
                <a16:creationId xmlns:a16="http://schemas.microsoft.com/office/drawing/2014/main" id="{5B7366C3-031B-10BB-AB92-8328A3814BB7}"/>
              </a:ext>
            </a:extLst>
          </p:cNvPr>
          <p:cNvSpPr/>
          <p:nvPr/>
        </p:nvSpPr>
        <p:spPr>
          <a:xfrm>
            <a:off x="5074920" y="1685544"/>
            <a:ext cx="3657600" cy="201168"/>
          </a:xfrm>
          <a:prstGeom prst="rect">
            <a:avLst/>
          </a:prstGeom>
          <a:noFill/>
          <a:ln/>
        </p:spPr>
        <p:txBody>
          <a:bodyPr wrap="square" lIns="0" tIns="0" rIns="0" bIns="0" rtlCol="0" anchor="ctr"/>
          <a:lstStyle/>
          <a:p>
            <a:r>
              <a:rPr lang="en-US" sz="850" dirty="0">
                <a:solidFill>
                  <a:srgbClr val="475569"/>
                </a:solidFill>
                <a:latin typeface="Calibri" pitchFamily="34" charset="0"/>
                <a:ea typeface="Calibri" pitchFamily="34" charset="-122"/>
                <a:cs typeface="Calibri" pitchFamily="34" charset="-120"/>
              </a:rPr>
              <a:t>Loaded 4 Excel sheets in Power Query · Fixed data types · Extract month column · Built data model connection for Pivot Table</a:t>
            </a:r>
            <a:endParaRPr lang="en-US" sz="850" dirty="0"/>
          </a:p>
        </p:txBody>
      </p:sp>
      <p:sp>
        <p:nvSpPr>
          <p:cNvPr id="16" name="Shape 14">
            <a:extLst>
              <a:ext uri="{FF2B5EF4-FFF2-40B4-BE49-F238E27FC236}">
                <a16:creationId xmlns:a16="http://schemas.microsoft.com/office/drawing/2014/main" id="{50003078-EF0C-AD4B-FC3F-0A6747F2789D}"/>
              </a:ext>
            </a:extLst>
          </p:cNvPr>
          <p:cNvSpPr/>
          <p:nvPr/>
        </p:nvSpPr>
        <p:spPr>
          <a:xfrm>
            <a:off x="4572000" y="2112264"/>
            <a:ext cx="384048" cy="384048"/>
          </a:xfrm>
          <a:prstGeom prst="rect">
            <a:avLst/>
          </a:prstGeom>
          <a:solidFill>
            <a:srgbClr val="0E7490"/>
          </a:solidFill>
          <a:ln w="12700">
            <a:solidFill>
              <a:srgbClr val="0E7490"/>
            </a:solidFill>
            <a:prstDash val="solid"/>
          </a:ln>
        </p:spPr>
      </p:sp>
      <p:sp>
        <p:nvSpPr>
          <p:cNvPr id="17" name="Text 15">
            <a:extLst>
              <a:ext uri="{FF2B5EF4-FFF2-40B4-BE49-F238E27FC236}">
                <a16:creationId xmlns:a16="http://schemas.microsoft.com/office/drawing/2014/main" id="{C0C3F40D-4F83-AB08-1F5A-BCB1C5A727A9}"/>
              </a:ext>
            </a:extLst>
          </p:cNvPr>
          <p:cNvSpPr/>
          <p:nvPr/>
        </p:nvSpPr>
        <p:spPr>
          <a:xfrm>
            <a:off x="4572000" y="2112264"/>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6">
            <a:extLst>
              <a:ext uri="{FF2B5EF4-FFF2-40B4-BE49-F238E27FC236}">
                <a16:creationId xmlns:a16="http://schemas.microsoft.com/office/drawing/2014/main" id="{0062D658-D3E8-7B6D-38C7-0E65EB56C37E}"/>
              </a:ext>
            </a:extLst>
          </p:cNvPr>
          <p:cNvSpPr/>
          <p:nvPr/>
        </p:nvSpPr>
        <p:spPr>
          <a:xfrm>
            <a:off x="5074920" y="2121408"/>
            <a:ext cx="3657600" cy="201168"/>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Data Modelling</a:t>
            </a:r>
            <a:endParaRPr lang="en-US" sz="1000" dirty="0"/>
          </a:p>
        </p:txBody>
      </p:sp>
      <p:sp>
        <p:nvSpPr>
          <p:cNvPr id="19" name="Text 17">
            <a:extLst>
              <a:ext uri="{FF2B5EF4-FFF2-40B4-BE49-F238E27FC236}">
                <a16:creationId xmlns:a16="http://schemas.microsoft.com/office/drawing/2014/main" id="{CB95AB74-01CD-62AA-E4AE-06699936FDF8}"/>
              </a:ext>
            </a:extLst>
          </p:cNvPr>
          <p:cNvSpPr/>
          <p:nvPr/>
        </p:nvSpPr>
        <p:spPr>
          <a:xfrm>
            <a:off x="5074920" y="2304288"/>
            <a:ext cx="365760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Star schema · 5 table relationships · Calculated columns</a:t>
            </a:r>
            <a:endParaRPr lang="en-US" sz="850" dirty="0"/>
          </a:p>
        </p:txBody>
      </p:sp>
      <p:sp>
        <p:nvSpPr>
          <p:cNvPr id="20" name="Shape 18">
            <a:extLst>
              <a:ext uri="{FF2B5EF4-FFF2-40B4-BE49-F238E27FC236}">
                <a16:creationId xmlns:a16="http://schemas.microsoft.com/office/drawing/2014/main" id="{5F6F173E-2E04-45B4-E6C6-28168779978A}"/>
              </a:ext>
            </a:extLst>
          </p:cNvPr>
          <p:cNvSpPr/>
          <p:nvPr/>
        </p:nvSpPr>
        <p:spPr>
          <a:xfrm>
            <a:off x="4572000" y="2761488"/>
            <a:ext cx="384048" cy="384048"/>
          </a:xfrm>
          <a:prstGeom prst="rect">
            <a:avLst/>
          </a:prstGeom>
          <a:solidFill>
            <a:srgbClr val="0E7490"/>
          </a:solidFill>
          <a:ln w="12700">
            <a:solidFill>
              <a:srgbClr val="0E7490"/>
            </a:solidFill>
            <a:prstDash val="solid"/>
          </a:ln>
        </p:spPr>
      </p:sp>
      <p:sp>
        <p:nvSpPr>
          <p:cNvPr id="21" name="Text 19">
            <a:extLst>
              <a:ext uri="{FF2B5EF4-FFF2-40B4-BE49-F238E27FC236}">
                <a16:creationId xmlns:a16="http://schemas.microsoft.com/office/drawing/2014/main" id="{B3E028D8-D4D4-92F1-68A1-4FD4CB6F5448}"/>
              </a:ext>
            </a:extLst>
          </p:cNvPr>
          <p:cNvSpPr/>
          <p:nvPr/>
        </p:nvSpPr>
        <p:spPr>
          <a:xfrm>
            <a:off x="4572000" y="2761488"/>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2" name="Text 20">
            <a:extLst>
              <a:ext uri="{FF2B5EF4-FFF2-40B4-BE49-F238E27FC236}">
                <a16:creationId xmlns:a16="http://schemas.microsoft.com/office/drawing/2014/main" id="{02E68C4E-7B38-747B-CA91-382D78E34DC5}"/>
              </a:ext>
            </a:extLst>
          </p:cNvPr>
          <p:cNvSpPr/>
          <p:nvPr/>
        </p:nvSpPr>
        <p:spPr>
          <a:xfrm>
            <a:off x="5074920" y="2770632"/>
            <a:ext cx="3657600" cy="201168"/>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DAX Measures</a:t>
            </a:r>
            <a:endParaRPr lang="en-US" sz="1000" dirty="0"/>
          </a:p>
        </p:txBody>
      </p:sp>
      <p:sp>
        <p:nvSpPr>
          <p:cNvPr id="23" name="Text 21">
            <a:extLst>
              <a:ext uri="{FF2B5EF4-FFF2-40B4-BE49-F238E27FC236}">
                <a16:creationId xmlns:a16="http://schemas.microsoft.com/office/drawing/2014/main" id="{FCC309D7-FD4B-B575-9D7E-1959731C5ED0}"/>
              </a:ext>
            </a:extLst>
          </p:cNvPr>
          <p:cNvSpPr/>
          <p:nvPr/>
        </p:nvSpPr>
        <p:spPr>
          <a:xfrm>
            <a:off x="5074920" y="2953512"/>
            <a:ext cx="365760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KPI measures: OTDR, Revenue, Defect Rate, Freight/KG, etc.</a:t>
            </a:r>
            <a:endParaRPr lang="en-US" sz="850" dirty="0"/>
          </a:p>
        </p:txBody>
      </p:sp>
      <p:sp>
        <p:nvSpPr>
          <p:cNvPr id="24" name="Shape 22">
            <a:extLst>
              <a:ext uri="{FF2B5EF4-FFF2-40B4-BE49-F238E27FC236}">
                <a16:creationId xmlns:a16="http://schemas.microsoft.com/office/drawing/2014/main" id="{33BBDE88-21CA-2306-600B-555F074DC6EE}"/>
              </a:ext>
            </a:extLst>
          </p:cNvPr>
          <p:cNvSpPr/>
          <p:nvPr/>
        </p:nvSpPr>
        <p:spPr>
          <a:xfrm>
            <a:off x="4572000" y="3410712"/>
            <a:ext cx="384048" cy="384048"/>
          </a:xfrm>
          <a:prstGeom prst="rect">
            <a:avLst/>
          </a:prstGeom>
          <a:solidFill>
            <a:srgbClr val="0E7490"/>
          </a:solidFill>
          <a:ln w="12700">
            <a:solidFill>
              <a:srgbClr val="0E7490"/>
            </a:solidFill>
            <a:prstDash val="solid"/>
          </a:ln>
        </p:spPr>
      </p:sp>
      <p:sp>
        <p:nvSpPr>
          <p:cNvPr id="25" name="Text 23">
            <a:extLst>
              <a:ext uri="{FF2B5EF4-FFF2-40B4-BE49-F238E27FC236}">
                <a16:creationId xmlns:a16="http://schemas.microsoft.com/office/drawing/2014/main" id="{6999FBAB-0706-98C3-469C-816A263D662F}"/>
              </a:ext>
            </a:extLst>
          </p:cNvPr>
          <p:cNvSpPr/>
          <p:nvPr/>
        </p:nvSpPr>
        <p:spPr>
          <a:xfrm>
            <a:off x="4572000" y="3410712"/>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6" name="Text 24">
            <a:extLst>
              <a:ext uri="{FF2B5EF4-FFF2-40B4-BE49-F238E27FC236}">
                <a16:creationId xmlns:a16="http://schemas.microsoft.com/office/drawing/2014/main" id="{33BC6512-CC49-9D28-DE89-4B6BA2572E29}"/>
              </a:ext>
            </a:extLst>
          </p:cNvPr>
          <p:cNvSpPr/>
          <p:nvPr/>
        </p:nvSpPr>
        <p:spPr>
          <a:xfrm>
            <a:off x="5074920" y="3419856"/>
            <a:ext cx="3657600" cy="201168"/>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Dashboard Design</a:t>
            </a:r>
            <a:endParaRPr lang="en-US" sz="1000" dirty="0"/>
          </a:p>
        </p:txBody>
      </p:sp>
      <p:sp>
        <p:nvSpPr>
          <p:cNvPr id="27" name="Text 25">
            <a:extLst>
              <a:ext uri="{FF2B5EF4-FFF2-40B4-BE49-F238E27FC236}">
                <a16:creationId xmlns:a16="http://schemas.microsoft.com/office/drawing/2014/main" id="{AC66A009-B530-C5E3-0BEC-CCB73490E7DE}"/>
              </a:ext>
            </a:extLst>
          </p:cNvPr>
          <p:cNvSpPr/>
          <p:nvPr/>
        </p:nvSpPr>
        <p:spPr>
          <a:xfrm>
            <a:off x="5074920" y="3602736"/>
            <a:ext cx="365760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5 themed pages · 30+ visuals · Slicers · Pages Buttons</a:t>
            </a:r>
            <a:endParaRPr lang="en-US" sz="850" dirty="0"/>
          </a:p>
        </p:txBody>
      </p:sp>
      <p:sp>
        <p:nvSpPr>
          <p:cNvPr id="28" name="Shape 26">
            <a:extLst>
              <a:ext uri="{FF2B5EF4-FFF2-40B4-BE49-F238E27FC236}">
                <a16:creationId xmlns:a16="http://schemas.microsoft.com/office/drawing/2014/main" id="{C3A5CF34-9C34-1E15-3475-22C675361868}"/>
              </a:ext>
            </a:extLst>
          </p:cNvPr>
          <p:cNvSpPr/>
          <p:nvPr/>
        </p:nvSpPr>
        <p:spPr>
          <a:xfrm>
            <a:off x="4572000" y="4059936"/>
            <a:ext cx="384048" cy="384048"/>
          </a:xfrm>
          <a:prstGeom prst="rect">
            <a:avLst/>
          </a:prstGeom>
          <a:solidFill>
            <a:srgbClr val="0E7490"/>
          </a:solidFill>
          <a:ln w="12700">
            <a:solidFill>
              <a:srgbClr val="0E7490"/>
            </a:solidFill>
            <a:prstDash val="solid"/>
          </a:ln>
        </p:spPr>
      </p:sp>
      <p:sp>
        <p:nvSpPr>
          <p:cNvPr id="29" name="Text 27">
            <a:extLst>
              <a:ext uri="{FF2B5EF4-FFF2-40B4-BE49-F238E27FC236}">
                <a16:creationId xmlns:a16="http://schemas.microsoft.com/office/drawing/2014/main" id="{2A5869B7-1C69-0037-8819-EC18485933EE}"/>
              </a:ext>
            </a:extLst>
          </p:cNvPr>
          <p:cNvSpPr/>
          <p:nvPr/>
        </p:nvSpPr>
        <p:spPr>
          <a:xfrm>
            <a:off x="4572000" y="4059936"/>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0" name="Text 28">
            <a:extLst>
              <a:ext uri="{FF2B5EF4-FFF2-40B4-BE49-F238E27FC236}">
                <a16:creationId xmlns:a16="http://schemas.microsoft.com/office/drawing/2014/main" id="{AE73AD0F-C875-EC9D-3BB6-A13A85E302A5}"/>
              </a:ext>
            </a:extLst>
          </p:cNvPr>
          <p:cNvSpPr/>
          <p:nvPr/>
        </p:nvSpPr>
        <p:spPr>
          <a:xfrm>
            <a:off x="5074920" y="4069080"/>
            <a:ext cx="3657600" cy="201168"/>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Insight Extraction</a:t>
            </a:r>
            <a:endParaRPr lang="en-US" sz="1000" dirty="0"/>
          </a:p>
        </p:txBody>
      </p:sp>
      <p:sp>
        <p:nvSpPr>
          <p:cNvPr id="31" name="Text 29">
            <a:extLst>
              <a:ext uri="{FF2B5EF4-FFF2-40B4-BE49-F238E27FC236}">
                <a16:creationId xmlns:a16="http://schemas.microsoft.com/office/drawing/2014/main" id="{2424D05A-E46C-5799-3B55-F426D83976D6}"/>
              </a:ext>
            </a:extLst>
          </p:cNvPr>
          <p:cNvSpPr/>
          <p:nvPr/>
        </p:nvSpPr>
        <p:spPr>
          <a:xfrm>
            <a:off x="5074920" y="4251960"/>
            <a:ext cx="3657600" cy="201168"/>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Business problems answered using real data from the dashboard</a:t>
            </a:r>
            <a:endParaRPr lang="en-US" sz="850" dirty="0"/>
          </a:p>
        </p:txBody>
      </p:sp>
    </p:spTree>
    <p:extLst>
      <p:ext uri="{BB962C8B-B14F-4D97-AF65-F5344CB8AC3E}">
        <p14:creationId xmlns:p14="http://schemas.microsoft.com/office/powerpoint/2010/main" val="550664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Dataset </a:t>
            </a:r>
            <a:endParaRPr lang="en-US" sz="1700" dirty="0"/>
          </a:p>
        </p:txBody>
      </p:sp>
      <p:sp>
        <p:nvSpPr>
          <p:cNvPr id="4" name="Text 2"/>
          <p:cNvSpPr/>
          <p:nvPr/>
        </p:nvSpPr>
        <p:spPr>
          <a:xfrm>
            <a:off x="320040" y="658368"/>
            <a:ext cx="8503920" cy="292608"/>
          </a:xfrm>
          <a:prstGeom prst="rect">
            <a:avLst/>
          </a:prstGeom>
          <a:noFill/>
          <a:ln/>
        </p:spPr>
        <p:txBody>
          <a:bodyPr wrap="square" lIns="0" tIns="0" rIns="0" bIns="0" rtlCol="0" anchor="ctr"/>
          <a:lstStyle/>
          <a:p>
            <a:pPr marL="0" indent="0">
              <a:buNone/>
            </a:pPr>
            <a:r>
              <a:rPr lang="en-US" sz="1000" i="1" dirty="0">
                <a:solidFill>
                  <a:srgbClr val="0E7490"/>
                </a:solidFill>
                <a:latin typeface="Calibri" pitchFamily="34" charset="0"/>
                <a:ea typeface="Calibri" pitchFamily="34" charset="-122"/>
                <a:cs typeface="Calibri" pitchFamily="34" charset="-120"/>
              </a:rPr>
              <a:t>4 interconnected tables — 1,130+ records spanning the full supply chain</a:t>
            </a:r>
            <a:endParaRPr lang="en-US" sz="1000" dirty="0"/>
          </a:p>
        </p:txBody>
      </p:sp>
      <p:sp>
        <p:nvSpPr>
          <p:cNvPr id="5" name="Shape 3"/>
          <p:cNvSpPr/>
          <p:nvPr/>
        </p:nvSpPr>
        <p:spPr>
          <a:xfrm>
            <a:off x="274320" y="1005840"/>
            <a:ext cx="1993392"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6" name="Shape 4"/>
          <p:cNvSpPr/>
          <p:nvPr/>
        </p:nvSpPr>
        <p:spPr>
          <a:xfrm>
            <a:off x="274320" y="1005840"/>
            <a:ext cx="1993392" cy="502920"/>
          </a:xfrm>
          <a:prstGeom prst="rect">
            <a:avLst/>
          </a:prstGeom>
          <a:solidFill>
            <a:srgbClr val="1F4E79"/>
          </a:solidFill>
          <a:ln w="12700">
            <a:solidFill>
              <a:srgbClr val="1F4E79"/>
            </a:solidFill>
            <a:prstDash val="solid"/>
          </a:ln>
        </p:spPr>
      </p:sp>
      <p:sp>
        <p:nvSpPr>
          <p:cNvPr id="7" name="Text 5"/>
          <p:cNvSpPr/>
          <p:nvPr/>
        </p:nvSpPr>
        <p:spPr>
          <a:xfrm>
            <a:off x="274320" y="1005840"/>
            <a:ext cx="1993392"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347472" y="1554480"/>
            <a:ext cx="1847088" cy="292608"/>
          </a:xfrm>
          <a:prstGeom prst="rect">
            <a:avLst/>
          </a:prstGeom>
          <a:noFill/>
          <a:ln/>
        </p:spPr>
        <p:txBody>
          <a:bodyPr wrap="square" lIns="0" tIns="0" rIns="0" bIns="0" rtlCol="0" anchor="ctr"/>
          <a:lstStyle/>
          <a:p>
            <a:pPr marL="0" indent="0" algn="ctr">
              <a:buNone/>
            </a:pPr>
            <a:r>
              <a:rPr lang="en-US" sz="1150" b="1" dirty="0">
                <a:solidFill>
                  <a:srgbClr val="1F4E79"/>
                </a:solidFill>
                <a:latin typeface="Calibri" pitchFamily="34" charset="0"/>
                <a:ea typeface="Calibri" pitchFamily="34" charset="-122"/>
                <a:cs typeface="Calibri" pitchFamily="34" charset="-120"/>
              </a:rPr>
              <a:t>Orders</a:t>
            </a:r>
            <a:endParaRPr lang="en-US" sz="1150" dirty="0"/>
          </a:p>
        </p:txBody>
      </p:sp>
      <p:sp>
        <p:nvSpPr>
          <p:cNvPr id="9" name="Text 7"/>
          <p:cNvSpPr/>
          <p:nvPr/>
        </p:nvSpPr>
        <p:spPr>
          <a:xfrm>
            <a:off x="274320" y="1828800"/>
            <a:ext cx="1993392" cy="475488"/>
          </a:xfrm>
          <a:prstGeom prst="rect">
            <a:avLst/>
          </a:prstGeom>
          <a:noFill/>
          <a:ln/>
        </p:spPr>
        <p:txBody>
          <a:bodyPr wrap="square" lIns="0" tIns="0" rIns="0" bIns="0" rtlCol="0" anchor="ctr"/>
          <a:lstStyle/>
          <a:p>
            <a:pPr marL="0" indent="0" algn="ctr">
              <a:buNone/>
            </a:pPr>
            <a:r>
              <a:rPr lang="en-US" sz="3400" b="1" dirty="0">
                <a:solidFill>
                  <a:srgbClr val="0F172A"/>
                </a:solidFill>
                <a:latin typeface="Calibri" pitchFamily="34" charset="0"/>
                <a:ea typeface="Calibri" pitchFamily="34" charset="-122"/>
                <a:cs typeface="Calibri" pitchFamily="34" charset="-120"/>
              </a:rPr>
              <a:t>500</a:t>
            </a:r>
            <a:endParaRPr lang="en-US" sz="3400" dirty="0"/>
          </a:p>
        </p:txBody>
      </p:sp>
      <p:sp>
        <p:nvSpPr>
          <p:cNvPr id="10" name="Text 8"/>
          <p:cNvSpPr/>
          <p:nvPr/>
        </p:nvSpPr>
        <p:spPr>
          <a:xfrm>
            <a:off x="274320" y="2267712"/>
            <a:ext cx="1993392" cy="201168"/>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records</a:t>
            </a:r>
            <a:endParaRPr lang="en-US" sz="900" dirty="0"/>
          </a:p>
        </p:txBody>
      </p:sp>
      <p:sp>
        <p:nvSpPr>
          <p:cNvPr id="11" name="Shape 9"/>
          <p:cNvSpPr/>
          <p:nvPr/>
        </p:nvSpPr>
        <p:spPr>
          <a:xfrm>
            <a:off x="548640" y="2505456"/>
            <a:ext cx="1444752" cy="36576"/>
          </a:xfrm>
          <a:prstGeom prst="rect">
            <a:avLst/>
          </a:prstGeom>
          <a:solidFill>
            <a:srgbClr val="1F4E79"/>
          </a:solidFill>
          <a:ln w="12700">
            <a:solidFill>
              <a:srgbClr val="1F4E79"/>
            </a:solidFill>
            <a:prstDash val="solid"/>
          </a:ln>
        </p:spPr>
      </p:sp>
      <p:sp>
        <p:nvSpPr>
          <p:cNvPr id="12" name="Text 10"/>
          <p:cNvSpPr/>
          <p:nvPr/>
        </p:nvSpPr>
        <p:spPr>
          <a:xfrm>
            <a:off x="365760" y="2596896"/>
            <a:ext cx="1810512" cy="1828800"/>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Purchase orders with supplier, product, customer, pricing, lead times &amp; delivery status</a:t>
            </a:r>
            <a:endParaRPr lang="en-US" sz="850" dirty="0"/>
          </a:p>
        </p:txBody>
      </p:sp>
      <p:sp>
        <p:nvSpPr>
          <p:cNvPr id="13" name="Shape 11"/>
          <p:cNvSpPr/>
          <p:nvPr/>
        </p:nvSpPr>
        <p:spPr>
          <a:xfrm>
            <a:off x="2441448" y="1005840"/>
            <a:ext cx="1993392"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4" name="Shape 12"/>
          <p:cNvSpPr/>
          <p:nvPr/>
        </p:nvSpPr>
        <p:spPr>
          <a:xfrm>
            <a:off x="2441448" y="1005840"/>
            <a:ext cx="1993392" cy="502920"/>
          </a:xfrm>
          <a:prstGeom prst="rect">
            <a:avLst/>
          </a:prstGeom>
          <a:solidFill>
            <a:srgbClr val="0D9488"/>
          </a:solidFill>
          <a:ln w="12700">
            <a:solidFill>
              <a:srgbClr val="0D9488"/>
            </a:solidFill>
            <a:prstDash val="solid"/>
          </a:ln>
        </p:spPr>
      </p:sp>
      <p:sp>
        <p:nvSpPr>
          <p:cNvPr id="15" name="Text 13"/>
          <p:cNvSpPr/>
          <p:nvPr/>
        </p:nvSpPr>
        <p:spPr>
          <a:xfrm>
            <a:off x="2441448" y="1005840"/>
            <a:ext cx="1993392" cy="502920"/>
          </a:xfrm>
          <a:prstGeom prst="rect">
            <a:avLst/>
          </a:prstGeom>
          <a:noFill/>
          <a:ln/>
        </p:spPr>
        <p:txBody>
          <a:bodyPr wrap="square" lIns="0" tIns="0" rIns="0" bIns="0" rtlCol="0" anchor="ctr"/>
          <a:lstStyle/>
          <a:p>
            <a:pPr marL="0" indent="0" algn="ctr">
              <a:buNone/>
            </a:pPr>
            <a:endParaRPr lang="en-US" sz="2200" dirty="0"/>
          </a:p>
        </p:txBody>
      </p:sp>
      <p:sp>
        <p:nvSpPr>
          <p:cNvPr id="16" name="Text 14"/>
          <p:cNvSpPr/>
          <p:nvPr/>
        </p:nvSpPr>
        <p:spPr>
          <a:xfrm>
            <a:off x="2514600" y="1554480"/>
            <a:ext cx="1847088" cy="292608"/>
          </a:xfrm>
          <a:prstGeom prst="rect">
            <a:avLst/>
          </a:prstGeom>
          <a:noFill/>
          <a:ln/>
        </p:spPr>
        <p:txBody>
          <a:bodyPr wrap="square" lIns="0" tIns="0" rIns="0" bIns="0" rtlCol="0" anchor="ctr"/>
          <a:lstStyle/>
          <a:p>
            <a:pPr marL="0" indent="0" algn="ctr">
              <a:buNone/>
            </a:pPr>
            <a:r>
              <a:rPr lang="en-US" sz="1150" b="1" dirty="0">
                <a:solidFill>
                  <a:srgbClr val="0D9488"/>
                </a:solidFill>
                <a:latin typeface="Calibri" pitchFamily="34" charset="0"/>
                <a:ea typeface="Calibri" pitchFamily="34" charset="-122"/>
                <a:cs typeface="Calibri" pitchFamily="34" charset="-120"/>
              </a:rPr>
              <a:t>Inventory</a:t>
            </a:r>
            <a:endParaRPr lang="en-US" sz="1150" dirty="0"/>
          </a:p>
        </p:txBody>
      </p:sp>
      <p:sp>
        <p:nvSpPr>
          <p:cNvPr id="17" name="Text 15"/>
          <p:cNvSpPr/>
          <p:nvPr/>
        </p:nvSpPr>
        <p:spPr>
          <a:xfrm>
            <a:off x="2441448" y="1828800"/>
            <a:ext cx="1993392" cy="475488"/>
          </a:xfrm>
          <a:prstGeom prst="rect">
            <a:avLst/>
          </a:prstGeom>
          <a:noFill/>
          <a:ln/>
        </p:spPr>
        <p:txBody>
          <a:bodyPr wrap="square" lIns="0" tIns="0" rIns="0" bIns="0" rtlCol="0" anchor="ctr"/>
          <a:lstStyle/>
          <a:p>
            <a:pPr marL="0" indent="0" algn="ctr">
              <a:buNone/>
            </a:pPr>
            <a:r>
              <a:rPr lang="en-US" sz="3400" b="1" dirty="0">
                <a:solidFill>
                  <a:srgbClr val="0F172A"/>
                </a:solidFill>
                <a:latin typeface="Calibri" pitchFamily="34" charset="0"/>
                <a:ea typeface="Calibri" pitchFamily="34" charset="-122"/>
                <a:cs typeface="Calibri" pitchFamily="34" charset="-120"/>
              </a:rPr>
              <a:t>50</a:t>
            </a:r>
            <a:endParaRPr lang="en-US" sz="3400" dirty="0"/>
          </a:p>
        </p:txBody>
      </p:sp>
      <p:sp>
        <p:nvSpPr>
          <p:cNvPr id="18" name="Text 16"/>
          <p:cNvSpPr/>
          <p:nvPr/>
        </p:nvSpPr>
        <p:spPr>
          <a:xfrm>
            <a:off x="2441448" y="2267712"/>
            <a:ext cx="1993392" cy="201168"/>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records</a:t>
            </a:r>
            <a:endParaRPr lang="en-US" sz="900" dirty="0"/>
          </a:p>
        </p:txBody>
      </p:sp>
      <p:sp>
        <p:nvSpPr>
          <p:cNvPr id="19" name="Shape 17"/>
          <p:cNvSpPr/>
          <p:nvPr/>
        </p:nvSpPr>
        <p:spPr>
          <a:xfrm>
            <a:off x="2715768" y="2505456"/>
            <a:ext cx="1444752" cy="36576"/>
          </a:xfrm>
          <a:prstGeom prst="rect">
            <a:avLst/>
          </a:prstGeom>
          <a:solidFill>
            <a:srgbClr val="0D9488"/>
          </a:solidFill>
          <a:ln w="12700">
            <a:solidFill>
              <a:srgbClr val="0D9488"/>
            </a:solidFill>
            <a:prstDash val="solid"/>
          </a:ln>
        </p:spPr>
      </p:sp>
      <p:sp>
        <p:nvSpPr>
          <p:cNvPr id="20" name="Text 18"/>
          <p:cNvSpPr/>
          <p:nvPr/>
        </p:nvSpPr>
        <p:spPr>
          <a:xfrm>
            <a:off x="2532888" y="2596896"/>
            <a:ext cx="1810512" cy="1828800"/>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Stock levels per warehouse-product pair with reorder levels &amp; max capacity</a:t>
            </a:r>
            <a:endParaRPr lang="en-US" sz="850" dirty="0"/>
          </a:p>
        </p:txBody>
      </p:sp>
      <p:sp>
        <p:nvSpPr>
          <p:cNvPr id="21" name="Shape 19"/>
          <p:cNvSpPr/>
          <p:nvPr/>
        </p:nvSpPr>
        <p:spPr>
          <a:xfrm>
            <a:off x="4608576" y="1005840"/>
            <a:ext cx="1993392"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22" name="Shape 20"/>
          <p:cNvSpPr/>
          <p:nvPr/>
        </p:nvSpPr>
        <p:spPr>
          <a:xfrm>
            <a:off x="4608576" y="1005840"/>
            <a:ext cx="1993392" cy="502920"/>
          </a:xfrm>
          <a:prstGeom prst="rect">
            <a:avLst/>
          </a:prstGeom>
          <a:solidFill>
            <a:srgbClr val="B45309"/>
          </a:solidFill>
          <a:ln w="12700">
            <a:solidFill>
              <a:srgbClr val="B45309"/>
            </a:solidFill>
            <a:prstDash val="solid"/>
          </a:ln>
        </p:spPr>
      </p:sp>
      <p:sp>
        <p:nvSpPr>
          <p:cNvPr id="23" name="Text 21"/>
          <p:cNvSpPr/>
          <p:nvPr/>
        </p:nvSpPr>
        <p:spPr>
          <a:xfrm>
            <a:off x="4608576" y="1005840"/>
            <a:ext cx="1993392" cy="502920"/>
          </a:xfrm>
          <a:prstGeom prst="rect">
            <a:avLst/>
          </a:prstGeom>
          <a:noFill/>
          <a:ln/>
        </p:spPr>
        <p:txBody>
          <a:bodyPr wrap="square" lIns="0" tIns="0" rIns="0" bIns="0" rtlCol="0" anchor="ctr"/>
          <a:lstStyle/>
          <a:p>
            <a:pPr marL="0" indent="0" algn="ctr">
              <a:buNone/>
            </a:pPr>
            <a:endParaRPr lang="en-US" sz="2200" dirty="0"/>
          </a:p>
        </p:txBody>
      </p:sp>
      <p:sp>
        <p:nvSpPr>
          <p:cNvPr id="24" name="Text 22"/>
          <p:cNvSpPr/>
          <p:nvPr/>
        </p:nvSpPr>
        <p:spPr>
          <a:xfrm>
            <a:off x="4681728" y="1554480"/>
            <a:ext cx="1847088" cy="292608"/>
          </a:xfrm>
          <a:prstGeom prst="rect">
            <a:avLst/>
          </a:prstGeom>
          <a:noFill/>
          <a:ln/>
        </p:spPr>
        <p:txBody>
          <a:bodyPr wrap="square" lIns="0" tIns="0" rIns="0" bIns="0" rtlCol="0" anchor="ctr"/>
          <a:lstStyle/>
          <a:p>
            <a:pPr marL="0" indent="0" algn="ctr">
              <a:buNone/>
            </a:pPr>
            <a:r>
              <a:rPr lang="en-US" sz="1150" b="1" dirty="0">
                <a:solidFill>
                  <a:srgbClr val="B45309"/>
                </a:solidFill>
                <a:latin typeface="Calibri" pitchFamily="34" charset="0"/>
                <a:ea typeface="Calibri" pitchFamily="34" charset="-122"/>
                <a:cs typeface="Calibri" pitchFamily="34" charset="-120"/>
              </a:rPr>
              <a:t>Supplier Performance</a:t>
            </a:r>
            <a:endParaRPr lang="en-US" sz="1150" dirty="0"/>
          </a:p>
        </p:txBody>
      </p:sp>
      <p:sp>
        <p:nvSpPr>
          <p:cNvPr id="25" name="Text 23"/>
          <p:cNvSpPr/>
          <p:nvPr/>
        </p:nvSpPr>
        <p:spPr>
          <a:xfrm>
            <a:off x="4608576" y="1828800"/>
            <a:ext cx="1993392" cy="475488"/>
          </a:xfrm>
          <a:prstGeom prst="rect">
            <a:avLst/>
          </a:prstGeom>
          <a:noFill/>
          <a:ln/>
        </p:spPr>
        <p:txBody>
          <a:bodyPr wrap="square" lIns="0" tIns="0" rIns="0" bIns="0" rtlCol="0" anchor="ctr"/>
          <a:lstStyle/>
          <a:p>
            <a:pPr marL="0" indent="0" algn="ctr">
              <a:buNone/>
            </a:pPr>
            <a:r>
              <a:rPr lang="en-US" sz="3400" b="1" dirty="0">
                <a:solidFill>
                  <a:srgbClr val="0F172A"/>
                </a:solidFill>
                <a:latin typeface="Calibri" pitchFamily="34" charset="0"/>
                <a:ea typeface="Calibri" pitchFamily="34" charset="-122"/>
                <a:cs typeface="Calibri" pitchFamily="34" charset="-120"/>
              </a:rPr>
              <a:t>60</a:t>
            </a:r>
            <a:endParaRPr lang="en-US" sz="3400" dirty="0"/>
          </a:p>
        </p:txBody>
      </p:sp>
      <p:sp>
        <p:nvSpPr>
          <p:cNvPr id="26" name="Text 24"/>
          <p:cNvSpPr/>
          <p:nvPr/>
        </p:nvSpPr>
        <p:spPr>
          <a:xfrm>
            <a:off x="4608576" y="2267712"/>
            <a:ext cx="1993392" cy="201168"/>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records</a:t>
            </a:r>
            <a:endParaRPr lang="en-US" sz="900" dirty="0"/>
          </a:p>
        </p:txBody>
      </p:sp>
      <p:sp>
        <p:nvSpPr>
          <p:cNvPr id="27" name="Shape 25"/>
          <p:cNvSpPr/>
          <p:nvPr/>
        </p:nvSpPr>
        <p:spPr>
          <a:xfrm>
            <a:off x="4882896" y="2505456"/>
            <a:ext cx="1444752" cy="36576"/>
          </a:xfrm>
          <a:prstGeom prst="rect">
            <a:avLst/>
          </a:prstGeom>
          <a:solidFill>
            <a:srgbClr val="B45309"/>
          </a:solidFill>
          <a:ln w="12700">
            <a:solidFill>
              <a:srgbClr val="B45309"/>
            </a:solidFill>
            <a:prstDash val="solid"/>
          </a:ln>
        </p:spPr>
      </p:sp>
      <p:sp>
        <p:nvSpPr>
          <p:cNvPr id="28" name="Text 26"/>
          <p:cNvSpPr/>
          <p:nvPr/>
        </p:nvSpPr>
        <p:spPr>
          <a:xfrm>
            <a:off x="4700016" y="2596896"/>
            <a:ext cx="1810512" cy="1828800"/>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Monthly KPIs per supplier: on-time rate, defect rate, spend &amp; ratings</a:t>
            </a:r>
            <a:endParaRPr lang="en-US" sz="850" dirty="0"/>
          </a:p>
        </p:txBody>
      </p:sp>
      <p:sp>
        <p:nvSpPr>
          <p:cNvPr id="29" name="Shape 27"/>
          <p:cNvSpPr/>
          <p:nvPr/>
        </p:nvSpPr>
        <p:spPr>
          <a:xfrm>
            <a:off x="6775704" y="1005840"/>
            <a:ext cx="1993392" cy="358444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30" name="Shape 28"/>
          <p:cNvSpPr/>
          <p:nvPr/>
        </p:nvSpPr>
        <p:spPr>
          <a:xfrm>
            <a:off x="6775704" y="1005840"/>
            <a:ext cx="1993392" cy="502920"/>
          </a:xfrm>
          <a:prstGeom prst="rect">
            <a:avLst/>
          </a:prstGeom>
          <a:solidFill>
            <a:srgbClr val="6B21A8"/>
          </a:solidFill>
          <a:ln w="12700">
            <a:solidFill>
              <a:srgbClr val="6B21A8"/>
            </a:solidFill>
            <a:prstDash val="solid"/>
          </a:ln>
        </p:spPr>
      </p:sp>
      <p:sp>
        <p:nvSpPr>
          <p:cNvPr id="31" name="Text 29"/>
          <p:cNvSpPr/>
          <p:nvPr/>
        </p:nvSpPr>
        <p:spPr>
          <a:xfrm>
            <a:off x="6775704" y="1005840"/>
            <a:ext cx="1993392" cy="502920"/>
          </a:xfrm>
          <a:prstGeom prst="rect">
            <a:avLst/>
          </a:prstGeom>
          <a:noFill/>
          <a:ln/>
        </p:spPr>
        <p:txBody>
          <a:bodyPr wrap="square" lIns="0" tIns="0" rIns="0" bIns="0" rtlCol="0" anchor="ctr"/>
          <a:lstStyle/>
          <a:p>
            <a:pPr marL="0" indent="0" algn="ctr">
              <a:buNone/>
            </a:pPr>
            <a:endParaRPr lang="en-US" sz="2200" dirty="0"/>
          </a:p>
        </p:txBody>
      </p:sp>
      <p:sp>
        <p:nvSpPr>
          <p:cNvPr id="32" name="Text 30"/>
          <p:cNvSpPr/>
          <p:nvPr/>
        </p:nvSpPr>
        <p:spPr>
          <a:xfrm>
            <a:off x="6848856" y="1554480"/>
            <a:ext cx="1847088" cy="292608"/>
          </a:xfrm>
          <a:prstGeom prst="rect">
            <a:avLst/>
          </a:prstGeom>
          <a:noFill/>
          <a:ln/>
        </p:spPr>
        <p:txBody>
          <a:bodyPr wrap="square" lIns="0" tIns="0" rIns="0" bIns="0" rtlCol="0" anchor="ctr"/>
          <a:lstStyle/>
          <a:p>
            <a:pPr marL="0" indent="0" algn="ctr">
              <a:buNone/>
            </a:pPr>
            <a:r>
              <a:rPr lang="en-US" sz="1150" b="1" dirty="0">
                <a:solidFill>
                  <a:srgbClr val="6B21A8"/>
                </a:solidFill>
                <a:latin typeface="Calibri" pitchFamily="34" charset="0"/>
                <a:ea typeface="Calibri" pitchFamily="34" charset="-122"/>
                <a:cs typeface="Calibri" pitchFamily="34" charset="-120"/>
              </a:rPr>
              <a:t>Shipments</a:t>
            </a:r>
            <a:endParaRPr lang="en-US" sz="1150" dirty="0"/>
          </a:p>
        </p:txBody>
      </p:sp>
      <p:sp>
        <p:nvSpPr>
          <p:cNvPr id="33" name="Text 31"/>
          <p:cNvSpPr/>
          <p:nvPr/>
        </p:nvSpPr>
        <p:spPr>
          <a:xfrm>
            <a:off x="6775704" y="1828800"/>
            <a:ext cx="1993392" cy="475488"/>
          </a:xfrm>
          <a:prstGeom prst="rect">
            <a:avLst/>
          </a:prstGeom>
          <a:noFill/>
          <a:ln/>
        </p:spPr>
        <p:txBody>
          <a:bodyPr wrap="square" lIns="0" tIns="0" rIns="0" bIns="0" rtlCol="0" anchor="ctr"/>
          <a:lstStyle/>
          <a:p>
            <a:pPr marL="0" indent="0" algn="ctr">
              <a:buNone/>
            </a:pPr>
            <a:r>
              <a:rPr lang="en-US" sz="3400" b="1" dirty="0">
                <a:solidFill>
                  <a:srgbClr val="0F172A"/>
                </a:solidFill>
                <a:latin typeface="Calibri" pitchFamily="34" charset="0"/>
                <a:ea typeface="Calibri" pitchFamily="34" charset="-122"/>
                <a:cs typeface="Calibri" pitchFamily="34" charset="-120"/>
              </a:rPr>
              <a:t>300</a:t>
            </a:r>
            <a:endParaRPr lang="en-US" sz="3400" dirty="0"/>
          </a:p>
        </p:txBody>
      </p:sp>
      <p:sp>
        <p:nvSpPr>
          <p:cNvPr id="34" name="Text 32"/>
          <p:cNvSpPr/>
          <p:nvPr/>
        </p:nvSpPr>
        <p:spPr>
          <a:xfrm>
            <a:off x="6775704" y="2267712"/>
            <a:ext cx="1993392" cy="201168"/>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records</a:t>
            </a:r>
            <a:endParaRPr lang="en-US" sz="900" dirty="0"/>
          </a:p>
        </p:txBody>
      </p:sp>
      <p:sp>
        <p:nvSpPr>
          <p:cNvPr id="35" name="Shape 33"/>
          <p:cNvSpPr/>
          <p:nvPr/>
        </p:nvSpPr>
        <p:spPr>
          <a:xfrm>
            <a:off x="7050024" y="2505456"/>
            <a:ext cx="1444752" cy="36576"/>
          </a:xfrm>
          <a:prstGeom prst="rect">
            <a:avLst/>
          </a:prstGeom>
          <a:solidFill>
            <a:srgbClr val="6B21A8"/>
          </a:solidFill>
          <a:ln w="12700">
            <a:solidFill>
              <a:srgbClr val="6B21A8"/>
            </a:solidFill>
            <a:prstDash val="solid"/>
          </a:ln>
        </p:spPr>
      </p:sp>
      <p:sp>
        <p:nvSpPr>
          <p:cNvPr id="36" name="Text 34"/>
          <p:cNvSpPr/>
          <p:nvPr/>
        </p:nvSpPr>
        <p:spPr>
          <a:xfrm>
            <a:off x="6867144" y="2596896"/>
            <a:ext cx="1810512" cy="1828800"/>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Inter-warehouse shipments with freight cost, transit days &amp; carrier data</a:t>
            </a:r>
            <a:endParaRPr lang="en-US" sz="850" dirty="0"/>
          </a:p>
        </p:txBody>
      </p:sp>
      <p:sp>
        <p:nvSpPr>
          <p:cNvPr id="37" name="Shape 35"/>
          <p:cNvSpPr/>
          <p:nvPr/>
        </p:nvSpPr>
        <p:spPr>
          <a:xfrm>
            <a:off x="274320" y="4617720"/>
            <a:ext cx="8595360" cy="320040"/>
          </a:xfrm>
          <a:prstGeom prst="rect">
            <a:avLst/>
          </a:prstGeom>
          <a:solidFill>
            <a:srgbClr val="F0F7FF"/>
          </a:solidFill>
          <a:ln w="12700">
            <a:solidFill>
              <a:srgbClr val="CBD5E1"/>
            </a:solidFill>
            <a:prstDash val="solid"/>
          </a:ln>
        </p:spPr>
      </p:sp>
      <p:sp>
        <p:nvSpPr>
          <p:cNvPr id="38" name="Text 36"/>
          <p:cNvSpPr/>
          <p:nvPr/>
        </p:nvSpPr>
        <p:spPr>
          <a:xfrm>
            <a:off x="274320" y="4617720"/>
            <a:ext cx="8595360" cy="32004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5 Suppliers  |  5 Warehouses  |  6 Customer Regions  |  10 Product Categories  |  Date Range: Jan 2023 – Dec 2024</a:t>
            </a:r>
            <a:endParaRPr lang="en-US" sz="900" dirty="0"/>
          </a:p>
        </p:txBody>
      </p:sp>
      <p:pic>
        <p:nvPicPr>
          <p:cNvPr id="40" name="Picture 39">
            <a:extLst>
              <a:ext uri="{FF2B5EF4-FFF2-40B4-BE49-F238E27FC236}">
                <a16:creationId xmlns:a16="http://schemas.microsoft.com/office/drawing/2014/main" id="{EE56EA21-A845-E8B5-8A1B-B8FD45B02A7E}"/>
              </a:ext>
            </a:extLst>
          </p:cNvPr>
          <p:cNvPicPr>
            <a:picLocks noChangeAspect="1"/>
          </p:cNvPicPr>
          <p:nvPr/>
        </p:nvPicPr>
        <p:blipFill>
          <a:blip r:embed="rId3"/>
          <a:stretch>
            <a:fillRect/>
          </a:stretch>
        </p:blipFill>
        <p:spPr>
          <a:xfrm>
            <a:off x="3252978" y="1128903"/>
            <a:ext cx="297942" cy="297942"/>
          </a:xfrm>
          <a:prstGeom prst="rect">
            <a:avLst/>
          </a:prstGeom>
        </p:spPr>
      </p:pic>
      <p:pic>
        <p:nvPicPr>
          <p:cNvPr id="42" name="Picture 41">
            <a:extLst>
              <a:ext uri="{FF2B5EF4-FFF2-40B4-BE49-F238E27FC236}">
                <a16:creationId xmlns:a16="http://schemas.microsoft.com/office/drawing/2014/main" id="{850B0612-BFD7-B5C1-C8F0-FB2FC32987A0}"/>
              </a:ext>
            </a:extLst>
          </p:cNvPr>
          <p:cNvPicPr>
            <a:picLocks noChangeAspect="1"/>
          </p:cNvPicPr>
          <p:nvPr/>
        </p:nvPicPr>
        <p:blipFill>
          <a:blip r:embed="rId4"/>
          <a:stretch>
            <a:fillRect/>
          </a:stretch>
        </p:blipFill>
        <p:spPr>
          <a:xfrm>
            <a:off x="5455872" y="1129902"/>
            <a:ext cx="298800" cy="298800"/>
          </a:xfrm>
          <a:prstGeom prst="rect">
            <a:avLst/>
          </a:prstGeom>
        </p:spPr>
      </p:pic>
      <p:pic>
        <p:nvPicPr>
          <p:cNvPr id="44" name="Picture 43">
            <a:extLst>
              <a:ext uri="{FF2B5EF4-FFF2-40B4-BE49-F238E27FC236}">
                <a16:creationId xmlns:a16="http://schemas.microsoft.com/office/drawing/2014/main" id="{F6DB4F26-3C16-F843-CE9E-5CD059440D11}"/>
              </a:ext>
            </a:extLst>
          </p:cNvPr>
          <p:cNvPicPr>
            <a:picLocks noChangeAspect="1"/>
          </p:cNvPicPr>
          <p:nvPr/>
        </p:nvPicPr>
        <p:blipFill>
          <a:blip r:embed="rId5"/>
          <a:stretch>
            <a:fillRect/>
          </a:stretch>
        </p:blipFill>
        <p:spPr>
          <a:xfrm>
            <a:off x="7554396" y="1059870"/>
            <a:ext cx="396000" cy="3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Tools &amp; Technologies Used</a:t>
            </a:r>
            <a:endParaRPr lang="en-US" sz="1700" dirty="0"/>
          </a:p>
        </p:txBody>
      </p:sp>
      <p:sp>
        <p:nvSpPr>
          <p:cNvPr id="5" name="Shape 3"/>
          <p:cNvSpPr/>
          <p:nvPr/>
        </p:nvSpPr>
        <p:spPr>
          <a:xfrm>
            <a:off x="256032" y="1005840"/>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6" name="Shape 4"/>
          <p:cNvSpPr/>
          <p:nvPr/>
        </p:nvSpPr>
        <p:spPr>
          <a:xfrm>
            <a:off x="256032" y="1005840"/>
            <a:ext cx="2761488" cy="73152"/>
          </a:xfrm>
          <a:prstGeom prst="rect">
            <a:avLst/>
          </a:prstGeom>
          <a:solidFill>
            <a:srgbClr val="1F4E79"/>
          </a:solidFill>
          <a:ln w="12700">
            <a:solidFill>
              <a:srgbClr val="1F4E79"/>
            </a:solidFill>
            <a:prstDash val="solid"/>
          </a:ln>
        </p:spPr>
      </p:sp>
      <p:sp>
        <p:nvSpPr>
          <p:cNvPr id="7" name="Text 5"/>
          <p:cNvSpPr/>
          <p:nvPr/>
        </p:nvSpPr>
        <p:spPr>
          <a:xfrm>
            <a:off x="256032" y="1097280"/>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347472" y="1536192"/>
            <a:ext cx="2578608" cy="256032"/>
          </a:xfrm>
          <a:prstGeom prst="rect">
            <a:avLst/>
          </a:prstGeom>
          <a:noFill/>
          <a:ln/>
        </p:spPr>
        <p:txBody>
          <a:bodyPr wrap="square" lIns="0" tIns="0" rIns="0" bIns="0"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Power BI Desktop</a:t>
            </a:r>
            <a:endParaRPr lang="en-US" sz="1100" dirty="0"/>
          </a:p>
        </p:txBody>
      </p:sp>
      <p:sp>
        <p:nvSpPr>
          <p:cNvPr id="9" name="Text 7"/>
          <p:cNvSpPr/>
          <p:nvPr/>
        </p:nvSpPr>
        <p:spPr>
          <a:xfrm>
            <a:off x="347472" y="1773936"/>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Dashboard &amp; Visualisation</a:t>
            </a:r>
            <a:endParaRPr lang="en-US" sz="850" dirty="0"/>
          </a:p>
        </p:txBody>
      </p:sp>
      <p:sp>
        <p:nvSpPr>
          <p:cNvPr id="10" name="Shape 8"/>
          <p:cNvSpPr/>
          <p:nvPr/>
        </p:nvSpPr>
        <p:spPr>
          <a:xfrm>
            <a:off x="621792" y="2011680"/>
            <a:ext cx="2029968" cy="27432"/>
          </a:xfrm>
          <a:prstGeom prst="rect">
            <a:avLst/>
          </a:prstGeom>
          <a:solidFill>
            <a:srgbClr val="CBD5E1"/>
          </a:solidFill>
          <a:ln w="12700">
            <a:solidFill>
              <a:srgbClr val="CBD5E1"/>
            </a:solidFill>
            <a:prstDash val="solid"/>
          </a:ln>
        </p:spPr>
      </p:sp>
      <p:sp>
        <p:nvSpPr>
          <p:cNvPr id="11" name="Text 9"/>
          <p:cNvSpPr/>
          <p:nvPr/>
        </p:nvSpPr>
        <p:spPr>
          <a:xfrm>
            <a:off x="347472" y="2084832"/>
            <a:ext cx="2578608" cy="621792"/>
          </a:xfrm>
          <a:prstGeom prst="rect">
            <a:avLst/>
          </a:prstGeom>
          <a:noFill/>
          <a:ln/>
        </p:spPr>
        <p:txBody>
          <a:bodyPr wrap="square" lIns="0" tIns="0" rIns="0" bIns="0" rtlCol="0" anchor="t"/>
          <a:lstStyle/>
          <a:p>
            <a:pPr marL="0" indent="0" algn="ctr">
              <a:buNone/>
            </a:pPr>
            <a:r>
              <a:rPr lang="en-US" sz="800" dirty="0">
                <a:solidFill>
                  <a:srgbClr val="334155"/>
                </a:solidFill>
                <a:latin typeface="Calibri" pitchFamily="34" charset="0"/>
                <a:ea typeface="Calibri" pitchFamily="34" charset="-122"/>
                <a:cs typeface="Calibri" pitchFamily="34" charset="-120"/>
              </a:rPr>
              <a:t>5 dashboard pages · 30+ visuals · Slicers · Buttons </a:t>
            </a:r>
            <a:endParaRPr lang="en-US" sz="800" dirty="0"/>
          </a:p>
        </p:txBody>
      </p:sp>
      <p:sp>
        <p:nvSpPr>
          <p:cNvPr id="12" name="Shape 10"/>
          <p:cNvSpPr/>
          <p:nvPr/>
        </p:nvSpPr>
        <p:spPr>
          <a:xfrm>
            <a:off x="3200400" y="1005840"/>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3" name="Shape 11"/>
          <p:cNvSpPr/>
          <p:nvPr/>
        </p:nvSpPr>
        <p:spPr>
          <a:xfrm>
            <a:off x="3200400" y="1005840"/>
            <a:ext cx="2761488" cy="73152"/>
          </a:xfrm>
          <a:prstGeom prst="rect">
            <a:avLst/>
          </a:prstGeom>
          <a:solidFill>
            <a:srgbClr val="0E7490"/>
          </a:solidFill>
          <a:ln w="12700">
            <a:solidFill>
              <a:srgbClr val="0E7490"/>
            </a:solidFill>
            <a:prstDash val="solid"/>
          </a:ln>
        </p:spPr>
      </p:sp>
      <p:sp>
        <p:nvSpPr>
          <p:cNvPr id="14" name="Text 12"/>
          <p:cNvSpPr/>
          <p:nvPr/>
        </p:nvSpPr>
        <p:spPr>
          <a:xfrm>
            <a:off x="3200400" y="1097280"/>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3291840" y="1536192"/>
            <a:ext cx="2578608" cy="256032"/>
          </a:xfrm>
          <a:prstGeom prst="rect">
            <a:avLst/>
          </a:prstGeom>
          <a:noFill/>
          <a:ln/>
        </p:spPr>
        <p:txBody>
          <a:bodyPr wrap="square" lIns="0" tIns="0" rIns="0" bIns="0" rtlCol="0" anchor="ctr"/>
          <a:lstStyle/>
          <a:p>
            <a:pPr marL="0" indent="0" algn="ctr">
              <a:buNone/>
            </a:pPr>
            <a:r>
              <a:rPr lang="en-US" sz="1100" b="1" dirty="0">
                <a:solidFill>
                  <a:srgbClr val="0E7490"/>
                </a:solidFill>
                <a:latin typeface="Calibri" pitchFamily="34" charset="0"/>
                <a:ea typeface="Calibri" pitchFamily="34" charset="-122"/>
                <a:cs typeface="Calibri" pitchFamily="34" charset="-120"/>
              </a:rPr>
              <a:t>Power Query (M)</a:t>
            </a:r>
            <a:endParaRPr lang="en-US" sz="1100" dirty="0"/>
          </a:p>
        </p:txBody>
      </p:sp>
      <p:sp>
        <p:nvSpPr>
          <p:cNvPr id="16" name="Text 14"/>
          <p:cNvSpPr/>
          <p:nvPr/>
        </p:nvSpPr>
        <p:spPr>
          <a:xfrm>
            <a:off x="3291840" y="1773936"/>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Data Transformation </a:t>
            </a:r>
            <a:endParaRPr lang="en-US" sz="850" dirty="0"/>
          </a:p>
        </p:txBody>
      </p:sp>
      <p:sp>
        <p:nvSpPr>
          <p:cNvPr id="17" name="Shape 15"/>
          <p:cNvSpPr/>
          <p:nvPr/>
        </p:nvSpPr>
        <p:spPr>
          <a:xfrm>
            <a:off x="3566160" y="2011680"/>
            <a:ext cx="2029968" cy="27432"/>
          </a:xfrm>
          <a:prstGeom prst="rect">
            <a:avLst/>
          </a:prstGeom>
          <a:solidFill>
            <a:srgbClr val="CBD5E1"/>
          </a:solidFill>
          <a:ln w="12700">
            <a:solidFill>
              <a:srgbClr val="CBD5E1"/>
            </a:solidFill>
            <a:prstDash val="solid"/>
          </a:ln>
        </p:spPr>
      </p:sp>
      <p:sp>
        <p:nvSpPr>
          <p:cNvPr id="18" name="Text 16"/>
          <p:cNvSpPr/>
          <p:nvPr/>
        </p:nvSpPr>
        <p:spPr>
          <a:xfrm>
            <a:off x="3291840" y="2084832"/>
            <a:ext cx="2578608" cy="621792"/>
          </a:xfrm>
          <a:prstGeom prst="rect">
            <a:avLst/>
          </a:prstGeom>
          <a:noFill/>
          <a:ln/>
        </p:spPr>
        <p:txBody>
          <a:bodyPr wrap="square" lIns="0" tIns="0" rIns="0" bIns="0" rtlCol="0" anchor="t"/>
          <a:lstStyle/>
          <a:p>
            <a:pPr marL="0" indent="0" algn="ctr">
              <a:buNone/>
            </a:pPr>
            <a:r>
              <a:rPr lang="en-US" sz="800" dirty="0">
                <a:solidFill>
                  <a:srgbClr val="334155"/>
                </a:solidFill>
                <a:latin typeface="Calibri" pitchFamily="34" charset="0"/>
                <a:ea typeface="Calibri" pitchFamily="34" charset="-122"/>
                <a:cs typeface="Calibri" pitchFamily="34" charset="-120"/>
              </a:rPr>
              <a:t>Loaded 4 Excel sheets · Fixed data types · Extract month  using M language</a:t>
            </a:r>
            <a:endParaRPr lang="en-US" sz="800" dirty="0"/>
          </a:p>
        </p:txBody>
      </p:sp>
      <p:sp>
        <p:nvSpPr>
          <p:cNvPr id="19" name="Shape 17"/>
          <p:cNvSpPr/>
          <p:nvPr/>
        </p:nvSpPr>
        <p:spPr>
          <a:xfrm>
            <a:off x="6144768" y="1005840"/>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20" name="Shape 18"/>
          <p:cNvSpPr/>
          <p:nvPr/>
        </p:nvSpPr>
        <p:spPr>
          <a:xfrm>
            <a:off x="6144768" y="1005840"/>
            <a:ext cx="2761488" cy="73152"/>
          </a:xfrm>
          <a:prstGeom prst="rect">
            <a:avLst/>
          </a:prstGeom>
          <a:solidFill>
            <a:srgbClr val="6B21A8"/>
          </a:solidFill>
          <a:ln w="12700">
            <a:solidFill>
              <a:srgbClr val="6B21A8"/>
            </a:solidFill>
            <a:prstDash val="solid"/>
          </a:ln>
        </p:spPr>
      </p:sp>
      <p:sp>
        <p:nvSpPr>
          <p:cNvPr id="21" name="Text 19"/>
          <p:cNvSpPr/>
          <p:nvPr/>
        </p:nvSpPr>
        <p:spPr>
          <a:xfrm>
            <a:off x="6144768" y="1097280"/>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6236208" y="1536192"/>
            <a:ext cx="2578608" cy="256032"/>
          </a:xfrm>
          <a:prstGeom prst="rect">
            <a:avLst/>
          </a:prstGeom>
          <a:noFill/>
          <a:ln/>
        </p:spPr>
        <p:txBody>
          <a:bodyPr wrap="square" lIns="0" tIns="0" rIns="0" bIns="0" rtlCol="0" anchor="ctr"/>
          <a:lstStyle/>
          <a:p>
            <a:pPr marL="0" indent="0" algn="ctr">
              <a:buNone/>
            </a:pPr>
            <a:r>
              <a:rPr lang="en-US" sz="1100" b="1" dirty="0">
                <a:solidFill>
                  <a:srgbClr val="6B21A8"/>
                </a:solidFill>
                <a:latin typeface="Calibri" pitchFamily="34" charset="0"/>
                <a:ea typeface="Calibri" pitchFamily="34" charset="-122"/>
                <a:cs typeface="Calibri" pitchFamily="34" charset="-120"/>
              </a:rPr>
              <a:t>DAX Language</a:t>
            </a:r>
            <a:endParaRPr lang="en-US" sz="1100" dirty="0"/>
          </a:p>
        </p:txBody>
      </p:sp>
      <p:sp>
        <p:nvSpPr>
          <p:cNvPr id="23" name="Text 21"/>
          <p:cNvSpPr/>
          <p:nvPr/>
        </p:nvSpPr>
        <p:spPr>
          <a:xfrm>
            <a:off x="6236208" y="1773936"/>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KPI Measures &amp; Calculations</a:t>
            </a:r>
            <a:endParaRPr lang="en-US" sz="850" dirty="0"/>
          </a:p>
        </p:txBody>
      </p:sp>
      <p:sp>
        <p:nvSpPr>
          <p:cNvPr id="24" name="Shape 22"/>
          <p:cNvSpPr/>
          <p:nvPr/>
        </p:nvSpPr>
        <p:spPr>
          <a:xfrm>
            <a:off x="6510528" y="2011680"/>
            <a:ext cx="2029968" cy="27432"/>
          </a:xfrm>
          <a:prstGeom prst="rect">
            <a:avLst/>
          </a:prstGeom>
          <a:solidFill>
            <a:srgbClr val="CBD5E1"/>
          </a:solidFill>
          <a:ln w="12700">
            <a:solidFill>
              <a:srgbClr val="CBD5E1"/>
            </a:solidFill>
            <a:prstDash val="solid"/>
          </a:ln>
        </p:spPr>
      </p:sp>
      <p:sp>
        <p:nvSpPr>
          <p:cNvPr id="25" name="Text 23"/>
          <p:cNvSpPr/>
          <p:nvPr/>
        </p:nvSpPr>
        <p:spPr>
          <a:xfrm>
            <a:off x="6236208" y="2084832"/>
            <a:ext cx="2578608" cy="621792"/>
          </a:xfrm>
          <a:prstGeom prst="rect">
            <a:avLst/>
          </a:prstGeom>
          <a:noFill/>
          <a:ln/>
        </p:spPr>
        <p:txBody>
          <a:bodyPr wrap="square" lIns="0" tIns="0" rIns="0" bIns="0" rtlCol="0" anchor="t"/>
          <a:lstStyle/>
          <a:p>
            <a:pPr marL="0" indent="0" algn="ctr">
              <a:buNone/>
            </a:pPr>
            <a:r>
              <a:rPr lang="en-US" sz="800" dirty="0">
                <a:solidFill>
                  <a:srgbClr val="334155"/>
                </a:solidFill>
                <a:latin typeface="Calibri" pitchFamily="34" charset="0"/>
                <a:ea typeface="Calibri" pitchFamily="34" charset="-122"/>
                <a:cs typeface="Calibri" pitchFamily="34" charset="-120"/>
              </a:rPr>
              <a:t> measures: OTDR, Revenue, Cancelled Rate, Freight/KG, Defect Rate, Lead Time etc..</a:t>
            </a:r>
            <a:endParaRPr lang="en-US" sz="800" dirty="0"/>
          </a:p>
        </p:txBody>
      </p:sp>
      <p:sp>
        <p:nvSpPr>
          <p:cNvPr id="26" name="Shape 24"/>
          <p:cNvSpPr/>
          <p:nvPr/>
        </p:nvSpPr>
        <p:spPr>
          <a:xfrm>
            <a:off x="256032" y="2944368"/>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27" name="Shape 25"/>
          <p:cNvSpPr/>
          <p:nvPr/>
        </p:nvSpPr>
        <p:spPr>
          <a:xfrm>
            <a:off x="256032" y="2944368"/>
            <a:ext cx="2761488" cy="73152"/>
          </a:xfrm>
          <a:prstGeom prst="rect">
            <a:avLst/>
          </a:prstGeom>
          <a:solidFill>
            <a:srgbClr val="166534"/>
          </a:solidFill>
          <a:ln w="12700">
            <a:solidFill>
              <a:srgbClr val="166534"/>
            </a:solidFill>
            <a:prstDash val="solid"/>
          </a:ln>
        </p:spPr>
      </p:sp>
      <p:sp>
        <p:nvSpPr>
          <p:cNvPr id="28" name="Text 26"/>
          <p:cNvSpPr/>
          <p:nvPr/>
        </p:nvSpPr>
        <p:spPr>
          <a:xfrm>
            <a:off x="256032" y="3035808"/>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9" name="Text 27"/>
          <p:cNvSpPr/>
          <p:nvPr/>
        </p:nvSpPr>
        <p:spPr>
          <a:xfrm>
            <a:off x="347472" y="3474720"/>
            <a:ext cx="2578608" cy="256032"/>
          </a:xfrm>
          <a:prstGeom prst="rect">
            <a:avLst/>
          </a:prstGeom>
          <a:noFill/>
          <a:ln/>
        </p:spPr>
        <p:txBody>
          <a:bodyPr wrap="square" lIns="0" tIns="0" rIns="0" bIns="0" rtlCol="0" anchor="ctr"/>
          <a:lstStyle/>
          <a:p>
            <a:pPr marL="0" indent="0" algn="ctr">
              <a:buNone/>
            </a:pPr>
            <a:r>
              <a:rPr lang="en-US" sz="1100" b="1" dirty="0">
                <a:solidFill>
                  <a:srgbClr val="166534"/>
                </a:solidFill>
                <a:latin typeface="Calibri" pitchFamily="34" charset="0"/>
                <a:ea typeface="Calibri" pitchFamily="34" charset="-122"/>
                <a:cs typeface="Calibri" pitchFamily="34" charset="-120"/>
              </a:rPr>
              <a:t>Microsoft Excel</a:t>
            </a:r>
            <a:endParaRPr lang="en-US" sz="1100" dirty="0"/>
          </a:p>
        </p:txBody>
      </p:sp>
      <p:sp>
        <p:nvSpPr>
          <p:cNvPr id="30" name="Text 28"/>
          <p:cNvSpPr/>
          <p:nvPr/>
        </p:nvSpPr>
        <p:spPr>
          <a:xfrm>
            <a:off x="347472" y="3712464"/>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Data Source (4 sheets)</a:t>
            </a:r>
            <a:endParaRPr lang="en-US" sz="850" dirty="0"/>
          </a:p>
        </p:txBody>
      </p:sp>
      <p:sp>
        <p:nvSpPr>
          <p:cNvPr id="31" name="Shape 29"/>
          <p:cNvSpPr/>
          <p:nvPr/>
        </p:nvSpPr>
        <p:spPr>
          <a:xfrm>
            <a:off x="621792" y="3950208"/>
            <a:ext cx="2029968" cy="27432"/>
          </a:xfrm>
          <a:prstGeom prst="rect">
            <a:avLst/>
          </a:prstGeom>
          <a:solidFill>
            <a:srgbClr val="CBD5E1"/>
          </a:solidFill>
          <a:ln w="12700">
            <a:solidFill>
              <a:srgbClr val="CBD5E1"/>
            </a:solidFill>
            <a:prstDash val="solid"/>
          </a:ln>
        </p:spPr>
      </p:sp>
      <p:sp>
        <p:nvSpPr>
          <p:cNvPr id="32" name="Text 30"/>
          <p:cNvSpPr/>
          <p:nvPr/>
        </p:nvSpPr>
        <p:spPr>
          <a:xfrm>
            <a:off x="347472" y="4023360"/>
            <a:ext cx="2578608" cy="621792"/>
          </a:xfrm>
          <a:prstGeom prst="rect">
            <a:avLst/>
          </a:prstGeom>
          <a:noFill/>
          <a:ln/>
        </p:spPr>
        <p:txBody>
          <a:bodyPr wrap="square" lIns="0" tIns="0" rIns="0" bIns="0" rtlCol="0" anchor="t"/>
          <a:lstStyle/>
          <a:p>
            <a:pPr marL="0" indent="0" algn="ctr">
              <a:buNone/>
            </a:pPr>
            <a:r>
              <a:rPr lang="en-US" sz="800" dirty="0">
                <a:solidFill>
                  <a:srgbClr val="334155"/>
                </a:solidFill>
                <a:latin typeface="Calibri" pitchFamily="34" charset="0"/>
                <a:ea typeface="Calibri" pitchFamily="34" charset="-122"/>
                <a:cs typeface="Calibri" pitchFamily="34" charset="-120"/>
              </a:rPr>
              <a:t>Orders (500) · Inventory (50) · Supplier Performance (60) · Shipments (300)</a:t>
            </a:r>
            <a:endParaRPr lang="en-US" sz="800" dirty="0"/>
          </a:p>
        </p:txBody>
      </p:sp>
      <p:sp>
        <p:nvSpPr>
          <p:cNvPr id="33" name="Shape 31"/>
          <p:cNvSpPr/>
          <p:nvPr/>
        </p:nvSpPr>
        <p:spPr>
          <a:xfrm>
            <a:off x="3200400" y="2944368"/>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34" name="Shape 32"/>
          <p:cNvSpPr/>
          <p:nvPr/>
        </p:nvSpPr>
        <p:spPr>
          <a:xfrm>
            <a:off x="3200400" y="2944368"/>
            <a:ext cx="2761488" cy="73152"/>
          </a:xfrm>
          <a:prstGeom prst="rect">
            <a:avLst/>
          </a:prstGeom>
          <a:solidFill>
            <a:srgbClr val="C2410C"/>
          </a:solidFill>
          <a:ln w="12700">
            <a:solidFill>
              <a:srgbClr val="C2410C"/>
            </a:solidFill>
            <a:prstDash val="solid"/>
          </a:ln>
        </p:spPr>
      </p:sp>
      <p:sp>
        <p:nvSpPr>
          <p:cNvPr id="35" name="Text 33"/>
          <p:cNvSpPr/>
          <p:nvPr/>
        </p:nvSpPr>
        <p:spPr>
          <a:xfrm>
            <a:off x="3200400" y="3035808"/>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6" name="Text 34"/>
          <p:cNvSpPr/>
          <p:nvPr/>
        </p:nvSpPr>
        <p:spPr>
          <a:xfrm>
            <a:off x="3291840" y="3474720"/>
            <a:ext cx="2578608" cy="256032"/>
          </a:xfrm>
          <a:prstGeom prst="rect">
            <a:avLst/>
          </a:prstGeom>
          <a:noFill/>
          <a:ln/>
        </p:spPr>
        <p:txBody>
          <a:bodyPr wrap="square" lIns="0" tIns="0" rIns="0" bIns="0" rtlCol="0" anchor="ctr"/>
          <a:lstStyle/>
          <a:p>
            <a:pPr marL="0" indent="0" algn="ctr">
              <a:buNone/>
            </a:pPr>
            <a:r>
              <a:rPr lang="en-US" sz="1100" b="1" dirty="0">
                <a:solidFill>
                  <a:srgbClr val="C2410C"/>
                </a:solidFill>
                <a:latin typeface="Calibri" pitchFamily="34" charset="0"/>
                <a:ea typeface="Calibri" pitchFamily="34" charset="-122"/>
                <a:cs typeface="Calibri" pitchFamily="34" charset="-120"/>
              </a:rPr>
              <a:t>Star Schema</a:t>
            </a:r>
            <a:endParaRPr lang="en-US" sz="1100" dirty="0"/>
          </a:p>
        </p:txBody>
      </p:sp>
      <p:sp>
        <p:nvSpPr>
          <p:cNvPr id="37" name="Text 35"/>
          <p:cNvSpPr/>
          <p:nvPr/>
        </p:nvSpPr>
        <p:spPr>
          <a:xfrm>
            <a:off x="3291840" y="3712464"/>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Data Modelling</a:t>
            </a:r>
            <a:endParaRPr lang="en-US" sz="850" dirty="0"/>
          </a:p>
        </p:txBody>
      </p:sp>
      <p:sp>
        <p:nvSpPr>
          <p:cNvPr id="38" name="Shape 36"/>
          <p:cNvSpPr/>
          <p:nvPr/>
        </p:nvSpPr>
        <p:spPr>
          <a:xfrm>
            <a:off x="3566160" y="3950208"/>
            <a:ext cx="2029968" cy="27432"/>
          </a:xfrm>
          <a:prstGeom prst="rect">
            <a:avLst/>
          </a:prstGeom>
          <a:solidFill>
            <a:srgbClr val="CBD5E1"/>
          </a:solidFill>
          <a:ln w="12700">
            <a:solidFill>
              <a:srgbClr val="CBD5E1"/>
            </a:solidFill>
            <a:prstDash val="solid"/>
          </a:ln>
        </p:spPr>
      </p:sp>
      <p:sp>
        <p:nvSpPr>
          <p:cNvPr id="39" name="Text 37"/>
          <p:cNvSpPr/>
          <p:nvPr/>
        </p:nvSpPr>
        <p:spPr>
          <a:xfrm>
            <a:off x="3291840" y="4023360"/>
            <a:ext cx="2578608" cy="621792"/>
          </a:xfrm>
          <a:prstGeom prst="rect">
            <a:avLst/>
          </a:prstGeom>
          <a:noFill/>
          <a:ln/>
        </p:spPr>
        <p:txBody>
          <a:bodyPr wrap="square" lIns="0" tIns="0" rIns="0" bIns="0" rtlCol="0" anchor="t"/>
          <a:lstStyle/>
          <a:p>
            <a:pPr marL="0" indent="0" algn="ctr">
              <a:buNone/>
            </a:pPr>
            <a:r>
              <a:rPr lang="en-US" sz="800" dirty="0">
                <a:solidFill>
                  <a:srgbClr val="334155"/>
                </a:solidFill>
                <a:latin typeface="Calibri" pitchFamily="34" charset="0"/>
                <a:ea typeface="Calibri" pitchFamily="34" charset="-122"/>
                <a:cs typeface="Calibri" pitchFamily="34" charset="-120"/>
              </a:rPr>
              <a:t>4-table relationships  </a:t>
            </a:r>
            <a:endParaRPr lang="en-US" sz="800" dirty="0"/>
          </a:p>
        </p:txBody>
      </p:sp>
      <p:sp>
        <p:nvSpPr>
          <p:cNvPr id="40" name="Shape 38"/>
          <p:cNvSpPr/>
          <p:nvPr/>
        </p:nvSpPr>
        <p:spPr>
          <a:xfrm>
            <a:off x="6144768" y="2944368"/>
            <a:ext cx="2761488" cy="17830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41" name="Shape 39"/>
          <p:cNvSpPr/>
          <p:nvPr/>
        </p:nvSpPr>
        <p:spPr>
          <a:xfrm>
            <a:off x="6144768" y="2944368"/>
            <a:ext cx="2761488" cy="73152"/>
          </a:xfrm>
          <a:prstGeom prst="rect">
            <a:avLst/>
          </a:prstGeom>
          <a:solidFill>
            <a:srgbClr val="B45309"/>
          </a:solidFill>
          <a:ln w="12700">
            <a:solidFill>
              <a:srgbClr val="B45309"/>
            </a:solidFill>
            <a:prstDash val="solid"/>
          </a:ln>
        </p:spPr>
      </p:sp>
      <p:sp>
        <p:nvSpPr>
          <p:cNvPr id="42" name="Text 40"/>
          <p:cNvSpPr/>
          <p:nvPr/>
        </p:nvSpPr>
        <p:spPr>
          <a:xfrm>
            <a:off x="6144768" y="3035808"/>
            <a:ext cx="2761488" cy="45720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43" name="Text 41"/>
          <p:cNvSpPr/>
          <p:nvPr/>
        </p:nvSpPr>
        <p:spPr>
          <a:xfrm>
            <a:off x="6236208" y="3474720"/>
            <a:ext cx="2578608" cy="256032"/>
          </a:xfrm>
          <a:prstGeom prst="rect">
            <a:avLst/>
          </a:prstGeom>
          <a:noFill/>
          <a:ln/>
        </p:spPr>
        <p:txBody>
          <a:bodyPr wrap="square" lIns="0" tIns="0" rIns="0" bIns="0" rtlCol="0" anchor="ctr"/>
          <a:lstStyle/>
          <a:p>
            <a:pPr marL="0" indent="0" algn="ctr">
              <a:buNone/>
            </a:pPr>
            <a:r>
              <a:rPr lang="en-US" sz="1100" b="1" dirty="0">
                <a:solidFill>
                  <a:srgbClr val="B45309"/>
                </a:solidFill>
                <a:latin typeface="Calibri" pitchFamily="34" charset="0"/>
                <a:ea typeface="Calibri" pitchFamily="34" charset="-122"/>
                <a:cs typeface="Calibri" pitchFamily="34" charset="-120"/>
              </a:rPr>
              <a:t>SQL </a:t>
            </a:r>
            <a:endParaRPr lang="en-US" sz="1100" dirty="0"/>
          </a:p>
        </p:txBody>
      </p:sp>
      <p:sp>
        <p:nvSpPr>
          <p:cNvPr id="44" name="Text 42"/>
          <p:cNvSpPr/>
          <p:nvPr/>
        </p:nvSpPr>
        <p:spPr>
          <a:xfrm>
            <a:off x="6236208" y="3712464"/>
            <a:ext cx="2578608" cy="201168"/>
          </a:xfrm>
          <a:prstGeom prst="rect">
            <a:avLst/>
          </a:prstGeom>
          <a:noFill/>
          <a:ln/>
        </p:spPr>
        <p:txBody>
          <a:bodyPr wrap="square" lIns="0" tIns="0" rIns="0" bIns="0" rtlCol="0" anchor="ctr"/>
          <a:lstStyle/>
          <a:p>
            <a:pPr marL="0" indent="0" algn="ctr">
              <a:buNone/>
            </a:pPr>
            <a:r>
              <a:rPr lang="en-US" sz="850" b="1" dirty="0">
                <a:solidFill>
                  <a:srgbClr val="475569"/>
                </a:solidFill>
                <a:latin typeface="Calibri" pitchFamily="34" charset="0"/>
                <a:ea typeface="Calibri" pitchFamily="34" charset="-122"/>
                <a:cs typeface="Calibri" pitchFamily="34" charset="-120"/>
              </a:rPr>
              <a:t>Analysis</a:t>
            </a:r>
            <a:endParaRPr lang="en-US" sz="850" dirty="0"/>
          </a:p>
        </p:txBody>
      </p:sp>
      <p:sp>
        <p:nvSpPr>
          <p:cNvPr id="45" name="Shape 43"/>
          <p:cNvSpPr/>
          <p:nvPr/>
        </p:nvSpPr>
        <p:spPr>
          <a:xfrm>
            <a:off x="6510528" y="3950208"/>
            <a:ext cx="2029968" cy="27432"/>
          </a:xfrm>
          <a:prstGeom prst="rect">
            <a:avLst/>
          </a:prstGeom>
          <a:solidFill>
            <a:srgbClr val="CBD5E1"/>
          </a:solidFill>
          <a:ln w="12700">
            <a:solidFill>
              <a:srgbClr val="CBD5E1"/>
            </a:solidFill>
            <a:prstDash val="solid"/>
          </a:ln>
        </p:spPr>
      </p:sp>
      <p:sp>
        <p:nvSpPr>
          <p:cNvPr id="46" name="Text 44"/>
          <p:cNvSpPr/>
          <p:nvPr/>
        </p:nvSpPr>
        <p:spPr>
          <a:xfrm>
            <a:off x="6236208" y="4023360"/>
            <a:ext cx="2578608" cy="621792"/>
          </a:xfrm>
          <a:prstGeom prst="rect">
            <a:avLst/>
          </a:prstGeom>
          <a:noFill/>
          <a:ln/>
        </p:spPr>
        <p:txBody>
          <a:bodyPr wrap="square" lIns="0" tIns="0" rIns="0" bIns="0" rtlCol="0" anchor="t"/>
          <a:lstStyle/>
          <a:p>
            <a:pPr algn="ctr"/>
            <a:r>
              <a:rPr lang="en-US" sz="800" dirty="0">
                <a:solidFill>
                  <a:srgbClr val="334155"/>
                </a:solidFill>
                <a:latin typeface="Calibri" pitchFamily="34" charset="0"/>
                <a:ea typeface="Calibri" pitchFamily="34" charset="-122"/>
                <a:cs typeface="Calibri" pitchFamily="34" charset="-120"/>
              </a:rPr>
              <a:t> Fixed Data Types · Transform ·  Extract the Insights from the Data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Key KPIs</a:t>
            </a:r>
            <a:endParaRPr lang="en-US" sz="1700" dirty="0"/>
          </a:p>
        </p:txBody>
      </p:sp>
      <p:sp>
        <p:nvSpPr>
          <p:cNvPr id="6" name="Shape 4"/>
          <p:cNvSpPr/>
          <p:nvPr/>
        </p:nvSpPr>
        <p:spPr>
          <a:xfrm>
            <a:off x="201168" y="1002792"/>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7" name="Shape 5"/>
          <p:cNvSpPr/>
          <p:nvPr/>
        </p:nvSpPr>
        <p:spPr>
          <a:xfrm>
            <a:off x="201168" y="1002792"/>
            <a:ext cx="1591056" cy="64008"/>
          </a:xfrm>
          <a:prstGeom prst="rect">
            <a:avLst/>
          </a:prstGeom>
          <a:solidFill>
            <a:srgbClr val="1F4E79"/>
          </a:solidFill>
          <a:ln w="12700">
            <a:solidFill>
              <a:srgbClr val="1F4E79"/>
            </a:solidFill>
            <a:prstDash val="solid"/>
          </a:ln>
        </p:spPr>
      </p:sp>
      <p:sp>
        <p:nvSpPr>
          <p:cNvPr id="8" name="Text 6"/>
          <p:cNvSpPr/>
          <p:nvPr/>
        </p:nvSpPr>
        <p:spPr>
          <a:xfrm>
            <a:off x="201168" y="1094232"/>
            <a:ext cx="1591056" cy="566928"/>
          </a:xfrm>
          <a:prstGeom prst="rect">
            <a:avLst/>
          </a:prstGeom>
          <a:noFill/>
          <a:ln/>
        </p:spPr>
        <p:txBody>
          <a:bodyPr wrap="square" lIns="0" tIns="0" rIns="0" bIns="0"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3.88M</a:t>
            </a:r>
            <a:endParaRPr lang="en-US" sz="2600" dirty="0"/>
          </a:p>
        </p:txBody>
      </p:sp>
      <p:sp>
        <p:nvSpPr>
          <p:cNvPr id="9" name="Text 7"/>
          <p:cNvSpPr/>
          <p:nvPr/>
        </p:nvSpPr>
        <p:spPr>
          <a:xfrm>
            <a:off x="201168" y="1615074"/>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Total Revenue</a:t>
            </a:r>
            <a:endParaRPr lang="en-US" sz="900" dirty="0"/>
          </a:p>
        </p:txBody>
      </p:sp>
      <p:sp>
        <p:nvSpPr>
          <p:cNvPr id="10" name="Text 8"/>
          <p:cNvSpPr/>
          <p:nvPr/>
        </p:nvSpPr>
        <p:spPr>
          <a:xfrm>
            <a:off x="201168" y="1909877"/>
            <a:ext cx="1591056" cy="204094"/>
          </a:xfrm>
          <a:prstGeom prst="rect">
            <a:avLst/>
          </a:prstGeom>
          <a:noFill/>
          <a:ln/>
        </p:spPr>
        <p:txBody>
          <a:bodyPr wrap="square" lIns="0" tIns="0" rIns="0" bIns="0" rtlCol="0" anchor="ctr"/>
          <a:lstStyle/>
          <a:p>
            <a:pPr marL="0" indent="0" algn="ctr">
              <a:buNone/>
            </a:pPr>
            <a:r>
              <a:rPr lang="en-US" sz="750" dirty="0"/>
              <a:t>2023 – 2024 both</a:t>
            </a:r>
          </a:p>
        </p:txBody>
      </p:sp>
      <p:sp>
        <p:nvSpPr>
          <p:cNvPr id="11" name="Shape 9"/>
          <p:cNvSpPr/>
          <p:nvPr/>
        </p:nvSpPr>
        <p:spPr>
          <a:xfrm>
            <a:off x="1965960" y="1002792"/>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12" name="Shape 10"/>
          <p:cNvSpPr/>
          <p:nvPr/>
        </p:nvSpPr>
        <p:spPr>
          <a:xfrm>
            <a:off x="1965960" y="1002792"/>
            <a:ext cx="1591056" cy="64008"/>
          </a:xfrm>
          <a:prstGeom prst="rect">
            <a:avLst/>
          </a:prstGeom>
          <a:solidFill>
            <a:srgbClr val="991B1B"/>
          </a:solidFill>
          <a:ln w="12700">
            <a:solidFill>
              <a:srgbClr val="991B1B"/>
            </a:solidFill>
            <a:prstDash val="solid"/>
          </a:ln>
        </p:spPr>
      </p:sp>
      <p:sp>
        <p:nvSpPr>
          <p:cNvPr id="13" name="Text 11"/>
          <p:cNvSpPr/>
          <p:nvPr/>
        </p:nvSpPr>
        <p:spPr>
          <a:xfrm>
            <a:off x="1965960" y="1094232"/>
            <a:ext cx="1591056" cy="566928"/>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26.40%</a:t>
            </a:r>
            <a:endParaRPr lang="en-US" sz="2600" dirty="0"/>
          </a:p>
        </p:txBody>
      </p:sp>
      <p:sp>
        <p:nvSpPr>
          <p:cNvPr id="14" name="Text 12"/>
          <p:cNvSpPr/>
          <p:nvPr/>
        </p:nvSpPr>
        <p:spPr>
          <a:xfrm>
            <a:off x="1965960" y="1615074"/>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OTDR %</a:t>
            </a:r>
            <a:endParaRPr lang="en-US" sz="900" dirty="0"/>
          </a:p>
        </p:txBody>
      </p:sp>
      <p:sp>
        <p:nvSpPr>
          <p:cNvPr id="15" name="Text 13"/>
          <p:cNvSpPr/>
          <p:nvPr/>
        </p:nvSpPr>
        <p:spPr>
          <a:xfrm>
            <a:off x="1965960" y="1909877"/>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 85% ⚠ CRITICAL</a:t>
            </a:r>
            <a:endParaRPr lang="en-US" sz="750" dirty="0"/>
          </a:p>
        </p:txBody>
      </p:sp>
      <p:sp>
        <p:nvSpPr>
          <p:cNvPr id="16" name="Shape 14"/>
          <p:cNvSpPr/>
          <p:nvPr/>
        </p:nvSpPr>
        <p:spPr>
          <a:xfrm>
            <a:off x="3730752" y="1002792"/>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17" name="Shape 15"/>
          <p:cNvSpPr/>
          <p:nvPr/>
        </p:nvSpPr>
        <p:spPr>
          <a:xfrm>
            <a:off x="3730752" y="1002792"/>
            <a:ext cx="1591056" cy="64008"/>
          </a:xfrm>
          <a:prstGeom prst="rect">
            <a:avLst/>
          </a:prstGeom>
          <a:solidFill>
            <a:srgbClr val="991B1B"/>
          </a:solidFill>
          <a:ln w="12700">
            <a:solidFill>
              <a:srgbClr val="991B1B"/>
            </a:solidFill>
            <a:prstDash val="solid"/>
          </a:ln>
        </p:spPr>
      </p:sp>
      <p:sp>
        <p:nvSpPr>
          <p:cNvPr id="18" name="Text 16"/>
          <p:cNvSpPr/>
          <p:nvPr/>
        </p:nvSpPr>
        <p:spPr>
          <a:xfrm>
            <a:off x="3730752" y="1094232"/>
            <a:ext cx="1591056" cy="566928"/>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59.95%</a:t>
            </a:r>
            <a:endParaRPr lang="en-US" sz="2600" dirty="0"/>
          </a:p>
        </p:txBody>
      </p:sp>
      <p:sp>
        <p:nvSpPr>
          <p:cNvPr id="19" name="Text 17"/>
          <p:cNvSpPr/>
          <p:nvPr/>
        </p:nvSpPr>
        <p:spPr>
          <a:xfrm>
            <a:off x="3730752" y="1615074"/>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Order Fill Rate</a:t>
            </a:r>
            <a:endParaRPr lang="en-US" sz="900" dirty="0"/>
          </a:p>
        </p:txBody>
      </p:sp>
      <p:sp>
        <p:nvSpPr>
          <p:cNvPr id="20" name="Text 18"/>
          <p:cNvSpPr/>
          <p:nvPr/>
        </p:nvSpPr>
        <p:spPr>
          <a:xfrm>
            <a:off x="3730752" y="1909877"/>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 85% ⚠ CRITICAL</a:t>
            </a:r>
            <a:endParaRPr lang="en-US" sz="750" dirty="0"/>
          </a:p>
        </p:txBody>
      </p:sp>
      <p:sp>
        <p:nvSpPr>
          <p:cNvPr id="21" name="Shape 19"/>
          <p:cNvSpPr/>
          <p:nvPr/>
        </p:nvSpPr>
        <p:spPr>
          <a:xfrm>
            <a:off x="5495544" y="1002792"/>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22" name="Shape 20"/>
          <p:cNvSpPr/>
          <p:nvPr/>
        </p:nvSpPr>
        <p:spPr>
          <a:xfrm>
            <a:off x="5495544" y="1002792"/>
            <a:ext cx="1591056" cy="64008"/>
          </a:xfrm>
          <a:prstGeom prst="rect">
            <a:avLst/>
          </a:prstGeom>
          <a:solidFill>
            <a:srgbClr val="C2410C"/>
          </a:solidFill>
          <a:ln w="12700">
            <a:solidFill>
              <a:srgbClr val="C2410C"/>
            </a:solidFill>
            <a:prstDash val="solid"/>
          </a:ln>
        </p:spPr>
      </p:sp>
      <p:sp>
        <p:nvSpPr>
          <p:cNvPr id="23" name="Text 21"/>
          <p:cNvSpPr/>
          <p:nvPr/>
        </p:nvSpPr>
        <p:spPr>
          <a:xfrm>
            <a:off x="5495544" y="1094232"/>
            <a:ext cx="1591056" cy="566928"/>
          </a:xfrm>
          <a:prstGeom prst="rect">
            <a:avLst/>
          </a:prstGeom>
          <a:noFill/>
          <a:ln/>
        </p:spPr>
        <p:txBody>
          <a:bodyPr wrap="square" lIns="0" tIns="0" rIns="0" bIns="0" rtlCol="0" anchor="ctr"/>
          <a:lstStyle/>
          <a:p>
            <a:pPr marL="0" indent="0" algn="ctr">
              <a:buNone/>
            </a:pPr>
            <a:r>
              <a:rPr lang="en-US" sz="2600" b="1" dirty="0">
                <a:solidFill>
                  <a:srgbClr val="C2410C"/>
                </a:solidFill>
                <a:latin typeface="Calibri" pitchFamily="34" charset="0"/>
                <a:ea typeface="Calibri" pitchFamily="34" charset="-122"/>
                <a:cs typeface="Calibri" pitchFamily="34" charset="-120"/>
              </a:rPr>
              <a:t>25.38</a:t>
            </a:r>
            <a:endParaRPr lang="en-US" sz="2600" dirty="0"/>
          </a:p>
        </p:txBody>
      </p:sp>
      <p:sp>
        <p:nvSpPr>
          <p:cNvPr id="24" name="Text 22"/>
          <p:cNvSpPr/>
          <p:nvPr/>
        </p:nvSpPr>
        <p:spPr>
          <a:xfrm>
            <a:off x="5495544" y="1615074"/>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Avg Lead Time (days)</a:t>
            </a:r>
            <a:endParaRPr lang="en-US" sz="900" dirty="0"/>
          </a:p>
        </p:txBody>
      </p:sp>
      <p:sp>
        <p:nvSpPr>
          <p:cNvPr id="25" name="Text 23"/>
          <p:cNvSpPr/>
          <p:nvPr/>
        </p:nvSpPr>
        <p:spPr>
          <a:xfrm>
            <a:off x="5495544" y="1909877"/>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&lt; 10 days ⚠</a:t>
            </a:r>
            <a:endParaRPr lang="en-US" sz="750" dirty="0"/>
          </a:p>
        </p:txBody>
      </p:sp>
      <p:sp>
        <p:nvSpPr>
          <p:cNvPr id="26" name="Shape 24"/>
          <p:cNvSpPr/>
          <p:nvPr/>
        </p:nvSpPr>
        <p:spPr>
          <a:xfrm>
            <a:off x="7260336" y="1002792"/>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27" name="Shape 25"/>
          <p:cNvSpPr/>
          <p:nvPr/>
        </p:nvSpPr>
        <p:spPr>
          <a:xfrm>
            <a:off x="7260336" y="1002792"/>
            <a:ext cx="1591056" cy="64008"/>
          </a:xfrm>
          <a:prstGeom prst="rect">
            <a:avLst/>
          </a:prstGeom>
          <a:solidFill>
            <a:srgbClr val="991B1B"/>
          </a:solidFill>
          <a:ln w="12700">
            <a:solidFill>
              <a:srgbClr val="991B1B"/>
            </a:solidFill>
            <a:prstDash val="solid"/>
          </a:ln>
        </p:spPr>
      </p:sp>
      <p:sp>
        <p:nvSpPr>
          <p:cNvPr id="28" name="Text 26"/>
          <p:cNvSpPr/>
          <p:nvPr/>
        </p:nvSpPr>
        <p:spPr>
          <a:xfrm>
            <a:off x="7260336" y="1094232"/>
            <a:ext cx="1591056" cy="566928"/>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16.60%</a:t>
            </a:r>
            <a:endParaRPr lang="en-US" sz="2600" dirty="0"/>
          </a:p>
        </p:txBody>
      </p:sp>
      <p:sp>
        <p:nvSpPr>
          <p:cNvPr id="29" name="Text 27"/>
          <p:cNvSpPr/>
          <p:nvPr/>
        </p:nvSpPr>
        <p:spPr>
          <a:xfrm>
            <a:off x="7260336" y="1615074"/>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Cancelled Rate</a:t>
            </a:r>
            <a:endParaRPr lang="en-US" sz="900" dirty="0"/>
          </a:p>
        </p:txBody>
      </p:sp>
      <p:sp>
        <p:nvSpPr>
          <p:cNvPr id="30" name="Text 28"/>
          <p:cNvSpPr/>
          <p:nvPr/>
        </p:nvSpPr>
        <p:spPr>
          <a:xfrm>
            <a:off x="7260336" y="1909877"/>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&lt; 2% ⚠ CRITICAL</a:t>
            </a:r>
            <a:endParaRPr lang="en-US" sz="750" dirty="0"/>
          </a:p>
        </p:txBody>
      </p:sp>
      <p:sp>
        <p:nvSpPr>
          <p:cNvPr id="31" name="Text 29"/>
          <p:cNvSpPr/>
          <p:nvPr/>
        </p:nvSpPr>
        <p:spPr>
          <a:xfrm>
            <a:off x="256032" y="2209800"/>
            <a:ext cx="8229600" cy="201168"/>
          </a:xfrm>
          <a:prstGeom prst="rect">
            <a:avLst/>
          </a:prstGeom>
          <a:noFill/>
          <a:ln/>
        </p:spPr>
        <p:txBody>
          <a:bodyPr wrap="square" lIns="0" tIns="0" rIns="0" bIns="0" rtlCol="0" anchor="ctr"/>
          <a:lstStyle/>
          <a:p>
            <a:pPr marL="0" indent="0">
              <a:buNone/>
            </a:pPr>
            <a:r>
              <a:rPr lang="en-US" sz="900" b="1" dirty="0">
                <a:solidFill>
                  <a:srgbClr val="0E7490"/>
                </a:solidFill>
                <a:latin typeface="Calibri" pitchFamily="34" charset="0"/>
                <a:ea typeface="Calibri" pitchFamily="34" charset="-122"/>
                <a:cs typeface="Calibri" pitchFamily="34" charset="-120"/>
              </a:rPr>
              <a:t>Order Analysis  |  Supplier Performance  |  Inventory  |  Shipments</a:t>
            </a:r>
            <a:endParaRPr lang="en-US" sz="900" dirty="0"/>
          </a:p>
        </p:txBody>
      </p:sp>
      <p:sp>
        <p:nvSpPr>
          <p:cNvPr id="32" name="Shape 30"/>
          <p:cNvSpPr/>
          <p:nvPr/>
        </p:nvSpPr>
        <p:spPr>
          <a:xfrm>
            <a:off x="201168" y="2410968"/>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33" name="Shape 31"/>
          <p:cNvSpPr/>
          <p:nvPr/>
        </p:nvSpPr>
        <p:spPr>
          <a:xfrm>
            <a:off x="201168" y="2410968"/>
            <a:ext cx="1591056" cy="64008"/>
          </a:xfrm>
          <a:prstGeom prst="rect">
            <a:avLst/>
          </a:prstGeom>
          <a:solidFill>
            <a:srgbClr val="991B1B"/>
          </a:solidFill>
          <a:ln w="12700">
            <a:solidFill>
              <a:srgbClr val="991B1B"/>
            </a:solidFill>
            <a:prstDash val="solid"/>
          </a:ln>
        </p:spPr>
      </p:sp>
      <p:sp>
        <p:nvSpPr>
          <p:cNvPr id="34" name="Text 32"/>
          <p:cNvSpPr/>
          <p:nvPr/>
        </p:nvSpPr>
        <p:spPr>
          <a:xfrm>
            <a:off x="201168" y="2502408"/>
            <a:ext cx="1591056" cy="566928"/>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184</a:t>
            </a:r>
            <a:endParaRPr lang="en-US" sz="2600" dirty="0"/>
          </a:p>
        </p:txBody>
      </p:sp>
      <p:sp>
        <p:nvSpPr>
          <p:cNvPr id="35" name="Text 33"/>
          <p:cNvSpPr/>
          <p:nvPr/>
        </p:nvSpPr>
        <p:spPr>
          <a:xfrm>
            <a:off x="201168" y="3023250"/>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Delayed Orders</a:t>
            </a:r>
            <a:endParaRPr lang="en-US" sz="900" dirty="0"/>
          </a:p>
        </p:txBody>
      </p:sp>
      <p:sp>
        <p:nvSpPr>
          <p:cNvPr id="36" name="Text 34"/>
          <p:cNvSpPr/>
          <p:nvPr/>
        </p:nvSpPr>
        <p:spPr>
          <a:xfrm>
            <a:off x="201168" y="3318053"/>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Out of 500 total (36.8%)</a:t>
            </a:r>
            <a:endParaRPr lang="en-US" sz="750" dirty="0"/>
          </a:p>
        </p:txBody>
      </p:sp>
      <p:sp>
        <p:nvSpPr>
          <p:cNvPr id="37" name="Shape 35"/>
          <p:cNvSpPr/>
          <p:nvPr/>
        </p:nvSpPr>
        <p:spPr>
          <a:xfrm>
            <a:off x="1965960" y="2410968"/>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38" name="Shape 36"/>
          <p:cNvSpPr/>
          <p:nvPr/>
        </p:nvSpPr>
        <p:spPr>
          <a:xfrm>
            <a:off x="1965960" y="2410968"/>
            <a:ext cx="1591056" cy="64008"/>
          </a:xfrm>
          <a:prstGeom prst="rect">
            <a:avLst/>
          </a:prstGeom>
          <a:solidFill>
            <a:srgbClr val="C2410C"/>
          </a:solidFill>
          <a:ln w="12700">
            <a:solidFill>
              <a:srgbClr val="C2410C"/>
            </a:solidFill>
            <a:prstDash val="solid"/>
          </a:ln>
        </p:spPr>
      </p:sp>
      <p:sp>
        <p:nvSpPr>
          <p:cNvPr id="39" name="Text 37"/>
          <p:cNvSpPr/>
          <p:nvPr/>
        </p:nvSpPr>
        <p:spPr>
          <a:xfrm>
            <a:off x="1965960" y="2502408"/>
            <a:ext cx="1591056" cy="566928"/>
          </a:xfrm>
          <a:prstGeom prst="rect">
            <a:avLst/>
          </a:prstGeom>
          <a:noFill/>
          <a:ln/>
        </p:spPr>
        <p:txBody>
          <a:bodyPr wrap="square" lIns="0" tIns="0" rIns="0" bIns="0" rtlCol="0" anchor="ctr"/>
          <a:lstStyle/>
          <a:p>
            <a:pPr marL="0" indent="0" algn="ctr">
              <a:buNone/>
            </a:pPr>
            <a:r>
              <a:rPr lang="en-US" sz="2600" b="1" dirty="0">
                <a:solidFill>
                  <a:srgbClr val="C2410C"/>
                </a:solidFill>
                <a:latin typeface="Calibri" pitchFamily="34" charset="0"/>
                <a:ea typeface="Calibri" pitchFamily="34" charset="-122"/>
                <a:cs typeface="Calibri" pitchFamily="34" charset="-120"/>
              </a:rPr>
              <a:t>5 days</a:t>
            </a:r>
            <a:endParaRPr lang="en-US" sz="2600" dirty="0"/>
          </a:p>
        </p:txBody>
      </p:sp>
      <p:sp>
        <p:nvSpPr>
          <p:cNvPr id="40" name="Text 38"/>
          <p:cNvSpPr/>
          <p:nvPr/>
        </p:nvSpPr>
        <p:spPr>
          <a:xfrm>
            <a:off x="1965960" y="3023250"/>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Avg Delay Days</a:t>
            </a:r>
            <a:endParaRPr lang="en-US" sz="900" dirty="0"/>
          </a:p>
        </p:txBody>
      </p:sp>
      <p:sp>
        <p:nvSpPr>
          <p:cNvPr id="41" name="Text 39"/>
          <p:cNvSpPr/>
          <p:nvPr/>
        </p:nvSpPr>
        <p:spPr>
          <a:xfrm>
            <a:off x="1965960" y="3318053"/>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Per delayed order</a:t>
            </a:r>
            <a:endParaRPr lang="en-US" sz="750" dirty="0"/>
          </a:p>
        </p:txBody>
      </p:sp>
      <p:sp>
        <p:nvSpPr>
          <p:cNvPr id="42" name="Shape 40"/>
          <p:cNvSpPr/>
          <p:nvPr/>
        </p:nvSpPr>
        <p:spPr>
          <a:xfrm>
            <a:off x="3730752" y="2410968"/>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43" name="Shape 41"/>
          <p:cNvSpPr/>
          <p:nvPr/>
        </p:nvSpPr>
        <p:spPr>
          <a:xfrm>
            <a:off x="3730752" y="2410968"/>
            <a:ext cx="1591056" cy="64008"/>
          </a:xfrm>
          <a:prstGeom prst="rect">
            <a:avLst/>
          </a:prstGeom>
          <a:solidFill>
            <a:srgbClr val="C2410C"/>
          </a:solidFill>
          <a:ln w="12700">
            <a:solidFill>
              <a:srgbClr val="C2410C"/>
            </a:solidFill>
            <a:prstDash val="solid"/>
          </a:ln>
        </p:spPr>
      </p:sp>
      <p:sp>
        <p:nvSpPr>
          <p:cNvPr id="44" name="Text 42"/>
          <p:cNvSpPr/>
          <p:nvPr/>
        </p:nvSpPr>
        <p:spPr>
          <a:xfrm>
            <a:off x="3730752" y="2502408"/>
            <a:ext cx="1591056" cy="566928"/>
          </a:xfrm>
          <a:prstGeom prst="rect">
            <a:avLst/>
          </a:prstGeom>
          <a:noFill/>
          <a:ln/>
        </p:spPr>
        <p:txBody>
          <a:bodyPr wrap="square" lIns="0" tIns="0" rIns="0" bIns="0" rtlCol="0" anchor="ctr"/>
          <a:lstStyle/>
          <a:p>
            <a:pPr marL="0" indent="0" algn="ctr">
              <a:buNone/>
            </a:pPr>
            <a:r>
              <a:rPr lang="en-US" sz="2600" b="1" dirty="0">
                <a:solidFill>
                  <a:srgbClr val="C2410C"/>
                </a:solidFill>
                <a:latin typeface="Calibri" pitchFamily="34" charset="0"/>
                <a:ea typeface="Calibri" pitchFamily="34" charset="-122"/>
                <a:cs typeface="Calibri" pitchFamily="34" charset="-120"/>
              </a:rPr>
              <a:t>4.03</a:t>
            </a:r>
            <a:endParaRPr lang="en-US" sz="2600" dirty="0"/>
          </a:p>
        </p:txBody>
      </p:sp>
      <p:sp>
        <p:nvSpPr>
          <p:cNvPr id="45" name="Text 43"/>
          <p:cNvSpPr/>
          <p:nvPr/>
        </p:nvSpPr>
        <p:spPr>
          <a:xfrm>
            <a:off x="3730752" y="3023250"/>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Avg Defect Rate</a:t>
            </a:r>
            <a:endParaRPr lang="en-US" sz="900" dirty="0"/>
          </a:p>
        </p:txBody>
      </p:sp>
      <p:sp>
        <p:nvSpPr>
          <p:cNvPr id="46" name="Text 44"/>
          <p:cNvSpPr/>
          <p:nvPr/>
        </p:nvSpPr>
        <p:spPr>
          <a:xfrm>
            <a:off x="3730752" y="3318053"/>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&lt; 2% — above</a:t>
            </a:r>
            <a:endParaRPr lang="en-US" sz="750" dirty="0"/>
          </a:p>
        </p:txBody>
      </p:sp>
      <p:sp>
        <p:nvSpPr>
          <p:cNvPr id="47" name="Shape 45"/>
          <p:cNvSpPr/>
          <p:nvPr/>
        </p:nvSpPr>
        <p:spPr>
          <a:xfrm>
            <a:off x="5495544" y="2410968"/>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48" name="Shape 46"/>
          <p:cNvSpPr/>
          <p:nvPr/>
        </p:nvSpPr>
        <p:spPr>
          <a:xfrm>
            <a:off x="5495544" y="2410968"/>
            <a:ext cx="1591056" cy="64008"/>
          </a:xfrm>
          <a:prstGeom prst="rect">
            <a:avLst/>
          </a:prstGeom>
          <a:solidFill>
            <a:srgbClr val="B45309"/>
          </a:solidFill>
          <a:ln w="12700">
            <a:solidFill>
              <a:srgbClr val="B45309"/>
            </a:solidFill>
            <a:prstDash val="solid"/>
          </a:ln>
        </p:spPr>
      </p:sp>
      <p:sp>
        <p:nvSpPr>
          <p:cNvPr id="49" name="Text 47"/>
          <p:cNvSpPr/>
          <p:nvPr/>
        </p:nvSpPr>
        <p:spPr>
          <a:xfrm>
            <a:off x="5495544" y="2502408"/>
            <a:ext cx="1591056" cy="566928"/>
          </a:xfrm>
          <a:prstGeom prst="rect">
            <a:avLst/>
          </a:prstGeom>
          <a:noFill/>
          <a:ln/>
        </p:spPr>
        <p:txBody>
          <a:bodyPr wrap="square" lIns="0" tIns="0" rIns="0" bIns="0" rtlCol="0" anchor="ctr"/>
          <a:lstStyle/>
          <a:p>
            <a:pPr marL="0" indent="0" algn="ctr">
              <a:buNone/>
            </a:pPr>
            <a:r>
              <a:rPr lang="en-US" sz="2600" b="1" dirty="0">
                <a:solidFill>
                  <a:srgbClr val="B45309"/>
                </a:solidFill>
                <a:latin typeface="Calibri" pitchFamily="34" charset="0"/>
                <a:ea typeface="Calibri" pitchFamily="34" charset="-122"/>
                <a:cs typeface="Calibri" pitchFamily="34" charset="-120"/>
              </a:rPr>
              <a:t>3.83</a:t>
            </a:r>
            <a:endParaRPr lang="en-US" sz="2600" dirty="0"/>
          </a:p>
        </p:txBody>
      </p:sp>
      <p:sp>
        <p:nvSpPr>
          <p:cNvPr id="50" name="Text 48"/>
          <p:cNvSpPr/>
          <p:nvPr/>
        </p:nvSpPr>
        <p:spPr>
          <a:xfrm>
            <a:off x="5495544" y="3023250"/>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Avg Supplier Rating</a:t>
            </a:r>
            <a:endParaRPr lang="en-US" sz="900" dirty="0"/>
          </a:p>
        </p:txBody>
      </p:sp>
      <p:sp>
        <p:nvSpPr>
          <p:cNvPr id="51" name="Text 49"/>
          <p:cNvSpPr/>
          <p:nvPr/>
        </p:nvSpPr>
        <p:spPr>
          <a:xfrm>
            <a:off x="5495544" y="3318053"/>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Out of 5.0</a:t>
            </a:r>
            <a:endParaRPr lang="en-US" sz="750" dirty="0"/>
          </a:p>
        </p:txBody>
      </p:sp>
      <p:sp>
        <p:nvSpPr>
          <p:cNvPr id="52" name="Shape 50"/>
          <p:cNvSpPr/>
          <p:nvPr/>
        </p:nvSpPr>
        <p:spPr>
          <a:xfrm>
            <a:off x="7260336" y="2410968"/>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53" name="Shape 51"/>
          <p:cNvSpPr/>
          <p:nvPr/>
        </p:nvSpPr>
        <p:spPr>
          <a:xfrm>
            <a:off x="7260336" y="2410968"/>
            <a:ext cx="1591056" cy="64008"/>
          </a:xfrm>
          <a:prstGeom prst="rect">
            <a:avLst/>
          </a:prstGeom>
          <a:solidFill>
            <a:srgbClr val="1F4E79"/>
          </a:solidFill>
          <a:ln w="12700">
            <a:solidFill>
              <a:srgbClr val="1F4E79"/>
            </a:solidFill>
            <a:prstDash val="solid"/>
          </a:ln>
        </p:spPr>
      </p:sp>
      <p:sp>
        <p:nvSpPr>
          <p:cNvPr id="54" name="Text 52"/>
          <p:cNvSpPr/>
          <p:nvPr/>
        </p:nvSpPr>
        <p:spPr>
          <a:xfrm>
            <a:off x="7260336" y="2502408"/>
            <a:ext cx="1591056" cy="566928"/>
          </a:xfrm>
          <a:prstGeom prst="rect">
            <a:avLst/>
          </a:prstGeom>
          <a:noFill/>
          <a:ln/>
        </p:spPr>
        <p:txBody>
          <a:bodyPr wrap="square" lIns="0" tIns="0" rIns="0" bIns="0" rtlCol="0" anchor="ctr"/>
          <a:lstStyle/>
          <a:p>
            <a:pPr marL="0" indent="0" algn="ctr">
              <a:buNone/>
            </a:pPr>
            <a:r>
              <a:rPr lang="en-US" sz="2600" b="1" dirty="0">
                <a:solidFill>
                  <a:srgbClr val="1F4E79"/>
                </a:solidFill>
                <a:latin typeface="Calibri" pitchFamily="34" charset="0"/>
                <a:ea typeface="Calibri" pitchFamily="34" charset="-122"/>
                <a:cs typeface="Calibri" pitchFamily="34" charset="-120"/>
              </a:rPr>
              <a:t>17.84M</a:t>
            </a:r>
            <a:endParaRPr lang="en-US" sz="2600" dirty="0"/>
          </a:p>
        </p:txBody>
      </p:sp>
      <p:sp>
        <p:nvSpPr>
          <p:cNvPr id="55" name="Text 53"/>
          <p:cNvSpPr/>
          <p:nvPr/>
        </p:nvSpPr>
        <p:spPr>
          <a:xfrm>
            <a:off x="7260336" y="3023250"/>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Total Supplier Spend</a:t>
            </a:r>
            <a:endParaRPr lang="en-US" sz="900" dirty="0"/>
          </a:p>
        </p:txBody>
      </p:sp>
      <p:sp>
        <p:nvSpPr>
          <p:cNvPr id="56" name="Text 54"/>
          <p:cNvSpPr/>
          <p:nvPr/>
        </p:nvSpPr>
        <p:spPr>
          <a:xfrm>
            <a:off x="7260336" y="3318053"/>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Across all 5 suppliers</a:t>
            </a:r>
            <a:endParaRPr lang="en-US" sz="750" dirty="0"/>
          </a:p>
        </p:txBody>
      </p:sp>
      <p:sp>
        <p:nvSpPr>
          <p:cNvPr id="57" name="Shape 55"/>
          <p:cNvSpPr/>
          <p:nvPr/>
        </p:nvSpPr>
        <p:spPr>
          <a:xfrm>
            <a:off x="201168" y="3617976"/>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58" name="Shape 56"/>
          <p:cNvSpPr/>
          <p:nvPr/>
        </p:nvSpPr>
        <p:spPr>
          <a:xfrm>
            <a:off x="201168" y="3617976"/>
            <a:ext cx="1591056" cy="64008"/>
          </a:xfrm>
          <a:prstGeom prst="rect">
            <a:avLst/>
          </a:prstGeom>
          <a:solidFill>
            <a:srgbClr val="0D9488"/>
          </a:solidFill>
          <a:ln w="12700">
            <a:solidFill>
              <a:srgbClr val="0D9488"/>
            </a:solidFill>
            <a:prstDash val="solid"/>
          </a:ln>
        </p:spPr>
      </p:sp>
      <p:sp>
        <p:nvSpPr>
          <p:cNvPr id="59" name="Text 57"/>
          <p:cNvSpPr/>
          <p:nvPr/>
        </p:nvSpPr>
        <p:spPr>
          <a:xfrm>
            <a:off x="201168" y="3709416"/>
            <a:ext cx="1591056" cy="566928"/>
          </a:xfrm>
          <a:prstGeom prst="rect">
            <a:avLst/>
          </a:prstGeom>
          <a:noFill/>
          <a:ln/>
        </p:spPr>
        <p:txBody>
          <a:bodyPr wrap="square" lIns="0" tIns="0" rIns="0" bIns="0" rtlCol="0" anchor="ctr"/>
          <a:lstStyle/>
          <a:p>
            <a:pPr marL="0" indent="0" algn="ctr">
              <a:buNone/>
            </a:pPr>
            <a:r>
              <a:rPr lang="en-US" sz="2600" b="1" dirty="0">
                <a:solidFill>
                  <a:srgbClr val="0D9488"/>
                </a:solidFill>
                <a:latin typeface="Calibri" pitchFamily="34" charset="0"/>
                <a:ea typeface="Calibri" pitchFamily="34" charset="-122"/>
                <a:cs typeface="Calibri" pitchFamily="34" charset="-120"/>
              </a:rPr>
              <a:t>832.86K</a:t>
            </a:r>
            <a:endParaRPr lang="en-US" sz="2600" dirty="0"/>
          </a:p>
        </p:txBody>
      </p:sp>
      <p:sp>
        <p:nvSpPr>
          <p:cNvPr id="60" name="Text 58"/>
          <p:cNvSpPr/>
          <p:nvPr/>
        </p:nvSpPr>
        <p:spPr>
          <a:xfrm>
            <a:off x="201168" y="4230258"/>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Total Inventory Value</a:t>
            </a:r>
            <a:endParaRPr lang="en-US" sz="900" dirty="0"/>
          </a:p>
        </p:txBody>
      </p:sp>
      <p:sp>
        <p:nvSpPr>
          <p:cNvPr id="61" name="Text 59"/>
          <p:cNvSpPr/>
          <p:nvPr/>
        </p:nvSpPr>
        <p:spPr>
          <a:xfrm>
            <a:off x="201168" y="4525061"/>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Across 5 warehouses</a:t>
            </a:r>
            <a:endParaRPr lang="en-US" sz="750" dirty="0"/>
          </a:p>
        </p:txBody>
      </p:sp>
      <p:sp>
        <p:nvSpPr>
          <p:cNvPr id="62" name="Shape 60"/>
          <p:cNvSpPr/>
          <p:nvPr/>
        </p:nvSpPr>
        <p:spPr>
          <a:xfrm>
            <a:off x="1965960" y="3617976"/>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63" name="Shape 61"/>
          <p:cNvSpPr/>
          <p:nvPr/>
        </p:nvSpPr>
        <p:spPr>
          <a:xfrm>
            <a:off x="1965960" y="3617976"/>
            <a:ext cx="1591056" cy="64008"/>
          </a:xfrm>
          <a:prstGeom prst="rect">
            <a:avLst/>
          </a:prstGeom>
          <a:solidFill>
            <a:srgbClr val="C2410C"/>
          </a:solidFill>
          <a:ln w="12700">
            <a:solidFill>
              <a:srgbClr val="C2410C"/>
            </a:solidFill>
            <a:prstDash val="solid"/>
          </a:ln>
        </p:spPr>
      </p:sp>
      <p:sp>
        <p:nvSpPr>
          <p:cNvPr id="64" name="Text 62"/>
          <p:cNvSpPr/>
          <p:nvPr/>
        </p:nvSpPr>
        <p:spPr>
          <a:xfrm>
            <a:off x="1965960" y="3709416"/>
            <a:ext cx="1591056" cy="566928"/>
          </a:xfrm>
          <a:prstGeom prst="rect">
            <a:avLst/>
          </a:prstGeom>
          <a:noFill/>
          <a:ln/>
        </p:spPr>
        <p:txBody>
          <a:bodyPr wrap="square" lIns="0" tIns="0" rIns="0" bIns="0" rtlCol="0" anchor="ctr"/>
          <a:lstStyle/>
          <a:p>
            <a:pPr marL="0" indent="0" algn="ctr">
              <a:buNone/>
            </a:pPr>
            <a:r>
              <a:rPr lang="en-US" sz="2600" b="1" dirty="0">
                <a:solidFill>
                  <a:srgbClr val="C2410C"/>
                </a:solidFill>
                <a:latin typeface="Calibri" pitchFamily="34" charset="0"/>
                <a:ea typeface="Calibri" pitchFamily="34" charset="-122"/>
                <a:cs typeface="Calibri" pitchFamily="34" charset="-120"/>
              </a:rPr>
              <a:t>3</a:t>
            </a:r>
            <a:endParaRPr lang="en-US" sz="2600" dirty="0"/>
          </a:p>
        </p:txBody>
      </p:sp>
      <p:sp>
        <p:nvSpPr>
          <p:cNvPr id="65" name="Text 63"/>
          <p:cNvSpPr/>
          <p:nvPr/>
        </p:nvSpPr>
        <p:spPr>
          <a:xfrm>
            <a:off x="1965960" y="4230258"/>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Stockout Risk Products</a:t>
            </a:r>
            <a:endParaRPr lang="en-US" sz="900" dirty="0"/>
          </a:p>
        </p:txBody>
      </p:sp>
      <p:sp>
        <p:nvSpPr>
          <p:cNvPr id="66" name="Text 64"/>
          <p:cNvSpPr/>
          <p:nvPr/>
        </p:nvSpPr>
        <p:spPr>
          <a:xfrm>
            <a:off x="1965960" y="4525061"/>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Need immediate reorder</a:t>
            </a:r>
            <a:endParaRPr lang="en-US" sz="750" dirty="0"/>
          </a:p>
        </p:txBody>
      </p:sp>
      <p:sp>
        <p:nvSpPr>
          <p:cNvPr id="67" name="Shape 65"/>
          <p:cNvSpPr/>
          <p:nvPr/>
        </p:nvSpPr>
        <p:spPr>
          <a:xfrm>
            <a:off x="3730752" y="3617976"/>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68" name="Shape 66"/>
          <p:cNvSpPr/>
          <p:nvPr/>
        </p:nvSpPr>
        <p:spPr>
          <a:xfrm>
            <a:off x="3730752" y="3617976"/>
            <a:ext cx="1591056" cy="64008"/>
          </a:xfrm>
          <a:prstGeom prst="rect">
            <a:avLst/>
          </a:prstGeom>
          <a:solidFill>
            <a:srgbClr val="B45309"/>
          </a:solidFill>
          <a:ln w="12700">
            <a:solidFill>
              <a:srgbClr val="B45309"/>
            </a:solidFill>
            <a:prstDash val="solid"/>
          </a:ln>
        </p:spPr>
      </p:sp>
      <p:sp>
        <p:nvSpPr>
          <p:cNvPr id="69" name="Text 67"/>
          <p:cNvSpPr/>
          <p:nvPr/>
        </p:nvSpPr>
        <p:spPr>
          <a:xfrm>
            <a:off x="3730752" y="3709416"/>
            <a:ext cx="1591056" cy="566928"/>
          </a:xfrm>
          <a:prstGeom prst="rect">
            <a:avLst/>
          </a:prstGeom>
          <a:noFill/>
          <a:ln/>
        </p:spPr>
        <p:txBody>
          <a:bodyPr wrap="square" lIns="0" tIns="0" rIns="0" bIns="0" rtlCol="0" anchor="ctr"/>
          <a:lstStyle/>
          <a:p>
            <a:pPr marL="0" indent="0" algn="ctr">
              <a:buNone/>
            </a:pPr>
            <a:r>
              <a:rPr lang="en-US" sz="2600" b="1" dirty="0">
                <a:solidFill>
                  <a:srgbClr val="B45309"/>
                </a:solidFill>
                <a:latin typeface="Calibri" pitchFamily="34" charset="0"/>
                <a:ea typeface="Calibri" pitchFamily="34" charset="-122"/>
                <a:cs typeface="Calibri" pitchFamily="34" charset="-120"/>
              </a:rPr>
              <a:t>39%</a:t>
            </a:r>
            <a:endParaRPr lang="en-US" sz="2600" dirty="0"/>
          </a:p>
        </p:txBody>
      </p:sp>
      <p:sp>
        <p:nvSpPr>
          <p:cNvPr id="70" name="Text 68"/>
          <p:cNvSpPr/>
          <p:nvPr/>
        </p:nvSpPr>
        <p:spPr>
          <a:xfrm>
            <a:off x="3730752" y="4230258"/>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Warehouse Utilisation</a:t>
            </a:r>
            <a:endParaRPr lang="en-US" sz="900" dirty="0"/>
          </a:p>
        </p:txBody>
      </p:sp>
      <p:sp>
        <p:nvSpPr>
          <p:cNvPr id="71" name="Text 69"/>
          <p:cNvSpPr/>
          <p:nvPr/>
        </p:nvSpPr>
        <p:spPr>
          <a:xfrm>
            <a:off x="3730752" y="4525061"/>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Optimal: 60–85% — LOW</a:t>
            </a:r>
            <a:endParaRPr lang="en-US" sz="750" dirty="0"/>
          </a:p>
        </p:txBody>
      </p:sp>
      <p:sp>
        <p:nvSpPr>
          <p:cNvPr id="72" name="Shape 70"/>
          <p:cNvSpPr/>
          <p:nvPr/>
        </p:nvSpPr>
        <p:spPr>
          <a:xfrm>
            <a:off x="5495544" y="3617976"/>
            <a:ext cx="1591056" cy="113385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73" name="Shape 71"/>
          <p:cNvSpPr/>
          <p:nvPr/>
        </p:nvSpPr>
        <p:spPr>
          <a:xfrm>
            <a:off x="5495544" y="3617976"/>
            <a:ext cx="1591056" cy="64008"/>
          </a:xfrm>
          <a:prstGeom prst="rect">
            <a:avLst/>
          </a:prstGeom>
          <a:solidFill>
            <a:srgbClr val="6B21A8"/>
          </a:solidFill>
          <a:ln w="12700">
            <a:solidFill>
              <a:srgbClr val="6B21A8"/>
            </a:solidFill>
            <a:prstDash val="solid"/>
          </a:ln>
        </p:spPr>
      </p:sp>
      <p:sp>
        <p:nvSpPr>
          <p:cNvPr id="74" name="Text 72"/>
          <p:cNvSpPr/>
          <p:nvPr/>
        </p:nvSpPr>
        <p:spPr>
          <a:xfrm>
            <a:off x="5495544" y="3709416"/>
            <a:ext cx="1591056" cy="566928"/>
          </a:xfrm>
          <a:prstGeom prst="rect">
            <a:avLst/>
          </a:prstGeom>
          <a:noFill/>
          <a:ln/>
        </p:spPr>
        <p:txBody>
          <a:bodyPr wrap="square" lIns="0" tIns="0" rIns="0" bIns="0" rtlCol="0" anchor="ctr"/>
          <a:lstStyle/>
          <a:p>
            <a:pPr marL="0" indent="0" algn="ctr">
              <a:buNone/>
            </a:pPr>
            <a:r>
              <a:rPr lang="en-US" sz="2600" b="1" dirty="0">
                <a:solidFill>
                  <a:srgbClr val="6B21A8"/>
                </a:solidFill>
                <a:latin typeface="Calibri" pitchFamily="34" charset="0"/>
                <a:ea typeface="Calibri" pitchFamily="34" charset="-122"/>
                <a:cs typeface="Calibri" pitchFamily="34" charset="-120"/>
              </a:rPr>
              <a:t>21.68</a:t>
            </a:r>
            <a:endParaRPr lang="en-US" sz="2600" dirty="0"/>
          </a:p>
        </p:txBody>
      </p:sp>
      <p:sp>
        <p:nvSpPr>
          <p:cNvPr id="75" name="Text 73"/>
          <p:cNvSpPr/>
          <p:nvPr/>
        </p:nvSpPr>
        <p:spPr>
          <a:xfrm>
            <a:off x="5495544" y="4230258"/>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Freight per KG ($)</a:t>
            </a:r>
            <a:endParaRPr lang="en-US" sz="900" dirty="0"/>
          </a:p>
        </p:txBody>
      </p:sp>
      <p:sp>
        <p:nvSpPr>
          <p:cNvPr id="76" name="Text 74"/>
          <p:cNvSpPr/>
          <p:nvPr/>
        </p:nvSpPr>
        <p:spPr>
          <a:xfrm>
            <a:off x="5495544" y="4525061"/>
            <a:ext cx="1591056" cy="204094"/>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Across all modes</a:t>
            </a:r>
            <a:endParaRPr lang="en-US" sz="750" dirty="0"/>
          </a:p>
        </p:txBody>
      </p:sp>
      <p:sp>
        <p:nvSpPr>
          <p:cNvPr id="77" name="Shape 75"/>
          <p:cNvSpPr/>
          <p:nvPr/>
        </p:nvSpPr>
        <p:spPr>
          <a:xfrm>
            <a:off x="7260336" y="3617976"/>
            <a:ext cx="1591056" cy="1133856"/>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78" name="Shape 76"/>
          <p:cNvSpPr/>
          <p:nvPr/>
        </p:nvSpPr>
        <p:spPr>
          <a:xfrm>
            <a:off x="7260336" y="3617976"/>
            <a:ext cx="1591056" cy="64008"/>
          </a:xfrm>
          <a:prstGeom prst="rect">
            <a:avLst/>
          </a:prstGeom>
          <a:solidFill>
            <a:srgbClr val="991B1B"/>
          </a:solidFill>
          <a:ln w="12700">
            <a:solidFill>
              <a:srgbClr val="991B1B"/>
            </a:solidFill>
            <a:prstDash val="solid"/>
          </a:ln>
        </p:spPr>
      </p:sp>
      <p:sp>
        <p:nvSpPr>
          <p:cNvPr id="79" name="Text 77"/>
          <p:cNvSpPr/>
          <p:nvPr/>
        </p:nvSpPr>
        <p:spPr>
          <a:xfrm>
            <a:off x="7260336" y="3709416"/>
            <a:ext cx="1591056" cy="566928"/>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32.33%</a:t>
            </a:r>
            <a:endParaRPr lang="en-US" sz="2600" dirty="0"/>
          </a:p>
        </p:txBody>
      </p:sp>
      <p:sp>
        <p:nvSpPr>
          <p:cNvPr id="80" name="Text 78"/>
          <p:cNvSpPr/>
          <p:nvPr/>
        </p:nvSpPr>
        <p:spPr>
          <a:xfrm>
            <a:off x="7260336" y="4230258"/>
            <a:ext cx="1591056" cy="317480"/>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Delayed Shipment Rate</a:t>
            </a:r>
            <a:endParaRPr lang="en-US" sz="900" dirty="0"/>
          </a:p>
        </p:txBody>
      </p:sp>
      <p:sp>
        <p:nvSpPr>
          <p:cNvPr id="81" name="Text 79"/>
          <p:cNvSpPr/>
          <p:nvPr/>
        </p:nvSpPr>
        <p:spPr>
          <a:xfrm>
            <a:off x="7260336" y="4525061"/>
            <a:ext cx="1591056" cy="204094"/>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Target: &lt; 10% ⚠</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Overview </a:t>
            </a:r>
            <a:endParaRPr lang="en-US" sz="1700" dirty="0"/>
          </a:p>
        </p:txBody>
      </p:sp>
      <p:graphicFrame>
        <p:nvGraphicFramePr>
          <p:cNvPr id="5" name="Chart 0"/>
          <p:cNvGraphicFramePr/>
          <p:nvPr>
            <p:extLst>
              <p:ext uri="{D42A27DB-BD31-4B8C-83A1-F6EECF244321}">
                <p14:modId xmlns:p14="http://schemas.microsoft.com/office/powerpoint/2010/main" val="2086241291"/>
              </p:ext>
            </p:extLst>
          </p:nvPr>
        </p:nvGraphicFramePr>
        <p:xfrm>
          <a:off x="256032" y="1005840"/>
          <a:ext cx="521208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1282207310"/>
              </p:ext>
            </p:extLst>
          </p:nvPr>
        </p:nvGraphicFramePr>
        <p:xfrm>
          <a:off x="5577840" y="1005840"/>
          <a:ext cx="333756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56032" y="3703320"/>
            <a:ext cx="2779776" cy="1261872"/>
          </a:xfrm>
          <a:prstGeom prst="rect">
            <a:avLst/>
          </a:prstGeom>
          <a:solidFill>
            <a:srgbClr val="F0F7FF"/>
          </a:solidFill>
          <a:ln w="12700">
            <a:solidFill>
              <a:srgbClr val="1F4E79"/>
            </a:solidFill>
            <a:prstDash val="solid"/>
          </a:ln>
          <a:effectLst>
            <a:outerShdw blurRad="101600" dist="38100" dir="8100000" algn="bl" rotWithShape="0">
              <a:srgbClr val="000000">
                <a:alpha val="10000"/>
              </a:srgbClr>
            </a:outerShdw>
          </a:effectLst>
        </p:spPr>
      </p:sp>
      <p:sp>
        <p:nvSpPr>
          <p:cNvPr id="8" name="Text 4"/>
          <p:cNvSpPr/>
          <p:nvPr/>
        </p:nvSpPr>
        <p:spPr>
          <a:xfrm>
            <a:off x="256032" y="3758184"/>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5"/>
          <p:cNvSpPr/>
          <p:nvPr/>
        </p:nvSpPr>
        <p:spPr>
          <a:xfrm>
            <a:off x="329184" y="4087368"/>
            <a:ext cx="2633472" cy="219456"/>
          </a:xfrm>
          <a:prstGeom prst="rect">
            <a:avLst/>
          </a:prstGeom>
          <a:noFill/>
          <a:ln/>
        </p:spPr>
        <p:txBody>
          <a:bodyPr wrap="square" lIns="0" tIns="0" rIns="0" bIns="0" rtlCol="0" anchor="ctr"/>
          <a:lstStyle/>
          <a:p>
            <a:pPr marL="0" indent="0" algn="ctr">
              <a:buNone/>
            </a:pPr>
            <a:r>
              <a:rPr lang="en-US" sz="1000" b="1" dirty="0">
                <a:solidFill>
                  <a:srgbClr val="1F4E79"/>
                </a:solidFill>
                <a:latin typeface="Calibri" pitchFamily="34" charset="0"/>
                <a:ea typeface="Calibri" pitchFamily="34" charset="-122"/>
                <a:cs typeface="Calibri" pitchFamily="34" charset="-120"/>
              </a:rPr>
              <a:t>May is Peak Month</a:t>
            </a:r>
            <a:endParaRPr lang="en-US" sz="1000" dirty="0"/>
          </a:p>
        </p:txBody>
      </p:sp>
      <p:sp>
        <p:nvSpPr>
          <p:cNvPr id="10" name="Text 6"/>
          <p:cNvSpPr/>
          <p:nvPr/>
        </p:nvSpPr>
        <p:spPr>
          <a:xfrm>
            <a:off x="329184" y="4297680"/>
            <a:ext cx="2633472" cy="603504"/>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Revenue hit 524K in May — the highest monthly value. Jan is the weakest at 194K.</a:t>
            </a:r>
            <a:endParaRPr lang="en-US" sz="850" dirty="0"/>
          </a:p>
        </p:txBody>
      </p:sp>
      <p:sp>
        <p:nvSpPr>
          <p:cNvPr id="11" name="Shape 7"/>
          <p:cNvSpPr/>
          <p:nvPr/>
        </p:nvSpPr>
        <p:spPr>
          <a:xfrm>
            <a:off x="3218688" y="3703320"/>
            <a:ext cx="2779776" cy="1261872"/>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12" name="Text 8"/>
          <p:cNvSpPr/>
          <p:nvPr/>
        </p:nvSpPr>
        <p:spPr>
          <a:xfrm>
            <a:off x="3218688" y="3758184"/>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9"/>
          <p:cNvSpPr/>
          <p:nvPr/>
        </p:nvSpPr>
        <p:spPr>
          <a:xfrm>
            <a:off x="3291840" y="4087368"/>
            <a:ext cx="2633472" cy="219456"/>
          </a:xfrm>
          <a:prstGeom prst="rect">
            <a:avLst/>
          </a:prstGeom>
          <a:noFill/>
          <a:ln/>
        </p:spPr>
        <p:txBody>
          <a:bodyPr wrap="square" lIns="0" tIns="0" rIns="0" bIns="0" rtlCol="0" anchor="ctr"/>
          <a:lstStyle/>
          <a:p>
            <a:pPr marL="0" indent="0" algn="ctr">
              <a:buNone/>
            </a:pPr>
            <a:r>
              <a:rPr lang="en-US" sz="1000" b="1" dirty="0">
                <a:solidFill>
                  <a:srgbClr val="991B1B"/>
                </a:solidFill>
                <a:latin typeface="Calibri" pitchFamily="34" charset="0"/>
                <a:ea typeface="Calibri" pitchFamily="34" charset="-122"/>
                <a:cs typeface="Calibri" pitchFamily="34" charset="-120"/>
              </a:rPr>
              <a:t>17.2% Cancelled!</a:t>
            </a:r>
            <a:endParaRPr lang="en-US" sz="1000" dirty="0"/>
          </a:p>
        </p:txBody>
      </p:sp>
      <p:sp>
        <p:nvSpPr>
          <p:cNvPr id="14" name="Text 10"/>
          <p:cNvSpPr/>
          <p:nvPr/>
        </p:nvSpPr>
        <p:spPr>
          <a:xfrm>
            <a:off x="3291840" y="4297680"/>
            <a:ext cx="2633472" cy="603504"/>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86 orders cancelled out of 500. This is 8× the 2% industry target — critical issue.</a:t>
            </a:r>
            <a:endParaRPr lang="en-US" sz="850" dirty="0"/>
          </a:p>
        </p:txBody>
      </p:sp>
      <p:sp>
        <p:nvSpPr>
          <p:cNvPr id="15" name="Shape 11"/>
          <p:cNvSpPr/>
          <p:nvPr/>
        </p:nvSpPr>
        <p:spPr>
          <a:xfrm>
            <a:off x="6181344" y="3703320"/>
            <a:ext cx="2779776" cy="1261872"/>
          </a:xfrm>
          <a:prstGeom prst="rect">
            <a:avLst/>
          </a:prstGeom>
          <a:solidFill>
            <a:srgbClr val="FFF7ED"/>
          </a:solidFill>
          <a:ln w="12700">
            <a:solidFill>
              <a:srgbClr val="C2410C"/>
            </a:solidFill>
            <a:prstDash val="solid"/>
          </a:ln>
          <a:effectLst>
            <a:outerShdw blurRad="101600" dist="38100" dir="8100000" algn="bl" rotWithShape="0">
              <a:srgbClr val="000000">
                <a:alpha val="10000"/>
              </a:srgbClr>
            </a:outerShdw>
          </a:effectLst>
        </p:spPr>
      </p:sp>
      <p:sp>
        <p:nvSpPr>
          <p:cNvPr id="16" name="Text 12"/>
          <p:cNvSpPr/>
          <p:nvPr/>
        </p:nvSpPr>
        <p:spPr>
          <a:xfrm>
            <a:off x="6181344" y="3758184"/>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3"/>
          <p:cNvSpPr/>
          <p:nvPr/>
        </p:nvSpPr>
        <p:spPr>
          <a:xfrm>
            <a:off x="6254496" y="4087368"/>
            <a:ext cx="2633472" cy="219456"/>
          </a:xfrm>
          <a:prstGeom prst="rect">
            <a:avLst/>
          </a:prstGeom>
          <a:noFill/>
          <a:ln/>
        </p:spPr>
        <p:txBody>
          <a:bodyPr wrap="square" lIns="0" tIns="0" rIns="0" bIns="0" rtlCol="0" anchor="ctr"/>
          <a:lstStyle/>
          <a:p>
            <a:pPr marL="0" indent="0" algn="ctr">
              <a:buNone/>
            </a:pPr>
            <a:r>
              <a:rPr lang="en-US" sz="1000" b="1" dirty="0">
                <a:solidFill>
                  <a:srgbClr val="C2410C"/>
                </a:solidFill>
                <a:latin typeface="Calibri" pitchFamily="34" charset="0"/>
                <a:ea typeface="Calibri" pitchFamily="34" charset="-122"/>
                <a:cs typeface="Calibri" pitchFamily="34" charset="-120"/>
              </a:rPr>
              <a:t>Only 50% Delivered</a:t>
            </a:r>
            <a:endParaRPr lang="en-US" sz="1000" dirty="0"/>
          </a:p>
        </p:txBody>
      </p:sp>
      <p:sp>
        <p:nvSpPr>
          <p:cNvPr id="18" name="Text 14"/>
          <p:cNvSpPr/>
          <p:nvPr/>
        </p:nvSpPr>
        <p:spPr>
          <a:xfrm>
            <a:off x="6254496" y="4297680"/>
            <a:ext cx="2633472" cy="603504"/>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Just 250 orders (50%) delivered. Industry benchmark is &gt;95%. Gap of 45 percentage points.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Revenue &amp; Category Analysis </a:t>
            </a:r>
            <a:endParaRPr lang="en-US" sz="1700" dirty="0"/>
          </a:p>
        </p:txBody>
      </p:sp>
      <p:graphicFrame>
        <p:nvGraphicFramePr>
          <p:cNvPr id="5" name="Chart 0"/>
          <p:cNvGraphicFramePr/>
          <p:nvPr>
            <p:extLst>
              <p:ext uri="{D42A27DB-BD31-4B8C-83A1-F6EECF244321}">
                <p14:modId xmlns:p14="http://schemas.microsoft.com/office/powerpoint/2010/main" val="4172753216"/>
              </p:ext>
            </p:extLst>
          </p:nvPr>
        </p:nvGraphicFramePr>
        <p:xfrm>
          <a:off x="256032" y="100584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59552" y="1005840"/>
            <a:ext cx="3328416" cy="10241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7" name="Shape 4"/>
          <p:cNvSpPr/>
          <p:nvPr/>
        </p:nvSpPr>
        <p:spPr>
          <a:xfrm>
            <a:off x="5559552" y="1005840"/>
            <a:ext cx="54864" cy="1024128"/>
          </a:xfrm>
          <a:prstGeom prst="rect">
            <a:avLst/>
          </a:prstGeom>
          <a:solidFill>
            <a:srgbClr val="1F4E79"/>
          </a:solidFill>
          <a:ln w="12700">
            <a:solidFill>
              <a:srgbClr val="1F4E79"/>
            </a:solidFill>
            <a:prstDash val="solid"/>
          </a:ln>
        </p:spPr>
      </p:sp>
      <p:sp>
        <p:nvSpPr>
          <p:cNvPr id="8" name="Text 5"/>
          <p:cNvSpPr/>
          <p:nvPr/>
        </p:nvSpPr>
        <p:spPr>
          <a:xfrm>
            <a:off x="5705856" y="1097280"/>
            <a:ext cx="3127248" cy="237744"/>
          </a:xfrm>
          <a:prstGeom prst="rect">
            <a:avLst/>
          </a:prstGeom>
          <a:noFill/>
          <a:ln/>
        </p:spPr>
        <p:txBody>
          <a:bodyPr wrap="square" lIns="0" tIns="0" rIns="0" bIns="0" rtlCol="0" anchor="ctr"/>
          <a:lstStyle/>
          <a:p>
            <a:pPr marL="0" indent="0">
              <a:buNone/>
            </a:pPr>
            <a:r>
              <a:rPr lang="en-US" sz="1050" b="1" dirty="0">
                <a:solidFill>
                  <a:srgbClr val="1F4E79"/>
                </a:solidFill>
                <a:latin typeface="Calibri" pitchFamily="34" charset="0"/>
                <a:ea typeface="Calibri" pitchFamily="34" charset="-122"/>
                <a:cs typeface="Calibri" pitchFamily="34" charset="-120"/>
              </a:rPr>
              <a:t>Electronics Dominates at 73%</a:t>
            </a:r>
            <a:endParaRPr lang="en-US" sz="1050" dirty="0"/>
          </a:p>
        </p:txBody>
      </p:sp>
      <p:sp>
        <p:nvSpPr>
          <p:cNvPr id="9" name="Text 6"/>
          <p:cNvSpPr/>
          <p:nvPr/>
        </p:nvSpPr>
        <p:spPr>
          <a:xfrm>
            <a:off x="5705856" y="1335024"/>
            <a:ext cx="3127248" cy="621792"/>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Electronics generates $2.8M — 73.3% of the total $3.88M revenue. Raw Material is a distant second at $665.93K (17.2%).</a:t>
            </a:r>
            <a:endParaRPr lang="en-US" sz="900" dirty="0"/>
          </a:p>
        </p:txBody>
      </p:sp>
      <p:sp>
        <p:nvSpPr>
          <p:cNvPr id="14" name="Shape 11"/>
          <p:cNvSpPr/>
          <p:nvPr/>
        </p:nvSpPr>
        <p:spPr>
          <a:xfrm>
            <a:off x="5559552" y="2304288"/>
            <a:ext cx="3328416" cy="10241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5" name="Shape 12"/>
          <p:cNvSpPr/>
          <p:nvPr/>
        </p:nvSpPr>
        <p:spPr>
          <a:xfrm>
            <a:off x="5559552" y="2304288"/>
            <a:ext cx="54864" cy="1024128"/>
          </a:xfrm>
          <a:prstGeom prst="rect">
            <a:avLst/>
          </a:prstGeom>
          <a:solidFill>
            <a:srgbClr val="0E7490"/>
          </a:solidFill>
          <a:ln w="12700">
            <a:solidFill>
              <a:srgbClr val="0E7490"/>
            </a:solidFill>
            <a:prstDash val="solid"/>
          </a:ln>
        </p:spPr>
      </p:sp>
      <p:sp>
        <p:nvSpPr>
          <p:cNvPr id="16" name="Text 13"/>
          <p:cNvSpPr/>
          <p:nvPr/>
        </p:nvSpPr>
        <p:spPr>
          <a:xfrm>
            <a:off x="5705856" y="2395728"/>
            <a:ext cx="3127248" cy="237744"/>
          </a:xfrm>
          <a:prstGeom prst="rect">
            <a:avLst/>
          </a:prstGeom>
          <a:noFill/>
          <a:ln/>
        </p:spPr>
        <p:txBody>
          <a:bodyPr wrap="square" lIns="0" tIns="0" rIns="0" bIns="0" rtlCol="0" anchor="ctr"/>
          <a:lstStyle/>
          <a:p>
            <a:pPr marL="0" indent="0">
              <a:buNone/>
            </a:pPr>
            <a:r>
              <a:rPr lang="en-US" sz="1050" b="1" dirty="0">
                <a:solidFill>
                  <a:srgbClr val="0E7490"/>
                </a:solidFill>
                <a:latin typeface="Calibri" pitchFamily="34" charset="0"/>
                <a:ea typeface="Calibri" pitchFamily="34" charset="-122"/>
                <a:cs typeface="Calibri" pitchFamily="34" charset="-120"/>
              </a:rPr>
              <a:t>Circuit Boards Top Product</a:t>
            </a:r>
            <a:endParaRPr lang="en-US" sz="1050" dirty="0"/>
          </a:p>
        </p:txBody>
      </p:sp>
      <p:sp>
        <p:nvSpPr>
          <p:cNvPr id="17" name="Text 14"/>
          <p:cNvSpPr/>
          <p:nvPr/>
        </p:nvSpPr>
        <p:spPr>
          <a:xfrm>
            <a:off x="5705856" y="2633472"/>
            <a:ext cx="3127248" cy="621792"/>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Circuit Boards are the highest revenue product at $1.2M (0.8M + 0.4M), followed by LED Displays at $0.9M.</a:t>
            </a:r>
            <a:endParaRPr lang="en-US" sz="900" dirty="0"/>
          </a:p>
        </p:txBody>
      </p:sp>
      <p:sp>
        <p:nvSpPr>
          <p:cNvPr id="18" name="Shape 15"/>
          <p:cNvSpPr/>
          <p:nvPr/>
        </p:nvSpPr>
        <p:spPr>
          <a:xfrm>
            <a:off x="256032" y="4133088"/>
            <a:ext cx="8631936" cy="786384"/>
          </a:xfrm>
          <a:prstGeom prst="rect">
            <a:avLst/>
          </a:prstGeom>
          <a:solidFill>
            <a:srgbClr val="F0F7FF"/>
          </a:solidFill>
          <a:ln w="12700">
            <a:solidFill>
              <a:srgbClr val="CBD5E1"/>
            </a:solidFill>
            <a:prstDash val="solid"/>
          </a:ln>
        </p:spPr>
      </p:sp>
      <p:sp>
        <p:nvSpPr>
          <p:cNvPr id="19" name="Text 16"/>
          <p:cNvSpPr/>
          <p:nvPr/>
        </p:nvSpPr>
        <p:spPr>
          <a:xfrm>
            <a:off x="384048" y="3867912"/>
            <a:ext cx="4572000" cy="237744"/>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Additional Findings</a:t>
            </a:r>
            <a:endParaRPr lang="en-US" sz="1000" dirty="0"/>
          </a:p>
        </p:txBody>
      </p:sp>
      <p:sp>
        <p:nvSpPr>
          <p:cNvPr id="20" name="Text 17"/>
          <p:cNvSpPr/>
          <p:nvPr/>
        </p:nvSpPr>
        <p:spPr>
          <a:xfrm>
            <a:off x="384048" y="4133088"/>
            <a:ext cx="4114800"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Hardware is the lowest-performing category at $32.30K — just 0.8% of total revenue</a:t>
            </a:r>
            <a:endParaRPr lang="en-US" sz="900" dirty="0"/>
          </a:p>
        </p:txBody>
      </p:sp>
      <p:sp>
        <p:nvSpPr>
          <p:cNvPr id="21" name="Text 18"/>
          <p:cNvSpPr/>
          <p:nvPr/>
        </p:nvSpPr>
        <p:spPr>
          <a:xfrm>
            <a:off x="4681728" y="4133088"/>
            <a:ext cx="4114800"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Chemicals ($102.18K) and Components ($38.71K) are also under-performing categories</a:t>
            </a:r>
            <a:endParaRPr lang="en-US" sz="900" dirty="0"/>
          </a:p>
        </p:txBody>
      </p:sp>
      <p:sp>
        <p:nvSpPr>
          <p:cNvPr id="22" name="Text 19"/>
          <p:cNvSpPr/>
          <p:nvPr/>
        </p:nvSpPr>
        <p:spPr>
          <a:xfrm>
            <a:off x="384048" y="4480560"/>
            <a:ext cx="4114800"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Total revenue across all 500 orders = $3.88M over the full 2023–2024 period</a:t>
            </a:r>
            <a:endParaRPr lang="en-US" sz="900" dirty="0"/>
          </a:p>
        </p:txBody>
      </p:sp>
      <p:sp>
        <p:nvSpPr>
          <p:cNvPr id="23" name="Text 20"/>
          <p:cNvSpPr/>
          <p:nvPr/>
        </p:nvSpPr>
        <p:spPr>
          <a:xfrm>
            <a:off x="4681728" y="4480560"/>
            <a:ext cx="4114800" cy="34747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  Average delay of 5 days per delayed order across 184 delayed orders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Supplier Performance</a:t>
            </a:r>
            <a:endParaRPr lang="en-US" sz="1700" dirty="0"/>
          </a:p>
        </p:txBody>
      </p:sp>
      <p:graphicFrame>
        <p:nvGraphicFramePr>
          <p:cNvPr id="5" name="Chart 0"/>
          <p:cNvGraphicFramePr/>
          <p:nvPr>
            <p:extLst>
              <p:ext uri="{D42A27DB-BD31-4B8C-83A1-F6EECF244321}">
                <p14:modId xmlns:p14="http://schemas.microsoft.com/office/powerpoint/2010/main" val="1017037656"/>
              </p:ext>
            </p:extLst>
          </p:nvPr>
        </p:nvGraphicFramePr>
        <p:xfrm>
          <a:off x="256032" y="1005840"/>
          <a:ext cx="512064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105126492"/>
              </p:ext>
            </p:extLst>
          </p:nvPr>
        </p:nvGraphicFramePr>
        <p:xfrm>
          <a:off x="5482001" y="1218272"/>
          <a:ext cx="3218688" cy="2266299"/>
        </p:xfrm>
        <a:graphic>
          <a:graphicData uri="http://schemas.openxmlformats.org/drawingml/2006/table">
            <a:tbl>
              <a:tblPr/>
              <a:tblGrid>
                <a:gridCol w="146304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658368">
                  <a:extLst>
                    <a:ext uri="{9D8B030D-6E8A-4147-A177-3AD203B41FA5}">
                      <a16:colId xmlns:a16="http://schemas.microsoft.com/office/drawing/2014/main" val="20003"/>
                    </a:ext>
                  </a:extLst>
                </a:gridCol>
                <a:gridCol w="530352">
                  <a:extLst>
                    <a:ext uri="{9D8B030D-6E8A-4147-A177-3AD203B41FA5}">
                      <a16:colId xmlns:a16="http://schemas.microsoft.com/office/drawing/2014/main" val="20004"/>
                    </a:ext>
                  </a:extLst>
                </a:gridCol>
              </a:tblGrid>
              <a:tr h="387313">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Supplier</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4E79"/>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OTDR %</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4E79"/>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Avg Lead (days)</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4E79"/>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2714">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PrimeMaterials Corp</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29.41</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25.40</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166534"/>
                          </a:solidFill>
                          <a:latin typeface="Calibri" pitchFamily="34" charset="0"/>
                          <a:ea typeface="Calibri" pitchFamily="34" charset="-122"/>
                          <a:cs typeface="Calibri" pitchFamily="34" charset="-120"/>
                        </a:rPr>
                        <a:t>🥇 Best OTDR</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48943">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EuroParts GmbH</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29.31</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25.66</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0E7490"/>
                          </a:solidFill>
                          <a:latin typeface="Calibri" pitchFamily="34" charset="0"/>
                          <a:ea typeface="Calibri" pitchFamily="34" charset="-122"/>
                          <a:cs typeface="Calibri" pitchFamily="34" charset="-120"/>
                        </a:rPr>
                        <a:t>🥈 2nd</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48943">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TechSource Inc</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28.00</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22.86</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0E7490"/>
                          </a:solidFill>
                          <a:latin typeface="Calibri" pitchFamily="34" charset="0"/>
                          <a:ea typeface="Calibri" pitchFamily="34" charset="-122"/>
                          <a:cs typeface="Calibri" pitchFamily="34" charset="-120"/>
                        </a:rPr>
                        <a:t>🥉 3rd</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48943">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AsiaTrade Co</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27.08</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26.97</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C2410C"/>
                          </a:solidFill>
                          <a:latin typeface="Calibri" pitchFamily="34" charset="0"/>
                          <a:ea typeface="Calibri" pitchFamily="34" charset="-122"/>
                          <a:cs typeface="Calibri" pitchFamily="34" charset="-120"/>
                        </a:rPr>
                        <a:t>🔴 Weak</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48943">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GlobalParts Ltd</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16.28</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25.75</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991B1B"/>
                          </a:solidFill>
                          <a:latin typeface="Calibri" pitchFamily="34" charset="0"/>
                          <a:ea typeface="Calibri" pitchFamily="34" charset="-122"/>
                          <a:cs typeface="Calibri" pitchFamily="34" charset="-120"/>
                        </a:rPr>
                        <a:t>🔴 WORST</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3"/>
          <p:cNvSpPr/>
          <p:nvPr/>
        </p:nvSpPr>
        <p:spPr>
          <a:xfrm>
            <a:off x="256032" y="3730752"/>
            <a:ext cx="2779776" cy="1234440"/>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8" name="Text 4"/>
          <p:cNvSpPr/>
          <p:nvPr/>
        </p:nvSpPr>
        <p:spPr>
          <a:xfrm>
            <a:off x="256032"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6" name="Text 5"/>
          <p:cNvSpPr/>
          <p:nvPr/>
        </p:nvSpPr>
        <p:spPr>
          <a:xfrm>
            <a:off x="329184" y="4114800"/>
            <a:ext cx="2633472" cy="219456"/>
          </a:xfrm>
          <a:prstGeom prst="rect">
            <a:avLst/>
          </a:prstGeom>
          <a:noFill/>
          <a:ln/>
        </p:spPr>
        <p:txBody>
          <a:bodyPr wrap="square" lIns="0" tIns="0" rIns="0" bIns="0" rtlCol="0" anchor="ctr"/>
          <a:lstStyle/>
          <a:p>
            <a:pPr marL="0" indent="0" algn="ctr">
              <a:buNone/>
            </a:pPr>
            <a:r>
              <a:rPr lang="en-US" sz="1000" b="1" dirty="0">
                <a:solidFill>
                  <a:srgbClr val="991B1B"/>
                </a:solidFill>
                <a:latin typeface="Calibri" pitchFamily="34" charset="0"/>
                <a:ea typeface="Calibri" pitchFamily="34" charset="-122"/>
                <a:cs typeface="Calibri" pitchFamily="34" charset="-120"/>
              </a:rPr>
              <a:t>ALL OTDRs Below 30%</a:t>
            </a:r>
            <a:endParaRPr lang="en-US" sz="1000" dirty="0"/>
          </a:p>
        </p:txBody>
      </p:sp>
      <p:sp>
        <p:nvSpPr>
          <p:cNvPr id="10" name="Text 6"/>
          <p:cNvSpPr/>
          <p:nvPr/>
        </p:nvSpPr>
        <p:spPr>
          <a:xfrm>
            <a:off x="329184" y="4325112"/>
            <a:ext cx="2633472" cy="576072"/>
          </a:xfrm>
          <a:prstGeom prst="rect">
            <a:avLst/>
          </a:prstGeom>
          <a:noFill/>
          <a:ln/>
        </p:spPr>
        <p:txBody>
          <a:bodyPr wrap="square" lIns="0" tIns="0" rIns="0" bIns="0" rtlCol="0" anchor="t"/>
          <a:lstStyle/>
          <a:p>
            <a:pPr algn="ctr"/>
            <a:r>
              <a:rPr lang="en-US" sz="850" dirty="0">
                <a:solidFill>
                  <a:srgbClr val="334155"/>
                </a:solidFill>
                <a:latin typeface="Calibri" pitchFamily="34" charset="0"/>
                <a:ea typeface="Calibri" pitchFamily="34" charset="-122"/>
                <a:cs typeface="Calibri" pitchFamily="34" charset="-120"/>
              </a:rPr>
              <a:t>There is a 60%+ gap between supplier OTDR and actual OTDR</a:t>
            </a:r>
          </a:p>
        </p:txBody>
      </p:sp>
      <p:sp>
        <p:nvSpPr>
          <p:cNvPr id="11" name="Shape 7"/>
          <p:cNvSpPr/>
          <p:nvPr/>
        </p:nvSpPr>
        <p:spPr>
          <a:xfrm>
            <a:off x="3218688" y="3730752"/>
            <a:ext cx="2779776" cy="1234440"/>
          </a:xfrm>
          <a:prstGeom prst="rect">
            <a:avLst/>
          </a:prstGeom>
          <a:solidFill>
            <a:srgbClr val="FFF7ED"/>
          </a:solidFill>
          <a:ln w="12700">
            <a:solidFill>
              <a:srgbClr val="C2410C"/>
            </a:solidFill>
            <a:prstDash val="solid"/>
          </a:ln>
          <a:effectLst>
            <a:outerShdw blurRad="101600" dist="38100" dir="8100000" algn="bl" rotWithShape="0">
              <a:srgbClr val="000000">
                <a:alpha val="10000"/>
              </a:srgbClr>
            </a:outerShdw>
          </a:effectLst>
        </p:spPr>
      </p:sp>
      <p:sp>
        <p:nvSpPr>
          <p:cNvPr id="12" name="Text 8"/>
          <p:cNvSpPr/>
          <p:nvPr/>
        </p:nvSpPr>
        <p:spPr>
          <a:xfrm>
            <a:off x="3218688"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9"/>
          <p:cNvSpPr/>
          <p:nvPr/>
        </p:nvSpPr>
        <p:spPr>
          <a:xfrm>
            <a:off x="3291840" y="4114800"/>
            <a:ext cx="2633472" cy="219456"/>
          </a:xfrm>
          <a:prstGeom prst="rect">
            <a:avLst/>
          </a:prstGeom>
          <a:noFill/>
          <a:ln/>
        </p:spPr>
        <p:txBody>
          <a:bodyPr wrap="square" lIns="0" tIns="0" rIns="0" bIns="0" rtlCol="0" anchor="ctr"/>
          <a:lstStyle/>
          <a:p>
            <a:pPr marL="0" indent="0" algn="ctr">
              <a:buNone/>
            </a:pPr>
            <a:r>
              <a:rPr lang="en-US" sz="1000" b="1" dirty="0">
                <a:solidFill>
                  <a:srgbClr val="C2410C"/>
                </a:solidFill>
                <a:latin typeface="Calibri" pitchFamily="34" charset="0"/>
                <a:ea typeface="Calibri" pitchFamily="34" charset="-122"/>
                <a:cs typeface="Calibri" pitchFamily="34" charset="-120"/>
              </a:rPr>
              <a:t>GlobalParts Worst: 16.28%</a:t>
            </a:r>
            <a:endParaRPr lang="en-US" sz="1000" dirty="0"/>
          </a:p>
        </p:txBody>
      </p:sp>
      <p:sp>
        <p:nvSpPr>
          <p:cNvPr id="14" name="Text 10"/>
          <p:cNvSpPr/>
          <p:nvPr/>
        </p:nvSpPr>
        <p:spPr>
          <a:xfrm>
            <a:off x="3291840" y="4325112"/>
            <a:ext cx="2633472" cy="576072"/>
          </a:xfrm>
          <a:prstGeom prst="rect">
            <a:avLst/>
          </a:prstGeom>
          <a:noFill/>
          <a:ln/>
        </p:spPr>
        <p:txBody>
          <a:bodyPr wrap="square" lIns="0" tIns="0" rIns="0" bIns="0" rtlCol="0" anchor="t"/>
          <a:lstStyle/>
          <a:p>
            <a:pPr algn="ctr"/>
            <a:r>
              <a:rPr lang="en-US" sz="850" dirty="0">
                <a:solidFill>
                  <a:srgbClr val="334155"/>
                </a:solidFill>
                <a:latin typeface="Calibri" pitchFamily="34" charset="0"/>
                <a:ea typeface="Calibri" pitchFamily="34" charset="-122"/>
                <a:cs typeface="Calibri" pitchFamily="34" charset="-120"/>
              </a:rPr>
              <a:t>Logistics or internal delays are the main issue </a:t>
            </a:r>
          </a:p>
          <a:p>
            <a:pPr marL="0" indent="0" algn="ctr">
              <a:buNone/>
            </a:pPr>
            <a:r>
              <a:rPr lang="en-US" sz="850" dirty="0">
                <a:solidFill>
                  <a:srgbClr val="334155"/>
                </a:solidFill>
                <a:latin typeface="Calibri" pitchFamily="34" charset="0"/>
                <a:ea typeface="Calibri" pitchFamily="34" charset="-122"/>
                <a:cs typeface="Calibri" pitchFamily="34" charset="-120"/>
              </a:rPr>
              <a:t>.</a:t>
            </a:r>
            <a:endParaRPr lang="en-US" sz="850" dirty="0"/>
          </a:p>
        </p:txBody>
      </p:sp>
      <p:sp>
        <p:nvSpPr>
          <p:cNvPr id="15" name="Shape 11"/>
          <p:cNvSpPr/>
          <p:nvPr/>
        </p:nvSpPr>
        <p:spPr>
          <a:xfrm>
            <a:off x="6181344" y="3730752"/>
            <a:ext cx="2779776" cy="1234440"/>
          </a:xfrm>
          <a:prstGeom prst="rect">
            <a:avLst/>
          </a:prstGeom>
          <a:solidFill>
            <a:srgbClr val="F0F7FF"/>
          </a:solidFill>
          <a:ln w="12700">
            <a:solidFill>
              <a:srgbClr val="1F4E79"/>
            </a:solidFill>
            <a:prstDash val="solid"/>
          </a:ln>
          <a:effectLst>
            <a:outerShdw blurRad="101600" dist="38100" dir="8100000" algn="bl" rotWithShape="0">
              <a:srgbClr val="000000">
                <a:alpha val="10000"/>
              </a:srgbClr>
            </a:outerShdw>
          </a:effectLst>
        </p:spPr>
      </p:sp>
      <p:sp>
        <p:nvSpPr>
          <p:cNvPr id="16" name="Text 12"/>
          <p:cNvSpPr/>
          <p:nvPr/>
        </p:nvSpPr>
        <p:spPr>
          <a:xfrm>
            <a:off x="6181344"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3"/>
          <p:cNvSpPr/>
          <p:nvPr/>
        </p:nvSpPr>
        <p:spPr>
          <a:xfrm>
            <a:off x="6254496" y="4114800"/>
            <a:ext cx="2633472" cy="219456"/>
          </a:xfrm>
          <a:prstGeom prst="rect">
            <a:avLst/>
          </a:prstGeom>
          <a:noFill/>
          <a:ln/>
        </p:spPr>
        <p:txBody>
          <a:bodyPr wrap="square" lIns="0" tIns="0" rIns="0" bIns="0" rtlCol="0" anchor="ctr"/>
          <a:lstStyle/>
          <a:p>
            <a:pPr marL="0" indent="0" algn="ctr">
              <a:buNone/>
            </a:pPr>
            <a:r>
              <a:rPr lang="en-US" sz="1000" b="1" dirty="0">
                <a:solidFill>
                  <a:srgbClr val="1F4E79"/>
                </a:solidFill>
                <a:latin typeface="Calibri" pitchFamily="34" charset="0"/>
                <a:ea typeface="Calibri" pitchFamily="34" charset="-122"/>
                <a:cs typeface="Calibri" pitchFamily="34" charset="-120"/>
              </a:rPr>
              <a:t>Lead Times 23–27 Days</a:t>
            </a:r>
            <a:endParaRPr lang="en-US" sz="1000" dirty="0"/>
          </a:p>
        </p:txBody>
      </p:sp>
      <p:sp>
        <p:nvSpPr>
          <p:cNvPr id="18" name="Text 14"/>
          <p:cNvSpPr/>
          <p:nvPr/>
        </p:nvSpPr>
        <p:spPr>
          <a:xfrm>
            <a:off x="6254496"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All suppliers have avg lead time of 22.86–26.97 days vs target of &lt;10 days. This explains the OTDR failures.</a:t>
            </a:r>
            <a:endParaRPr lang="en-US" sz="850" dirty="0"/>
          </a:p>
        </p:txBody>
      </p:sp>
      <p:sp>
        <p:nvSpPr>
          <p:cNvPr id="19" name="Text 2">
            <a:extLst>
              <a:ext uri="{FF2B5EF4-FFF2-40B4-BE49-F238E27FC236}">
                <a16:creationId xmlns:a16="http://schemas.microsoft.com/office/drawing/2014/main" id="{DBEB78BE-B733-77D2-68A8-C0D157E3FEB8}"/>
              </a:ext>
            </a:extLst>
          </p:cNvPr>
          <p:cNvSpPr/>
          <p:nvPr/>
        </p:nvSpPr>
        <p:spPr>
          <a:xfrm>
            <a:off x="2144614" y="658368"/>
            <a:ext cx="1918099" cy="292608"/>
          </a:xfrm>
          <a:prstGeom prst="rect">
            <a:avLst/>
          </a:prstGeom>
          <a:noFill/>
          <a:ln/>
        </p:spPr>
        <p:txBody>
          <a:bodyPr wrap="square" lIns="0" tIns="0" rIns="0" bIns="0" rtlCol="0" anchor="ctr"/>
          <a:lstStyle/>
          <a:p>
            <a:pPr marL="0" indent="0">
              <a:buNone/>
            </a:pPr>
            <a:r>
              <a:rPr lang="en-US" sz="1000" i="1" dirty="0">
                <a:solidFill>
                  <a:srgbClr val="0E7490"/>
                </a:solidFill>
                <a:latin typeface="Calibri" pitchFamily="34" charset="0"/>
                <a:ea typeface="Calibri" pitchFamily="34" charset="-122"/>
                <a:cs typeface="Calibri" pitchFamily="34" charset="-120"/>
              </a:rPr>
              <a:t>From Supplier Performance Data</a:t>
            </a:r>
            <a:endParaRPr lang="en-US" sz="1000" dirty="0"/>
          </a:p>
        </p:txBody>
      </p:sp>
      <p:sp>
        <p:nvSpPr>
          <p:cNvPr id="20" name="Text 2">
            <a:extLst>
              <a:ext uri="{FF2B5EF4-FFF2-40B4-BE49-F238E27FC236}">
                <a16:creationId xmlns:a16="http://schemas.microsoft.com/office/drawing/2014/main" id="{8292F6B2-675B-42BA-FD2A-F5DD68C6A501}"/>
              </a:ext>
            </a:extLst>
          </p:cNvPr>
          <p:cNvSpPr/>
          <p:nvPr/>
        </p:nvSpPr>
        <p:spPr>
          <a:xfrm>
            <a:off x="6463708" y="664676"/>
            <a:ext cx="1636082" cy="292608"/>
          </a:xfrm>
          <a:prstGeom prst="rect">
            <a:avLst/>
          </a:prstGeom>
          <a:noFill/>
          <a:ln/>
        </p:spPr>
        <p:txBody>
          <a:bodyPr wrap="square" lIns="0" tIns="0" rIns="0" bIns="0" rtlCol="0" anchor="ctr"/>
          <a:lstStyle/>
          <a:p>
            <a:pPr marL="0" indent="0">
              <a:buNone/>
            </a:pPr>
            <a:r>
              <a:rPr lang="en-US" sz="1000" i="1" dirty="0">
                <a:solidFill>
                  <a:srgbClr val="0E7490"/>
                </a:solidFill>
                <a:latin typeface="Calibri" pitchFamily="34" charset="0"/>
                <a:ea typeface="Calibri" pitchFamily="34" charset="-122"/>
                <a:cs typeface="Calibri" pitchFamily="34" charset="-120"/>
              </a:rPr>
              <a:t>From Order 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Inventory Management</a:t>
            </a:r>
            <a:endParaRPr lang="en-US" sz="1700" dirty="0"/>
          </a:p>
        </p:txBody>
      </p:sp>
      <p:graphicFrame>
        <p:nvGraphicFramePr>
          <p:cNvPr id="5" name="Chart 0"/>
          <p:cNvGraphicFramePr/>
          <p:nvPr>
            <p:extLst>
              <p:ext uri="{D42A27DB-BD31-4B8C-83A1-F6EECF244321}">
                <p14:modId xmlns:p14="http://schemas.microsoft.com/office/powerpoint/2010/main" val="2496776776"/>
              </p:ext>
            </p:extLst>
          </p:nvPr>
        </p:nvGraphicFramePr>
        <p:xfrm>
          <a:off x="256032" y="1005840"/>
          <a:ext cx="512064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59552" y="1005840"/>
            <a:ext cx="3328416" cy="5669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7" name="Shape 4"/>
          <p:cNvSpPr/>
          <p:nvPr/>
        </p:nvSpPr>
        <p:spPr>
          <a:xfrm>
            <a:off x="5559552" y="1005840"/>
            <a:ext cx="54864" cy="566928"/>
          </a:xfrm>
          <a:prstGeom prst="rect">
            <a:avLst/>
          </a:prstGeom>
          <a:solidFill>
            <a:srgbClr val="0E7490"/>
          </a:solidFill>
          <a:ln w="12700">
            <a:solidFill>
              <a:srgbClr val="0E7490"/>
            </a:solidFill>
            <a:prstDash val="solid"/>
          </a:ln>
        </p:spPr>
      </p:sp>
      <p:sp>
        <p:nvSpPr>
          <p:cNvPr id="8" name="Text 5"/>
          <p:cNvSpPr/>
          <p:nvPr/>
        </p:nvSpPr>
        <p:spPr>
          <a:xfrm>
            <a:off x="5687568" y="1005840"/>
            <a:ext cx="1920240" cy="56692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Total Inventory Value</a:t>
            </a:r>
            <a:endParaRPr lang="en-US" sz="950" dirty="0"/>
          </a:p>
        </p:txBody>
      </p:sp>
      <p:sp>
        <p:nvSpPr>
          <p:cNvPr id="9" name="Text 6"/>
          <p:cNvSpPr/>
          <p:nvPr/>
        </p:nvSpPr>
        <p:spPr>
          <a:xfrm>
            <a:off x="7223760" y="1005840"/>
            <a:ext cx="1554480" cy="566928"/>
          </a:xfrm>
          <a:prstGeom prst="rect">
            <a:avLst/>
          </a:prstGeom>
          <a:noFill/>
          <a:ln/>
        </p:spPr>
        <p:txBody>
          <a:bodyPr wrap="square" lIns="0" tIns="0" rIns="0" bIns="0" rtlCol="0" anchor="ctr"/>
          <a:lstStyle/>
          <a:p>
            <a:pPr marL="0" indent="0" algn="r">
              <a:buNone/>
            </a:pPr>
            <a:r>
              <a:rPr lang="en-US" sz="1500" b="1" dirty="0">
                <a:solidFill>
                  <a:srgbClr val="0E7490"/>
                </a:solidFill>
                <a:latin typeface="Calibri" pitchFamily="34" charset="0"/>
                <a:ea typeface="Calibri" pitchFamily="34" charset="-122"/>
                <a:cs typeface="Calibri" pitchFamily="34" charset="-120"/>
              </a:rPr>
              <a:t>$832.86K</a:t>
            </a:r>
            <a:endParaRPr lang="en-US" sz="1500" dirty="0"/>
          </a:p>
        </p:txBody>
      </p:sp>
      <p:sp>
        <p:nvSpPr>
          <p:cNvPr id="10" name="Shape 7"/>
          <p:cNvSpPr/>
          <p:nvPr/>
        </p:nvSpPr>
        <p:spPr>
          <a:xfrm>
            <a:off x="5559552" y="1645920"/>
            <a:ext cx="3328416" cy="5669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1" name="Shape 8"/>
          <p:cNvSpPr/>
          <p:nvPr/>
        </p:nvSpPr>
        <p:spPr>
          <a:xfrm>
            <a:off x="5559552" y="1645920"/>
            <a:ext cx="54864" cy="566928"/>
          </a:xfrm>
          <a:prstGeom prst="rect">
            <a:avLst/>
          </a:prstGeom>
          <a:solidFill>
            <a:srgbClr val="C2410C"/>
          </a:solidFill>
          <a:ln w="12700">
            <a:solidFill>
              <a:srgbClr val="C2410C"/>
            </a:solidFill>
            <a:prstDash val="solid"/>
          </a:ln>
        </p:spPr>
      </p:sp>
      <p:sp>
        <p:nvSpPr>
          <p:cNvPr id="12" name="Text 9"/>
          <p:cNvSpPr/>
          <p:nvPr/>
        </p:nvSpPr>
        <p:spPr>
          <a:xfrm>
            <a:off x="5687568" y="1645920"/>
            <a:ext cx="1920240" cy="56692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Stockout Risk Products</a:t>
            </a:r>
            <a:endParaRPr lang="en-US" sz="950" dirty="0"/>
          </a:p>
        </p:txBody>
      </p:sp>
      <p:sp>
        <p:nvSpPr>
          <p:cNvPr id="13" name="Text 10"/>
          <p:cNvSpPr/>
          <p:nvPr/>
        </p:nvSpPr>
        <p:spPr>
          <a:xfrm>
            <a:off x="7223760" y="1645920"/>
            <a:ext cx="1554480" cy="566928"/>
          </a:xfrm>
          <a:prstGeom prst="rect">
            <a:avLst/>
          </a:prstGeom>
          <a:noFill/>
          <a:ln/>
        </p:spPr>
        <p:txBody>
          <a:bodyPr wrap="square" lIns="0" tIns="0" rIns="0" bIns="0" rtlCol="0" anchor="ctr"/>
          <a:lstStyle/>
          <a:p>
            <a:pPr marL="0" indent="0" algn="r">
              <a:buNone/>
            </a:pPr>
            <a:r>
              <a:rPr lang="en-US" sz="1500" b="1" dirty="0">
                <a:solidFill>
                  <a:srgbClr val="C2410C"/>
                </a:solidFill>
                <a:latin typeface="Calibri" pitchFamily="34" charset="0"/>
                <a:ea typeface="Calibri" pitchFamily="34" charset="-122"/>
                <a:cs typeface="Calibri" pitchFamily="34" charset="-120"/>
              </a:rPr>
              <a:t>3 items</a:t>
            </a:r>
            <a:endParaRPr lang="en-US" sz="1500" dirty="0"/>
          </a:p>
        </p:txBody>
      </p:sp>
      <p:sp>
        <p:nvSpPr>
          <p:cNvPr id="14" name="Shape 11"/>
          <p:cNvSpPr/>
          <p:nvPr/>
        </p:nvSpPr>
        <p:spPr>
          <a:xfrm>
            <a:off x="5559552" y="2286000"/>
            <a:ext cx="3328416" cy="5669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5" name="Shape 12"/>
          <p:cNvSpPr/>
          <p:nvPr/>
        </p:nvSpPr>
        <p:spPr>
          <a:xfrm>
            <a:off x="5559552" y="2286000"/>
            <a:ext cx="54864" cy="566928"/>
          </a:xfrm>
          <a:prstGeom prst="rect">
            <a:avLst/>
          </a:prstGeom>
          <a:solidFill>
            <a:srgbClr val="991B1B"/>
          </a:solidFill>
          <a:ln w="12700">
            <a:solidFill>
              <a:srgbClr val="991B1B"/>
            </a:solidFill>
            <a:prstDash val="solid"/>
          </a:ln>
        </p:spPr>
      </p:sp>
      <p:sp>
        <p:nvSpPr>
          <p:cNvPr id="16" name="Text 13"/>
          <p:cNvSpPr/>
          <p:nvPr/>
        </p:nvSpPr>
        <p:spPr>
          <a:xfrm>
            <a:off x="5687568" y="2286000"/>
            <a:ext cx="1920240" cy="56692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Warehouse Utilisation</a:t>
            </a:r>
            <a:endParaRPr lang="en-US" sz="950" dirty="0"/>
          </a:p>
        </p:txBody>
      </p:sp>
      <p:sp>
        <p:nvSpPr>
          <p:cNvPr id="17" name="Text 14"/>
          <p:cNvSpPr/>
          <p:nvPr/>
        </p:nvSpPr>
        <p:spPr>
          <a:xfrm>
            <a:off x="7223760" y="2286000"/>
            <a:ext cx="1554480" cy="566928"/>
          </a:xfrm>
          <a:prstGeom prst="rect">
            <a:avLst/>
          </a:prstGeom>
          <a:noFill/>
          <a:ln/>
        </p:spPr>
        <p:txBody>
          <a:bodyPr wrap="square" lIns="0" tIns="0" rIns="0" bIns="0" rtlCol="0" anchor="ctr"/>
          <a:lstStyle/>
          <a:p>
            <a:pPr marL="0" indent="0" algn="r">
              <a:buNone/>
            </a:pPr>
            <a:r>
              <a:rPr lang="en-US" sz="1500" b="1" dirty="0">
                <a:solidFill>
                  <a:srgbClr val="991B1B"/>
                </a:solidFill>
                <a:latin typeface="Calibri" pitchFamily="34" charset="0"/>
                <a:ea typeface="Calibri" pitchFamily="34" charset="-122"/>
                <a:cs typeface="Calibri" pitchFamily="34" charset="-120"/>
              </a:rPr>
              <a:t>39%</a:t>
            </a:r>
            <a:endParaRPr lang="en-US" sz="1500" dirty="0"/>
          </a:p>
        </p:txBody>
      </p:sp>
      <p:sp>
        <p:nvSpPr>
          <p:cNvPr id="18" name="Shape 15"/>
          <p:cNvSpPr/>
          <p:nvPr/>
        </p:nvSpPr>
        <p:spPr>
          <a:xfrm>
            <a:off x="5559552" y="2926080"/>
            <a:ext cx="3328416" cy="56692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9" name="Shape 16"/>
          <p:cNvSpPr/>
          <p:nvPr/>
        </p:nvSpPr>
        <p:spPr>
          <a:xfrm>
            <a:off x="5559552" y="2926080"/>
            <a:ext cx="54864" cy="566928"/>
          </a:xfrm>
          <a:prstGeom prst="rect">
            <a:avLst/>
          </a:prstGeom>
          <a:solidFill>
            <a:srgbClr val="1F4E79"/>
          </a:solidFill>
          <a:ln w="12700">
            <a:solidFill>
              <a:srgbClr val="1F4E79"/>
            </a:solidFill>
            <a:prstDash val="solid"/>
          </a:ln>
        </p:spPr>
      </p:sp>
      <p:sp>
        <p:nvSpPr>
          <p:cNvPr id="20" name="Text 17"/>
          <p:cNvSpPr/>
          <p:nvPr/>
        </p:nvSpPr>
        <p:spPr>
          <a:xfrm>
            <a:off x="5687568" y="2926080"/>
            <a:ext cx="1920240" cy="56692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Avg Reorder Level</a:t>
            </a:r>
            <a:endParaRPr lang="en-US" sz="950" dirty="0"/>
          </a:p>
        </p:txBody>
      </p:sp>
      <p:sp>
        <p:nvSpPr>
          <p:cNvPr id="21" name="Text 18"/>
          <p:cNvSpPr/>
          <p:nvPr/>
        </p:nvSpPr>
        <p:spPr>
          <a:xfrm>
            <a:off x="7223760" y="2926080"/>
            <a:ext cx="1554480" cy="566928"/>
          </a:xfrm>
          <a:prstGeom prst="rect">
            <a:avLst/>
          </a:prstGeom>
          <a:noFill/>
          <a:ln/>
        </p:spPr>
        <p:txBody>
          <a:bodyPr wrap="square" lIns="0" tIns="0" rIns="0" bIns="0" rtlCol="0" anchor="ctr"/>
          <a:lstStyle/>
          <a:p>
            <a:pPr marL="0" indent="0" algn="r">
              <a:buNone/>
            </a:pPr>
            <a:r>
              <a:rPr lang="en-US" sz="1500" b="1" dirty="0">
                <a:solidFill>
                  <a:srgbClr val="1F4E79"/>
                </a:solidFill>
                <a:latin typeface="Calibri" pitchFamily="34" charset="0"/>
                <a:ea typeface="Calibri" pitchFamily="34" charset="-122"/>
                <a:cs typeface="Calibri" pitchFamily="34" charset="-120"/>
              </a:rPr>
              <a:t>101 units</a:t>
            </a:r>
            <a:endParaRPr lang="en-US" sz="1500" dirty="0"/>
          </a:p>
        </p:txBody>
      </p:sp>
      <p:sp>
        <p:nvSpPr>
          <p:cNvPr id="22" name="Shape 19"/>
          <p:cNvSpPr/>
          <p:nvPr/>
        </p:nvSpPr>
        <p:spPr>
          <a:xfrm>
            <a:off x="256032" y="3730752"/>
            <a:ext cx="2779776" cy="1234440"/>
          </a:xfrm>
          <a:prstGeom prst="rect">
            <a:avLst/>
          </a:prstGeom>
          <a:solidFill>
            <a:srgbClr val="F0F7FF"/>
          </a:solidFill>
          <a:ln w="12700">
            <a:solidFill>
              <a:srgbClr val="1F4E79"/>
            </a:solidFill>
            <a:prstDash val="solid"/>
          </a:ln>
          <a:effectLst>
            <a:outerShdw blurRad="101600" dist="38100" dir="8100000" algn="bl" rotWithShape="0">
              <a:srgbClr val="000000">
                <a:alpha val="10000"/>
              </a:srgbClr>
            </a:outerShdw>
          </a:effectLst>
        </p:spPr>
      </p:sp>
      <p:sp>
        <p:nvSpPr>
          <p:cNvPr id="23" name="Text 20"/>
          <p:cNvSpPr/>
          <p:nvPr/>
        </p:nvSpPr>
        <p:spPr>
          <a:xfrm>
            <a:off x="256032"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1"/>
          <p:cNvSpPr/>
          <p:nvPr/>
        </p:nvSpPr>
        <p:spPr>
          <a:xfrm>
            <a:off x="329184" y="4114800"/>
            <a:ext cx="2633472" cy="219456"/>
          </a:xfrm>
          <a:prstGeom prst="rect">
            <a:avLst/>
          </a:prstGeom>
          <a:noFill/>
          <a:ln/>
        </p:spPr>
        <p:txBody>
          <a:bodyPr wrap="square" lIns="0" tIns="0" rIns="0" bIns="0" rtlCol="0" anchor="ctr"/>
          <a:lstStyle/>
          <a:p>
            <a:pPr marL="0" indent="0" algn="ctr">
              <a:buNone/>
            </a:pPr>
            <a:r>
              <a:rPr lang="en-US" sz="1000" b="1" dirty="0">
                <a:solidFill>
                  <a:srgbClr val="1F4E79"/>
                </a:solidFill>
                <a:latin typeface="Calibri" pitchFamily="34" charset="0"/>
                <a:ea typeface="Calibri" pitchFamily="34" charset="-122"/>
                <a:cs typeface="Calibri" pitchFamily="34" charset="-120"/>
              </a:rPr>
              <a:t>Raw Material Dominates</a:t>
            </a:r>
            <a:endParaRPr lang="en-US" sz="1000" dirty="0"/>
          </a:p>
        </p:txBody>
      </p:sp>
      <p:sp>
        <p:nvSpPr>
          <p:cNvPr id="25" name="Text 22"/>
          <p:cNvSpPr/>
          <p:nvPr/>
        </p:nvSpPr>
        <p:spPr>
          <a:xfrm>
            <a:off x="329184"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Raw Material holds 11K units — the largest inventory. Electronics at 7K is second. Chemicals at 1K is the lowest.</a:t>
            </a:r>
            <a:endParaRPr lang="en-US" sz="850" dirty="0"/>
          </a:p>
        </p:txBody>
      </p:sp>
      <p:sp>
        <p:nvSpPr>
          <p:cNvPr id="26" name="Shape 23"/>
          <p:cNvSpPr/>
          <p:nvPr/>
        </p:nvSpPr>
        <p:spPr>
          <a:xfrm>
            <a:off x="3218688" y="3730752"/>
            <a:ext cx="2779776" cy="1234440"/>
          </a:xfrm>
          <a:prstGeom prst="rect">
            <a:avLst/>
          </a:prstGeom>
          <a:solidFill>
            <a:srgbClr val="FFF7ED"/>
          </a:solidFill>
          <a:ln w="12700">
            <a:solidFill>
              <a:srgbClr val="C2410C"/>
            </a:solidFill>
            <a:prstDash val="solid"/>
          </a:ln>
          <a:effectLst>
            <a:outerShdw blurRad="101600" dist="38100" dir="8100000" algn="bl" rotWithShape="0">
              <a:srgbClr val="000000">
                <a:alpha val="10000"/>
              </a:srgbClr>
            </a:outerShdw>
          </a:effectLst>
        </p:spPr>
      </p:sp>
      <p:sp>
        <p:nvSpPr>
          <p:cNvPr id="27" name="Text 24"/>
          <p:cNvSpPr/>
          <p:nvPr/>
        </p:nvSpPr>
        <p:spPr>
          <a:xfrm>
            <a:off x="3218688"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8" name="Text 25"/>
          <p:cNvSpPr/>
          <p:nvPr/>
        </p:nvSpPr>
        <p:spPr>
          <a:xfrm>
            <a:off x="3291840" y="4114800"/>
            <a:ext cx="2633472" cy="219456"/>
          </a:xfrm>
          <a:prstGeom prst="rect">
            <a:avLst/>
          </a:prstGeom>
          <a:noFill/>
          <a:ln/>
        </p:spPr>
        <p:txBody>
          <a:bodyPr wrap="square" lIns="0" tIns="0" rIns="0" bIns="0" rtlCol="0" anchor="ctr"/>
          <a:lstStyle/>
          <a:p>
            <a:pPr marL="0" indent="0" algn="ctr">
              <a:buNone/>
            </a:pPr>
            <a:r>
              <a:rPr lang="en-US" sz="1000" b="1" dirty="0">
                <a:solidFill>
                  <a:srgbClr val="C2410C"/>
                </a:solidFill>
                <a:latin typeface="Calibri" pitchFamily="34" charset="0"/>
                <a:ea typeface="Calibri" pitchFamily="34" charset="-122"/>
                <a:cs typeface="Calibri" pitchFamily="34" charset="-120"/>
              </a:rPr>
              <a:t>Utilisation Only 39%</a:t>
            </a:r>
            <a:endParaRPr lang="en-US" sz="1000" dirty="0"/>
          </a:p>
        </p:txBody>
      </p:sp>
      <p:sp>
        <p:nvSpPr>
          <p:cNvPr id="29" name="Text 26"/>
          <p:cNvSpPr/>
          <p:nvPr/>
        </p:nvSpPr>
        <p:spPr>
          <a:xfrm>
            <a:off x="3291840"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Warehouse utilisation is 39% — well below the 60–85% optimal range. Warehouses are significantly underloaded.</a:t>
            </a:r>
            <a:endParaRPr lang="en-US" sz="850" dirty="0"/>
          </a:p>
        </p:txBody>
      </p:sp>
      <p:sp>
        <p:nvSpPr>
          <p:cNvPr id="30" name="Shape 27"/>
          <p:cNvSpPr/>
          <p:nvPr/>
        </p:nvSpPr>
        <p:spPr>
          <a:xfrm>
            <a:off x="6181344" y="3730752"/>
            <a:ext cx="2779776" cy="1234440"/>
          </a:xfrm>
          <a:prstGeom prst="rect">
            <a:avLst/>
          </a:prstGeom>
          <a:solidFill>
            <a:srgbClr val="F0FDF4"/>
          </a:solidFill>
          <a:ln w="12700">
            <a:solidFill>
              <a:srgbClr val="166534"/>
            </a:solidFill>
            <a:prstDash val="solid"/>
          </a:ln>
          <a:effectLst>
            <a:outerShdw blurRad="101600" dist="38100" dir="8100000" algn="bl" rotWithShape="0">
              <a:srgbClr val="000000">
                <a:alpha val="10000"/>
              </a:srgbClr>
            </a:outerShdw>
          </a:effectLst>
        </p:spPr>
      </p:sp>
      <p:sp>
        <p:nvSpPr>
          <p:cNvPr id="31" name="Text 28"/>
          <p:cNvSpPr/>
          <p:nvPr/>
        </p:nvSpPr>
        <p:spPr>
          <a:xfrm>
            <a:off x="6181344"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29"/>
          <p:cNvSpPr/>
          <p:nvPr/>
        </p:nvSpPr>
        <p:spPr>
          <a:xfrm>
            <a:off x="6254496" y="4114800"/>
            <a:ext cx="2633472" cy="219456"/>
          </a:xfrm>
          <a:prstGeom prst="rect">
            <a:avLst/>
          </a:prstGeom>
          <a:noFill/>
          <a:ln/>
        </p:spPr>
        <p:txBody>
          <a:bodyPr wrap="square" lIns="0" tIns="0" rIns="0" bIns="0" rtlCol="0" anchor="ctr"/>
          <a:lstStyle/>
          <a:p>
            <a:pPr marL="0" indent="0" algn="ctr">
              <a:buNone/>
            </a:pPr>
            <a:r>
              <a:rPr lang="en-US" sz="1000" b="1" dirty="0">
                <a:solidFill>
                  <a:srgbClr val="166534"/>
                </a:solidFill>
                <a:latin typeface="Calibri" pitchFamily="34" charset="0"/>
                <a:ea typeface="Calibri" pitchFamily="34" charset="-122"/>
                <a:cs typeface="Calibri" pitchFamily="34" charset="-120"/>
              </a:rPr>
              <a:t>Low Stockout Risk</a:t>
            </a:r>
            <a:endParaRPr lang="en-US" sz="1000" dirty="0"/>
          </a:p>
        </p:txBody>
      </p:sp>
      <p:sp>
        <p:nvSpPr>
          <p:cNvPr id="33" name="Text 30"/>
          <p:cNvSpPr/>
          <p:nvPr/>
        </p:nvSpPr>
        <p:spPr>
          <a:xfrm>
            <a:off x="6254496"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Only 3 products face stockout risk — a positive finding. Avg reorder level is 101 units, giving reasonable safety buffer.</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Shipment &amp; Logistics</a:t>
            </a:r>
            <a:endParaRPr lang="en-US" sz="1700" dirty="0"/>
          </a:p>
        </p:txBody>
      </p:sp>
      <p:graphicFrame>
        <p:nvGraphicFramePr>
          <p:cNvPr id="5" name="Chart 0"/>
          <p:cNvGraphicFramePr/>
          <p:nvPr>
            <p:extLst>
              <p:ext uri="{D42A27DB-BD31-4B8C-83A1-F6EECF244321}">
                <p14:modId xmlns:p14="http://schemas.microsoft.com/office/powerpoint/2010/main" val="971860023"/>
              </p:ext>
            </p:extLst>
          </p:nvPr>
        </p:nvGraphicFramePr>
        <p:xfrm>
          <a:off x="256032" y="1005840"/>
          <a:ext cx="512064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3882862966"/>
              </p:ext>
            </p:extLst>
          </p:nvPr>
        </p:nvGraphicFramePr>
        <p:xfrm>
          <a:off x="5559552" y="1005840"/>
          <a:ext cx="3328416" cy="2606040"/>
        </p:xfrm>
        <a:graphic>
          <a:graphicData uri="http://schemas.openxmlformats.org/drawingml/2006/table">
            <a:tbl>
              <a:tblPr/>
              <a:tblGrid>
                <a:gridCol w="166420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tblGrid>
              <a:tr h="43434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Carrier</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6B21A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Delay Rate</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6B21A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6B21A8"/>
                    </a:solidFill>
                  </a:tcPr>
                </a:tc>
                <a:extLst>
                  <a:ext uri="{0D108BD9-81ED-4DB2-BD59-A6C34878D82A}">
                    <a16:rowId xmlns:a16="http://schemas.microsoft.com/office/drawing/2014/main" val="10000"/>
                  </a:ext>
                </a:extLst>
              </a:tr>
              <a:tr h="43434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DHL Supply Chain</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40 (Highest)</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991B1B"/>
                          </a:solidFill>
                          <a:latin typeface="Calibri" pitchFamily="34" charset="0"/>
                          <a:ea typeface="Calibri" pitchFamily="34" charset="-122"/>
                          <a:cs typeface="Calibri" pitchFamily="34" charset="-120"/>
                        </a:rPr>
                        <a:t>🔴 Flag</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3434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DB Schenker</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32</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991B1B"/>
                          </a:solidFill>
                          <a:latin typeface="Calibri" pitchFamily="34" charset="0"/>
                          <a:ea typeface="Calibri" pitchFamily="34" charset="-122"/>
                          <a:cs typeface="Calibri" pitchFamily="34" charset="-120"/>
                        </a:rPr>
                        <a:t>🔴 Flag</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3434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FedEx Freight</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30.43</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B45309"/>
                          </a:solidFill>
                          <a:latin typeface="Calibri" pitchFamily="34" charset="0"/>
                          <a:ea typeface="Calibri" pitchFamily="34" charset="-122"/>
                          <a:cs typeface="Calibri" pitchFamily="34" charset="-120"/>
                        </a:rPr>
                        <a:t>🟡 Watch</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3434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Maersk Logistics</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30.3</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B45309"/>
                          </a:solidFill>
                          <a:latin typeface="Calibri" pitchFamily="34" charset="0"/>
                          <a:ea typeface="Calibri" pitchFamily="34" charset="-122"/>
                          <a:cs typeface="Calibri" pitchFamily="34" charset="-120"/>
                        </a:rPr>
                        <a:t>🟡 Watch</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43434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UPS Supply Chain</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30 (Lowest)</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850" b="1" dirty="0">
                          <a:solidFill>
                            <a:srgbClr val="166534"/>
                          </a:solidFill>
                          <a:latin typeface="Calibri" pitchFamily="34" charset="0"/>
                          <a:ea typeface="Calibri" pitchFamily="34" charset="-122"/>
                          <a:cs typeface="Calibri" pitchFamily="34" charset="-120"/>
                        </a:rPr>
                        <a:t>🟢 Best</a:t>
                      </a:r>
                      <a:endParaRPr lang="en-US" sz="8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3"/>
          <p:cNvSpPr/>
          <p:nvPr/>
        </p:nvSpPr>
        <p:spPr>
          <a:xfrm>
            <a:off x="256032" y="3730752"/>
            <a:ext cx="2779776" cy="1234440"/>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8" name="Text 4"/>
          <p:cNvSpPr/>
          <p:nvPr/>
        </p:nvSpPr>
        <p:spPr>
          <a:xfrm>
            <a:off x="256032"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5"/>
          <p:cNvSpPr/>
          <p:nvPr/>
        </p:nvSpPr>
        <p:spPr>
          <a:xfrm>
            <a:off x="329184" y="4114800"/>
            <a:ext cx="2633472" cy="219456"/>
          </a:xfrm>
          <a:prstGeom prst="rect">
            <a:avLst/>
          </a:prstGeom>
          <a:noFill/>
          <a:ln/>
        </p:spPr>
        <p:txBody>
          <a:bodyPr wrap="square" lIns="0" tIns="0" rIns="0" bIns="0" rtlCol="0" anchor="ctr"/>
          <a:lstStyle/>
          <a:p>
            <a:pPr marL="0" indent="0" algn="ctr">
              <a:buNone/>
            </a:pPr>
            <a:r>
              <a:rPr lang="en-US" sz="1000" b="1" dirty="0">
                <a:solidFill>
                  <a:srgbClr val="991B1B"/>
                </a:solidFill>
                <a:latin typeface="Calibri" pitchFamily="34" charset="0"/>
                <a:ea typeface="Calibri" pitchFamily="34" charset="-122"/>
                <a:cs typeface="Calibri" pitchFamily="34" charset="-120"/>
              </a:rPr>
              <a:t>Air = Most Expensive Mode</a:t>
            </a:r>
            <a:endParaRPr lang="en-US" sz="1000" dirty="0"/>
          </a:p>
        </p:txBody>
      </p:sp>
      <p:sp>
        <p:nvSpPr>
          <p:cNvPr id="10" name="Text 6"/>
          <p:cNvSpPr/>
          <p:nvPr/>
        </p:nvSpPr>
        <p:spPr>
          <a:xfrm>
            <a:off x="329184"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Air freight is the highest cost per KG across all carriers. Should be used only for urgent, high-value shipments.</a:t>
            </a:r>
            <a:endParaRPr lang="en-US" sz="850" dirty="0"/>
          </a:p>
        </p:txBody>
      </p:sp>
      <p:sp>
        <p:nvSpPr>
          <p:cNvPr id="6" name="Shape 7"/>
          <p:cNvSpPr/>
          <p:nvPr/>
        </p:nvSpPr>
        <p:spPr>
          <a:xfrm>
            <a:off x="3218688" y="3730752"/>
            <a:ext cx="2779776" cy="1234440"/>
          </a:xfrm>
          <a:prstGeom prst="rect">
            <a:avLst/>
          </a:prstGeom>
          <a:solidFill>
            <a:srgbClr val="F0FDF4"/>
          </a:solidFill>
          <a:ln w="12700">
            <a:solidFill>
              <a:srgbClr val="166534"/>
            </a:solidFill>
            <a:prstDash val="solid"/>
          </a:ln>
          <a:effectLst>
            <a:outerShdw blurRad="101600" dist="38100" dir="8100000" algn="bl" rotWithShape="0">
              <a:srgbClr val="000000">
                <a:alpha val="10000"/>
              </a:srgbClr>
            </a:outerShdw>
          </a:effectLst>
        </p:spPr>
      </p:sp>
      <p:sp>
        <p:nvSpPr>
          <p:cNvPr id="12" name="Text 8"/>
          <p:cNvSpPr/>
          <p:nvPr/>
        </p:nvSpPr>
        <p:spPr>
          <a:xfrm>
            <a:off x="3218688"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3" name="Text 9"/>
          <p:cNvSpPr/>
          <p:nvPr/>
        </p:nvSpPr>
        <p:spPr>
          <a:xfrm>
            <a:off x="3291840" y="4114800"/>
            <a:ext cx="2633472" cy="219456"/>
          </a:xfrm>
          <a:prstGeom prst="rect">
            <a:avLst/>
          </a:prstGeom>
          <a:noFill/>
          <a:ln/>
        </p:spPr>
        <p:txBody>
          <a:bodyPr wrap="square" lIns="0" tIns="0" rIns="0" bIns="0" rtlCol="0" anchor="ctr"/>
          <a:lstStyle/>
          <a:p>
            <a:pPr marL="0" indent="0" algn="ctr">
              <a:buNone/>
            </a:pPr>
            <a:r>
              <a:rPr lang="en-US" sz="1000" b="1" dirty="0">
                <a:solidFill>
                  <a:srgbClr val="166534"/>
                </a:solidFill>
                <a:latin typeface="Calibri" pitchFamily="34" charset="0"/>
                <a:ea typeface="Calibri" pitchFamily="34" charset="-122"/>
                <a:cs typeface="Calibri" pitchFamily="34" charset="-120"/>
              </a:rPr>
              <a:t>Sea = Most Efficient</a:t>
            </a:r>
            <a:endParaRPr lang="en-US" sz="1000" dirty="0"/>
          </a:p>
        </p:txBody>
      </p:sp>
      <p:sp>
        <p:nvSpPr>
          <p:cNvPr id="14" name="Text 10"/>
          <p:cNvSpPr/>
          <p:nvPr/>
        </p:nvSpPr>
        <p:spPr>
          <a:xfrm>
            <a:off x="3291840"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Sea has the lowest freight cost per KG. Shifting non-urgent Air to Sea can generate significant cost savings.</a:t>
            </a:r>
            <a:endParaRPr lang="en-US" sz="850" dirty="0"/>
          </a:p>
        </p:txBody>
      </p:sp>
      <p:sp>
        <p:nvSpPr>
          <p:cNvPr id="15" name="Shape 11"/>
          <p:cNvSpPr/>
          <p:nvPr/>
        </p:nvSpPr>
        <p:spPr>
          <a:xfrm>
            <a:off x="6181344" y="3730752"/>
            <a:ext cx="2779776" cy="1234440"/>
          </a:xfrm>
          <a:prstGeom prst="rect">
            <a:avLst/>
          </a:prstGeom>
          <a:solidFill>
            <a:srgbClr val="FFF7ED"/>
          </a:solidFill>
          <a:ln w="12700">
            <a:solidFill>
              <a:srgbClr val="C2410C"/>
            </a:solidFill>
            <a:prstDash val="solid"/>
          </a:ln>
          <a:effectLst>
            <a:outerShdw blurRad="101600" dist="38100" dir="8100000" algn="bl" rotWithShape="0">
              <a:srgbClr val="000000">
                <a:alpha val="10000"/>
              </a:srgbClr>
            </a:outerShdw>
          </a:effectLst>
        </p:spPr>
      </p:sp>
      <p:sp>
        <p:nvSpPr>
          <p:cNvPr id="16" name="Text 12"/>
          <p:cNvSpPr/>
          <p:nvPr/>
        </p:nvSpPr>
        <p:spPr>
          <a:xfrm>
            <a:off x="6181344" y="3785616"/>
            <a:ext cx="2779776" cy="347472"/>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3"/>
          <p:cNvSpPr/>
          <p:nvPr/>
        </p:nvSpPr>
        <p:spPr>
          <a:xfrm>
            <a:off x="6254496" y="4114800"/>
            <a:ext cx="2633472" cy="219456"/>
          </a:xfrm>
          <a:prstGeom prst="rect">
            <a:avLst/>
          </a:prstGeom>
          <a:noFill/>
          <a:ln/>
        </p:spPr>
        <p:txBody>
          <a:bodyPr wrap="square" lIns="0" tIns="0" rIns="0" bIns="0" rtlCol="0" anchor="ctr"/>
          <a:lstStyle/>
          <a:p>
            <a:pPr marL="0" indent="0" algn="ctr">
              <a:buNone/>
            </a:pPr>
            <a:r>
              <a:rPr lang="en-US" sz="1000" b="1" dirty="0">
                <a:solidFill>
                  <a:srgbClr val="C2410C"/>
                </a:solidFill>
                <a:latin typeface="Calibri" pitchFamily="34" charset="0"/>
                <a:ea typeface="Calibri" pitchFamily="34" charset="-122"/>
                <a:cs typeface="Calibri" pitchFamily="34" charset="-120"/>
              </a:rPr>
              <a:t>DHL Has Highest Delay Rate</a:t>
            </a:r>
            <a:endParaRPr lang="en-US" sz="1000" dirty="0"/>
          </a:p>
        </p:txBody>
      </p:sp>
      <p:sp>
        <p:nvSpPr>
          <p:cNvPr id="18" name="Text 14"/>
          <p:cNvSpPr/>
          <p:nvPr/>
        </p:nvSpPr>
        <p:spPr>
          <a:xfrm>
            <a:off x="6254496" y="4325112"/>
            <a:ext cx="2633472" cy="576072"/>
          </a:xfrm>
          <a:prstGeom prst="rect">
            <a:avLst/>
          </a:prstGeom>
          <a:noFill/>
          <a:ln/>
        </p:spPr>
        <p:txBody>
          <a:bodyPr wrap="square" lIns="0" tIns="0" rIns="0" bIns="0" rtlCol="0" anchor="t"/>
          <a:lstStyle/>
          <a:p>
            <a:pPr marL="0" indent="0" algn="ctr">
              <a:buNone/>
            </a:pPr>
            <a:r>
              <a:rPr lang="en-US" sz="850" dirty="0">
                <a:solidFill>
                  <a:srgbClr val="334155"/>
                </a:solidFill>
                <a:latin typeface="Calibri" pitchFamily="34" charset="0"/>
                <a:ea typeface="Calibri" pitchFamily="34" charset="-122"/>
                <a:cs typeface="Calibri" pitchFamily="34" charset="-120"/>
              </a:rPr>
              <a:t>DHL Supply Chain tops the delay rate chart at 40. Even the best carrier (UPS) has a 30% delay rate — </a:t>
            </a:r>
            <a:r>
              <a:rPr lang="en-US" sz="850" b="1" dirty="0">
                <a:solidFill>
                  <a:srgbClr val="334155"/>
                </a:solidFill>
                <a:latin typeface="Calibri" pitchFamily="34" charset="0"/>
                <a:ea typeface="Calibri" pitchFamily="34" charset="-122"/>
                <a:cs typeface="Calibri" pitchFamily="34" charset="-120"/>
              </a:rPr>
              <a:t>all are high</a:t>
            </a:r>
            <a:r>
              <a:rPr lang="en-US" sz="850" dirty="0">
                <a:solidFill>
                  <a:srgbClr val="334155"/>
                </a:solidFill>
                <a:latin typeface="Calibri" pitchFamily="34" charset="0"/>
                <a:ea typeface="Calibri" pitchFamily="34" charset="-122"/>
                <a:cs typeface="Calibri" pitchFamily="34" charset="-120"/>
              </a:rPr>
              <a: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Business Problems — Answered Using Dashboard and SQL</a:t>
            </a:r>
            <a:endParaRPr lang="en-US" sz="1700" dirty="0"/>
          </a:p>
        </p:txBody>
      </p:sp>
      <p:sp>
        <p:nvSpPr>
          <p:cNvPr id="5" name="Shape 3"/>
          <p:cNvSpPr/>
          <p:nvPr/>
        </p:nvSpPr>
        <p:spPr>
          <a:xfrm>
            <a:off x="256032" y="1024128"/>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IN"/>
          </a:p>
        </p:txBody>
      </p:sp>
      <p:sp>
        <p:nvSpPr>
          <p:cNvPr id="6" name="Shape 4"/>
          <p:cNvSpPr/>
          <p:nvPr/>
        </p:nvSpPr>
        <p:spPr>
          <a:xfrm>
            <a:off x="256032" y="1024128"/>
            <a:ext cx="54864" cy="731520"/>
          </a:xfrm>
          <a:prstGeom prst="rect">
            <a:avLst/>
          </a:prstGeom>
          <a:solidFill>
            <a:srgbClr val="991B1B"/>
          </a:solidFill>
          <a:ln w="12700">
            <a:solidFill>
              <a:srgbClr val="991B1B"/>
            </a:solidFill>
            <a:prstDash val="solid"/>
          </a:ln>
        </p:spPr>
      </p:sp>
      <p:sp>
        <p:nvSpPr>
          <p:cNvPr id="8" name="Text 6"/>
          <p:cNvSpPr/>
          <p:nvPr/>
        </p:nvSpPr>
        <p:spPr>
          <a:xfrm>
            <a:off x="411480" y="1024128"/>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Which suppliers fail on delivery?</a:t>
            </a:r>
            <a:endParaRPr lang="en-US" sz="900" dirty="0"/>
          </a:p>
        </p:txBody>
      </p:sp>
      <p:sp>
        <p:nvSpPr>
          <p:cNvPr id="9" name="Text 7"/>
          <p:cNvSpPr/>
          <p:nvPr/>
        </p:nvSpPr>
        <p:spPr>
          <a:xfrm>
            <a:off x="384048" y="1335024"/>
            <a:ext cx="3986784" cy="274320"/>
          </a:xfrm>
          <a:prstGeom prst="rect">
            <a:avLst/>
          </a:prstGeom>
          <a:noFill/>
          <a:ln/>
        </p:spPr>
        <p:txBody>
          <a:bodyPr wrap="square" lIns="0" tIns="0" rIns="0" bIns="0" rtlCol="0" anchor="ctr"/>
          <a:lstStyle/>
          <a:p>
            <a:r>
              <a:rPr lang="en-US" sz="850" i="1" dirty="0">
                <a:solidFill>
                  <a:srgbClr val="991B1B"/>
                </a:solidFill>
                <a:latin typeface="Calibri" pitchFamily="34" charset="0"/>
                <a:ea typeface="Calibri" pitchFamily="34" charset="-122"/>
                <a:cs typeface="Calibri" pitchFamily="34" charset="-120"/>
              </a:rPr>
              <a:t>→ GlobalParts is worst at 16.28%, ALL suppliers below 30% OTDR</a:t>
            </a:r>
            <a:endParaRPr lang="en-US" sz="850" dirty="0"/>
          </a:p>
        </p:txBody>
      </p:sp>
      <p:sp>
        <p:nvSpPr>
          <p:cNvPr id="10" name="Shape 8"/>
          <p:cNvSpPr/>
          <p:nvPr/>
        </p:nvSpPr>
        <p:spPr>
          <a:xfrm>
            <a:off x="4718304" y="1024128"/>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1" name="Shape 9"/>
          <p:cNvSpPr/>
          <p:nvPr/>
        </p:nvSpPr>
        <p:spPr>
          <a:xfrm>
            <a:off x="4718304" y="1024128"/>
            <a:ext cx="54864" cy="731520"/>
          </a:xfrm>
          <a:prstGeom prst="rect">
            <a:avLst/>
          </a:prstGeom>
          <a:solidFill>
            <a:srgbClr val="C2410C"/>
          </a:solidFill>
          <a:ln w="12700">
            <a:solidFill>
              <a:srgbClr val="C2410C"/>
            </a:solidFill>
            <a:prstDash val="solid"/>
          </a:ln>
        </p:spPr>
      </p:sp>
      <p:sp>
        <p:nvSpPr>
          <p:cNvPr id="13" name="Text 11"/>
          <p:cNvSpPr/>
          <p:nvPr/>
        </p:nvSpPr>
        <p:spPr>
          <a:xfrm>
            <a:off x="4846320" y="1060704"/>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Cost of delayed orders?</a:t>
            </a:r>
            <a:endParaRPr lang="en-US" sz="900" dirty="0"/>
          </a:p>
        </p:txBody>
      </p:sp>
      <p:sp>
        <p:nvSpPr>
          <p:cNvPr id="14" name="Text 12"/>
          <p:cNvSpPr/>
          <p:nvPr/>
        </p:nvSpPr>
        <p:spPr>
          <a:xfrm>
            <a:off x="4846320" y="1408176"/>
            <a:ext cx="3986784" cy="274320"/>
          </a:xfrm>
          <a:prstGeom prst="rect">
            <a:avLst/>
          </a:prstGeom>
          <a:noFill/>
          <a:ln/>
        </p:spPr>
        <p:txBody>
          <a:bodyPr wrap="square" lIns="0" tIns="0" rIns="0" bIns="0" rtlCol="0" anchor="ctr"/>
          <a:lstStyle/>
          <a:p>
            <a:pPr marL="0" indent="0">
              <a:buNone/>
            </a:pPr>
            <a:r>
              <a:rPr lang="en-US" sz="850" i="1" dirty="0">
                <a:solidFill>
                  <a:srgbClr val="C2410C"/>
                </a:solidFill>
                <a:latin typeface="Calibri" pitchFamily="34" charset="0"/>
                <a:ea typeface="Calibri" pitchFamily="34" charset="-122"/>
                <a:cs typeface="Calibri" pitchFamily="34" charset="-120"/>
              </a:rPr>
              <a:t>→  184 out of 500 orders delayed · Avg 5 days per delay</a:t>
            </a:r>
            <a:endParaRPr lang="en-US" sz="850" dirty="0"/>
          </a:p>
        </p:txBody>
      </p:sp>
      <p:sp>
        <p:nvSpPr>
          <p:cNvPr id="15" name="Shape 13"/>
          <p:cNvSpPr/>
          <p:nvPr/>
        </p:nvSpPr>
        <p:spPr>
          <a:xfrm>
            <a:off x="256032" y="1828800"/>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16" name="Shape 14"/>
          <p:cNvSpPr/>
          <p:nvPr/>
        </p:nvSpPr>
        <p:spPr>
          <a:xfrm>
            <a:off x="256032" y="1828800"/>
            <a:ext cx="54864" cy="731520"/>
          </a:xfrm>
          <a:prstGeom prst="rect">
            <a:avLst/>
          </a:prstGeom>
          <a:solidFill>
            <a:srgbClr val="B45309"/>
          </a:solidFill>
          <a:ln w="12700">
            <a:solidFill>
              <a:srgbClr val="B45309"/>
            </a:solidFill>
            <a:prstDash val="solid"/>
          </a:ln>
        </p:spPr>
      </p:sp>
      <p:sp>
        <p:nvSpPr>
          <p:cNvPr id="18" name="Text 16"/>
          <p:cNvSpPr/>
          <p:nvPr/>
        </p:nvSpPr>
        <p:spPr>
          <a:xfrm>
            <a:off x="411480" y="1837944"/>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Products at stockout risk?</a:t>
            </a:r>
            <a:endParaRPr lang="en-US" sz="900" dirty="0"/>
          </a:p>
        </p:txBody>
      </p:sp>
      <p:sp>
        <p:nvSpPr>
          <p:cNvPr id="19" name="Text 17"/>
          <p:cNvSpPr/>
          <p:nvPr/>
        </p:nvSpPr>
        <p:spPr>
          <a:xfrm>
            <a:off x="384048" y="2148840"/>
            <a:ext cx="3986784" cy="274320"/>
          </a:xfrm>
          <a:prstGeom prst="rect">
            <a:avLst/>
          </a:prstGeom>
          <a:noFill/>
          <a:ln/>
        </p:spPr>
        <p:txBody>
          <a:bodyPr wrap="square" lIns="0" tIns="0" rIns="0" bIns="0" rtlCol="0" anchor="ctr"/>
          <a:lstStyle/>
          <a:p>
            <a:pPr marL="0" indent="0">
              <a:buNone/>
            </a:pPr>
            <a:r>
              <a:rPr lang="en-US" sz="850" i="1" dirty="0">
                <a:solidFill>
                  <a:srgbClr val="B45309"/>
                </a:solidFill>
                <a:latin typeface="Calibri" pitchFamily="34" charset="0"/>
                <a:ea typeface="Calibri" pitchFamily="34" charset="-122"/>
                <a:cs typeface="Calibri" pitchFamily="34" charset="-120"/>
              </a:rPr>
              <a:t>→  3 products below reorder level — low risk but monitor</a:t>
            </a:r>
            <a:endParaRPr lang="en-US" sz="850" dirty="0"/>
          </a:p>
        </p:txBody>
      </p:sp>
      <p:sp>
        <p:nvSpPr>
          <p:cNvPr id="20" name="Shape 18"/>
          <p:cNvSpPr/>
          <p:nvPr/>
        </p:nvSpPr>
        <p:spPr>
          <a:xfrm>
            <a:off x="4718304" y="1828800"/>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21" name="Shape 19"/>
          <p:cNvSpPr/>
          <p:nvPr/>
        </p:nvSpPr>
        <p:spPr>
          <a:xfrm>
            <a:off x="4718304" y="1828800"/>
            <a:ext cx="54864" cy="731520"/>
          </a:xfrm>
          <a:prstGeom prst="rect">
            <a:avLst/>
          </a:prstGeom>
          <a:solidFill>
            <a:srgbClr val="1F4E79"/>
          </a:solidFill>
          <a:ln w="12700">
            <a:solidFill>
              <a:srgbClr val="1F4E79"/>
            </a:solidFill>
            <a:prstDash val="solid"/>
          </a:ln>
        </p:spPr>
      </p:sp>
      <p:sp>
        <p:nvSpPr>
          <p:cNvPr id="23" name="Text 21"/>
          <p:cNvSpPr/>
          <p:nvPr/>
        </p:nvSpPr>
        <p:spPr>
          <a:xfrm>
            <a:off x="4846320" y="1865376"/>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Is Air freight worth the premium?</a:t>
            </a:r>
            <a:endParaRPr lang="en-US" sz="900" dirty="0"/>
          </a:p>
        </p:txBody>
      </p:sp>
      <p:sp>
        <p:nvSpPr>
          <p:cNvPr id="24" name="Text 22"/>
          <p:cNvSpPr/>
          <p:nvPr/>
        </p:nvSpPr>
        <p:spPr>
          <a:xfrm>
            <a:off x="4846320" y="2212848"/>
            <a:ext cx="3986784" cy="274320"/>
          </a:xfrm>
          <a:prstGeom prst="rect">
            <a:avLst/>
          </a:prstGeom>
          <a:noFill/>
          <a:ln/>
        </p:spPr>
        <p:txBody>
          <a:bodyPr wrap="square" lIns="0" tIns="0" rIns="0" bIns="0" rtlCol="0" anchor="ctr"/>
          <a:lstStyle/>
          <a:p>
            <a:pPr marL="0" indent="0">
              <a:buNone/>
            </a:pPr>
            <a:r>
              <a:rPr lang="en-US" sz="850" i="1" dirty="0">
                <a:solidFill>
                  <a:srgbClr val="1F4E79"/>
                </a:solidFill>
                <a:latin typeface="Calibri" pitchFamily="34" charset="0"/>
                <a:ea typeface="Calibri" pitchFamily="34" charset="-122"/>
                <a:cs typeface="Calibri" pitchFamily="34" charset="-120"/>
              </a:rPr>
              <a:t>→  No — Air is by far the highest cost/KG. Sea is most efficient</a:t>
            </a:r>
            <a:endParaRPr lang="en-US" sz="850" dirty="0"/>
          </a:p>
        </p:txBody>
      </p:sp>
      <p:sp>
        <p:nvSpPr>
          <p:cNvPr id="25" name="Shape 23"/>
          <p:cNvSpPr/>
          <p:nvPr/>
        </p:nvSpPr>
        <p:spPr>
          <a:xfrm>
            <a:off x="256032" y="2633472"/>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26" name="Shape 24"/>
          <p:cNvSpPr/>
          <p:nvPr/>
        </p:nvSpPr>
        <p:spPr>
          <a:xfrm>
            <a:off x="256032" y="2633472"/>
            <a:ext cx="54864" cy="731520"/>
          </a:xfrm>
          <a:prstGeom prst="rect">
            <a:avLst/>
          </a:prstGeom>
          <a:solidFill>
            <a:srgbClr val="C2410C"/>
          </a:solidFill>
          <a:ln w="12700">
            <a:solidFill>
              <a:srgbClr val="C2410C"/>
            </a:solidFill>
            <a:prstDash val="solid"/>
          </a:ln>
        </p:spPr>
      </p:sp>
      <p:sp>
        <p:nvSpPr>
          <p:cNvPr id="28" name="Text 26"/>
          <p:cNvSpPr/>
          <p:nvPr/>
        </p:nvSpPr>
        <p:spPr>
          <a:xfrm>
            <a:off x="384048" y="2670048"/>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Which regions have worst service?</a:t>
            </a:r>
            <a:endParaRPr lang="en-US" sz="900" dirty="0"/>
          </a:p>
        </p:txBody>
      </p:sp>
      <p:sp>
        <p:nvSpPr>
          <p:cNvPr id="29" name="Text 27"/>
          <p:cNvSpPr/>
          <p:nvPr/>
        </p:nvSpPr>
        <p:spPr>
          <a:xfrm>
            <a:off x="384048" y="3017520"/>
            <a:ext cx="3986784" cy="274320"/>
          </a:xfrm>
          <a:prstGeom prst="rect">
            <a:avLst/>
          </a:prstGeom>
          <a:noFill/>
          <a:ln/>
        </p:spPr>
        <p:txBody>
          <a:bodyPr wrap="square" lIns="0" tIns="0" rIns="0" bIns="0" rtlCol="0" anchor="ctr"/>
          <a:lstStyle/>
          <a:p>
            <a:pPr marL="0" indent="0">
              <a:buNone/>
            </a:pPr>
            <a:r>
              <a:rPr lang="en-US" sz="850" i="1" dirty="0">
                <a:solidFill>
                  <a:srgbClr val="C2410C"/>
                </a:solidFill>
                <a:latin typeface="Calibri" pitchFamily="34" charset="0"/>
                <a:ea typeface="Calibri" pitchFamily="34" charset="-122"/>
                <a:cs typeface="Calibri" pitchFamily="34" charset="-120"/>
              </a:rPr>
              <a:t>→  Lead times 23–27 days suggest all regions are affected</a:t>
            </a:r>
            <a:endParaRPr lang="en-US" sz="850" dirty="0"/>
          </a:p>
        </p:txBody>
      </p:sp>
      <p:sp>
        <p:nvSpPr>
          <p:cNvPr id="30" name="Shape 28"/>
          <p:cNvSpPr/>
          <p:nvPr/>
        </p:nvSpPr>
        <p:spPr>
          <a:xfrm>
            <a:off x="4718304" y="2633472"/>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IN" dirty="0"/>
          </a:p>
        </p:txBody>
      </p:sp>
      <p:sp>
        <p:nvSpPr>
          <p:cNvPr id="31" name="Shape 29"/>
          <p:cNvSpPr/>
          <p:nvPr/>
        </p:nvSpPr>
        <p:spPr>
          <a:xfrm>
            <a:off x="4718304" y="2633472"/>
            <a:ext cx="54864" cy="731520"/>
          </a:xfrm>
          <a:prstGeom prst="rect">
            <a:avLst/>
          </a:prstGeom>
          <a:solidFill>
            <a:srgbClr val="991B1B"/>
          </a:solidFill>
          <a:ln w="12700">
            <a:solidFill>
              <a:srgbClr val="991B1B"/>
            </a:solidFill>
            <a:prstDash val="solid"/>
          </a:ln>
        </p:spPr>
      </p:sp>
      <p:sp>
        <p:nvSpPr>
          <p:cNvPr id="33" name="Text 31"/>
          <p:cNvSpPr/>
          <p:nvPr/>
        </p:nvSpPr>
        <p:spPr>
          <a:xfrm>
            <a:off x="4846320" y="2670048"/>
            <a:ext cx="3986784" cy="310896"/>
          </a:xfrm>
          <a:prstGeom prst="rect">
            <a:avLst/>
          </a:prstGeom>
          <a:noFill/>
          <a:ln/>
        </p:spPr>
        <p:txBody>
          <a:bodyPr wrap="square" lIns="0" tIns="0" rIns="0" bIns="0" rtlCol="0" anchor="ctr"/>
          <a:lstStyle/>
          <a:p>
            <a:r>
              <a:rPr lang="en-US" sz="900" dirty="0"/>
              <a:t>Which Suppliers performance best and worst based on OFR and Revenue? </a:t>
            </a:r>
          </a:p>
        </p:txBody>
      </p:sp>
      <p:sp>
        <p:nvSpPr>
          <p:cNvPr id="34" name="Text 32"/>
          <p:cNvSpPr/>
          <p:nvPr/>
        </p:nvSpPr>
        <p:spPr>
          <a:xfrm>
            <a:off x="4846320" y="3017520"/>
            <a:ext cx="3986784" cy="274320"/>
          </a:xfrm>
          <a:prstGeom prst="rect">
            <a:avLst/>
          </a:prstGeom>
          <a:noFill/>
          <a:ln/>
        </p:spPr>
        <p:txBody>
          <a:bodyPr wrap="square" lIns="0" tIns="0" rIns="0" bIns="0" rtlCol="0" anchor="ctr"/>
          <a:lstStyle/>
          <a:p>
            <a:r>
              <a:rPr lang="en-US" sz="850" i="1" dirty="0">
                <a:solidFill>
                  <a:srgbClr val="991B1B"/>
                </a:solidFill>
                <a:latin typeface="Calibri" pitchFamily="34" charset="0"/>
                <a:ea typeface="Calibri" pitchFamily="34" charset="-122"/>
                <a:cs typeface="Calibri" pitchFamily="34" charset="-120"/>
              </a:rPr>
              <a:t>→ </a:t>
            </a:r>
            <a:r>
              <a:rPr lang="en-US" sz="850" i="1" dirty="0" err="1">
                <a:solidFill>
                  <a:srgbClr val="1F4E79"/>
                </a:solidFill>
                <a:latin typeface="Calibri" pitchFamily="34" charset="0"/>
                <a:ea typeface="Calibri" pitchFamily="34" charset="-122"/>
                <a:cs typeface="Calibri" pitchFamily="34" charset="-120"/>
              </a:rPr>
              <a:t>EuroParts</a:t>
            </a:r>
            <a:r>
              <a:rPr lang="en-US" sz="850" i="1" dirty="0">
                <a:solidFill>
                  <a:srgbClr val="1F4E79"/>
                </a:solidFill>
                <a:latin typeface="Calibri" pitchFamily="34" charset="0"/>
                <a:ea typeface="Calibri" pitchFamily="34" charset="-122"/>
                <a:cs typeface="Calibri" pitchFamily="34" charset="-120"/>
              </a:rPr>
              <a:t> GmbH have high order fill rates and generates high revenue. Higher OFR contributes to better revenue performance. The relationship is moderate (0.52</a:t>
            </a:r>
            <a:r>
              <a:rPr lang="en-US" sz="900" dirty="0"/>
              <a:t>)</a:t>
            </a:r>
            <a:endParaRPr lang="en-US" sz="850" i="1" dirty="0">
              <a:solidFill>
                <a:srgbClr val="991B1B"/>
              </a:solidFill>
              <a:latin typeface="Calibri" pitchFamily="34" charset="0"/>
              <a:ea typeface="Calibri" pitchFamily="34" charset="-122"/>
              <a:cs typeface="Calibri" pitchFamily="34" charset="-120"/>
            </a:endParaRPr>
          </a:p>
        </p:txBody>
      </p:sp>
      <p:sp>
        <p:nvSpPr>
          <p:cNvPr id="35" name="Shape 33"/>
          <p:cNvSpPr/>
          <p:nvPr/>
        </p:nvSpPr>
        <p:spPr>
          <a:xfrm>
            <a:off x="256032" y="3438144"/>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36" name="Shape 34"/>
          <p:cNvSpPr/>
          <p:nvPr/>
        </p:nvSpPr>
        <p:spPr>
          <a:xfrm>
            <a:off x="256032" y="3438144"/>
            <a:ext cx="54864" cy="731520"/>
          </a:xfrm>
          <a:prstGeom prst="rect">
            <a:avLst/>
          </a:prstGeom>
          <a:solidFill>
            <a:srgbClr val="B45309"/>
          </a:solidFill>
          <a:ln w="12700">
            <a:solidFill>
              <a:srgbClr val="B45309"/>
            </a:solidFill>
            <a:prstDash val="solid"/>
          </a:ln>
        </p:spPr>
      </p:sp>
      <p:sp>
        <p:nvSpPr>
          <p:cNvPr id="38" name="Text 36"/>
          <p:cNvSpPr/>
          <p:nvPr/>
        </p:nvSpPr>
        <p:spPr>
          <a:xfrm>
            <a:off x="384048" y="3474720"/>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Warehouse over/under utilisation?</a:t>
            </a:r>
            <a:endParaRPr lang="en-US" sz="900" dirty="0"/>
          </a:p>
        </p:txBody>
      </p:sp>
      <p:sp>
        <p:nvSpPr>
          <p:cNvPr id="39" name="Text 37"/>
          <p:cNvSpPr/>
          <p:nvPr/>
        </p:nvSpPr>
        <p:spPr>
          <a:xfrm>
            <a:off x="384048" y="3822192"/>
            <a:ext cx="3986784" cy="274320"/>
          </a:xfrm>
          <a:prstGeom prst="rect">
            <a:avLst/>
          </a:prstGeom>
          <a:noFill/>
          <a:ln/>
        </p:spPr>
        <p:txBody>
          <a:bodyPr wrap="square" lIns="0" tIns="0" rIns="0" bIns="0" rtlCol="0" anchor="ctr"/>
          <a:lstStyle/>
          <a:p>
            <a:pPr marL="0" indent="0">
              <a:buNone/>
            </a:pPr>
            <a:r>
              <a:rPr lang="en-US" sz="850" i="1" dirty="0">
                <a:solidFill>
                  <a:srgbClr val="B45309"/>
                </a:solidFill>
                <a:latin typeface="Calibri" pitchFamily="34" charset="0"/>
                <a:ea typeface="Calibri" pitchFamily="34" charset="-122"/>
                <a:cs typeface="Calibri" pitchFamily="34" charset="-120"/>
              </a:rPr>
              <a:t>→  Only 39% utilised — ALL warehouses significantly underloaded</a:t>
            </a:r>
            <a:endParaRPr lang="en-US" sz="850" dirty="0"/>
          </a:p>
        </p:txBody>
      </p:sp>
      <p:sp>
        <p:nvSpPr>
          <p:cNvPr id="40" name="Shape 38"/>
          <p:cNvSpPr/>
          <p:nvPr/>
        </p:nvSpPr>
        <p:spPr>
          <a:xfrm>
            <a:off x="4718304" y="3438144"/>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41" name="Shape 39"/>
          <p:cNvSpPr/>
          <p:nvPr/>
        </p:nvSpPr>
        <p:spPr>
          <a:xfrm>
            <a:off x="4718304" y="3438144"/>
            <a:ext cx="54864" cy="731520"/>
          </a:xfrm>
          <a:prstGeom prst="rect">
            <a:avLst/>
          </a:prstGeom>
          <a:solidFill>
            <a:srgbClr val="0E7490"/>
          </a:solidFill>
          <a:ln w="12700">
            <a:solidFill>
              <a:srgbClr val="0E7490"/>
            </a:solidFill>
            <a:prstDash val="solid"/>
          </a:ln>
        </p:spPr>
      </p:sp>
      <p:sp>
        <p:nvSpPr>
          <p:cNvPr id="43" name="Text 41"/>
          <p:cNvSpPr/>
          <p:nvPr/>
        </p:nvSpPr>
        <p:spPr>
          <a:xfrm>
            <a:off x="4846320" y="3474720"/>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Is supplier base too concentrated?</a:t>
            </a:r>
            <a:endParaRPr lang="en-US" sz="900" dirty="0"/>
          </a:p>
        </p:txBody>
      </p:sp>
      <p:sp>
        <p:nvSpPr>
          <p:cNvPr id="44" name="Text 42"/>
          <p:cNvSpPr/>
          <p:nvPr/>
        </p:nvSpPr>
        <p:spPr>
          <a:xfrm>
            <a:off x="4846320" y="3822192"/>
            <a:ext cx="3986784" cy="274320"/>
          </a:xfrm>
          <a:prstGeom prst="rect">
            <a:avLst/>
          </a:prstGeom>
          <a:noFill/>
          <a:ln/>
        </p:spPr>
        <p:txBody>
          <a:bodyPr wrap="square" lIns="0" tIns="0" rIns="0" bIns="0" rtlCol="0" anchor="ctr"/>
          <a:lstStyle/>
          <a:p>
            <a:pPr marL="0" indent="0">
              <a:buNone/>
            </a:pPr>
            <a:r>
              <a:rPr lang="en-US" sz="850" i="1" dirty="0">
                <a:solidFill>
                  <a:srgbClr val="0E7490"/>
                </a:solidFill>
                <a:latin typeface="Calibri" pitchFamily="34" charset="0"/>
                <a:ea typeface="Calibri" pitchFamily="34" charset="-122"/>
                <a:cs typeface="Calibri" pitchFamily="34" charset="-120"/>
              </a:rPr>
              <a:t>→  5 suppliers · Total spend $17.84M · Spread appears balanced</a:t>
            </a:r>
            <a:endParaRPr lang="en-US" sz="850" dirty="0"/>
          </a:p>
        </p:txBody>
      </p:sp>
      <p:sp>
        <p:nvSpPr>
          <p:cNvPr id="45" name="Shape 43"/>
          <p:cNvSpPr/>
          <p:nvPr/>
        </p:nvSpPr>
        <p:spPr>
          <a:xfrm>
            <a:off x="256032" y="4242816"/>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46" name="Shape 44"/>
          <p:cNvSpPr/>
          <p:nvPr/>
        </p:nvSpPr>
        <p:spPr>
          <a:xfrm>
            <a:off x="256032" y="4242816"/>
            <a:ext cx="54864" cy="731520"/>
          </a:xfrm>
          <a:prstGeom prst="rect">
            <a:avLst/>
          </a:prstGeom>
          <a:solidFill>
            <a:srgbClr val="1F4E79"/>
          </a:solidFill>
          <a:ln w="12700">
            <a:solidFill>
              <a:srgbClr val="1F4E79"/>
            </a:solidFill>
            <a:prstDash val="solid"/>
          </a:ln>
        </p:spPr>
      </p:sp>
      <p:sp>
        <p:nvSpPr>
          <p:cNvPr id="48" name="Text 46"/>
          <p:cNvSpPr/>
          <p:nvPr/>
        </p:nvSpPr>
        <p:spPr>
          <a:xfrm>
            <a:off x="384048" y="4279392"/>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Revenue trend vs target?</a:t>
            </a:r>
            <a:endParaRPr lang="en-US" sz="900" dirty="0"/>
          </a:p>
        </p:txBody>
      </p:sp>
      <p:sp>
        <p:nvSpPr>
          <p:cNvPr id="49" name="Text 47"/>
          <p:cNvSpPr/>
          <p:nvPr/>
        </p:nvSpPr>
        <p:spPr>
          <a:xfrm>
            <a:off x="384048" y="4626864"/>
            <a:ext cx="3986784" cy="274320"/>
          </a:xfrm>
          <a:prstGeom prst="rect">
            <a:avLst/>
          </a:prstGeom>
          <a:noFill/>
          <a:ln/>
        </p:spPr>
        <p:txBody>
          <a:bodyPr wrap="square" lIns="0" tIns="0" rIns="0" bIns="0" rtlCol="0" anchor="ctr"/>
          <a:lstStyle/>
          <a:p>
            <a:pPr marL="0" indent="0">
              <a:buNone/>
            </a:pPr>
            <a:r>
              <a:rPr lang="en-US" sz="850" i="1" dirty="0">
                <a:solidFill>
                  <a:srgbClr val="1F4E79"/>
                </a:solidFill>
                <a:latin typeface="Calibri" pitchFamily="34" charset="0"/>
                <a:ea typeface="Calibri" pitchFamily="34" charset="-122"/>
                <a:cs typeface="Calibri" pitchFamily="34" charset="-120"/>
              </a:rPr>
              <a:t>→  Peak: May $524K · Low: Jan $194K · Strong Q2 performance</a:t>
            </a:r>
            <a:endParaRPr lang="en-US" sz="850" dirty="0"/>
          </a:p>
        </p:txBody>
      </p:sp>
      <p:sp>
        <p:nvSpPr>
          <p:cNvPr id="50" name="Shape 48"/>
          <p:cNvSpPr/>
          <p:nvPr/>
        </p:nvSpPr>
        <p:spPr>
          <a:xfrm>
            <a:off x="4718304" y="4242816"/>
            <a:ext cx="4242816" cy="73152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sp>
      <p:sp>
        <p:nvSpPr>
          <p:cNvPr id="51" name="Shape 49"/>
          <p:cNvSpPr/>
          <p:nvPr/>
        </p:nvSpPr>
        <p:spPr>
          <a:xfrm>
            <a:off x="4718304" y="4242816"/>
            <a:ext cx="54864" cy="731520"/>
          </a:xfrm>
          <a:prstGeom prst="rect">
            <a:avLst/>
          </a:prstGeom>
          <a:solidFill>
            <a:srgbClr val="991B1B"/>
          </a:solidFill>
          <a:ln w="12700">
            <a:solidFill>
              <a:srgbClr val="991B1B"/>
            </a:solidFill>
            <a:prstDash val="solid"/>
          </a:ln>
        </p:spPr>
      </p:sp>
      <p:sp>
        <p:nvSpPr>
          <p:cNvPr id="53" name="Text 51"/>
          <p:cNvSpPr/>
          <p:nvPr/>
        </p:nvSpPr>
        <p:spPr>
          <a:xfrm>
            <a:off x="4846320" y="4279392"/>
            <a:ext cx="3986784" cy="310896"/>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Which carriers to renegotiate?</a:t>
            </a:r>
            <a:endParaRPr lang="en-US" sz="900" dirty="0"/>
          </a:p>
        </p:txBody>
      </p:sp>
      <p:sp>
        <p:nvSpPr>
          <p:cNvPr id="54" name="Text 52"/>
          <p:cNvSpPr/>
          <p:nvPr/>
        </p:nvSpPr>
        <p:spPr>
          <a:xfrm>
            <a:off x="4846320" y="4626864"/>
            <a:ext cx="3986784" cy="274320"/>
          </a:xfrm>
          <a:prstGeom prst="rect">
            <a:avLst/>
          </a:prstGeom>
          <a:noFill/>
          <a:ln/>
        </p:spPr>
        <p:txBody>
          <a:bodyPr wrap="square" lIns="0" tIns="0" rIns="0" bIns="0" rtlCol="0" anchor="ctr"/>
          <a:lstStyle/>
          <a:p>
            <a:pPr marL="0" indent="0">
              <a:buNone/>
            </a:pPr>
            <a:r>
              <a:rPr lang="en-US" sz="850" i="1" dirty="0">
                <a:solidFill>
                  <a:srgbClr val="991B1B"/>
                </a:solidFill>
                <a:latin typeface="Calibri" pitchFamily="34" charset="0"/>
                <a:ea typeface="Calibri" pitchFamily="34" charset="-122"/>
                <a:cs typeface="Calibri" pitchFamily="34" charset="-120"/>
              </a:rPr>
              <a:t>→  DHL (the highest delay rate, 40%) is the top priority to address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Key Insights</a:t>
            </a:r>
            <a:endParaRPr lang="en-US" sz="1700" dirty="0"/>
          </a:p>
        </p:txBody>
      </p:sp>
      <p:sp>
        <p:nvSpPr>
          <p:cNvPr id="5" name="Shape 3"/>
          <p:cNvSpPr/>
          <p:nvPr/>
        </p:nvSpPr>
        <p:spPr>
          <a:xfrm>
            <a:off x="256032" y="1005840"/>
            <a:ext cx="4242816" cy="1847088"/>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6" name="Shape 4"/>
          <p:cNvSpPr/>
          <p:nvPr/>
        </p:nvSpPr>
        <p:spPr>
          <a:xfrm>
            <a:off x="256032" y="1005840"/>
            <a:ext cx="4242816" cy="365760"/>
          </a:xfrm>
          <a:prstGeom prst="rect">
            <a:avLst/>
          </a:prstGeom>
          <a:solidFill>
            <a:srgbClr val="991B1B"/>
          </a:solidFill>
          <a:ln w="12700">
            <a:solidFill>
              <a:srgbClr val="991B1B"/>
            </a:solidFill>
            <a:prstDash val="solid"/>
          </a:ln>
        </p:spPr>
      </p:sp>
      <p:sp>
        <p:nvSpPr>
          <p:cNvPr id="7" name="Text 5"/>
          <p:cNvSpPr/>
          <p:nvPr/>
        </p:nvSpPr>
        <p:spPr>
          <a:xfrm>
            <a:off x="347472" y="1005840"/>
            <a:ext cx="475488" cy="365760"/>
          </a:xfrm>
          <a:prstGeom prst="rect">
            <a:avLst/>
          </a:prstGeom>
          <a:noFill/>
          <a:ln/>
        </p:spPr>
        <p:txBody>
          <a:bodyPr wrap="square" lIns="0" tIns="0" rIns="0" bIns="0" rtlCol="0" anchor="ctr"/>
          <a:lstStyle/>
          <a:p>
            <a:pPr marL="0" indent="0">
              <a:buNone/>
            </a:pPr>
            <a:r>
              <a:rPr lang="en-US" sz="1800" b="1" dirty="0">
                <a:solidFill>
                  <a:srgbClr val="8899AA"/>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768096" y="100584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Fix OTDR — Most Critical Issue</a:t>
            </a:r>
            <a:endParaRPr lang="en-US" sz="1100" dirty="0"/>
          </a:p>
        </p:txBody>
      </p:sp>
      <p:sp>
        <p:nvSpPr>
          <p:cNvPr id="9" name="Text 7"/>
          <p:cNvSpPr/>
          <p:nvPr/>
        </p:nvSpPr>
        <p:spPr>
          <a:xfrm>
            <a:off x="384048" y="1444752"/>
            <a:ext cx="3986784"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Insight: OTDR is just 26.40% — 95% target. ALL 5 suppliers are below 30%. This is systemic, not isolated.</a:t>
            </a:r>
            <a:endParaRPr lang="en-US" sz="850" dirty="0"/>
          </a:p>
        </p:txBody>
      </p:sp>
      <p:sp>
        <p:nvSpPr>
          <p:cNvPr id="10" name="Text 8"/>
          <p:cNvSpPr/>
          <p:nvPr/>
        </p:nvSpPr>
        <p:spPr>
          <a:xfrm>
            <a:off x="384048" y="1865376"/>
            <a:ext cx="3986784" cy="493776"/>
          </a:xfrm>
          <a:prstGeom prst="rect">
            <a:avLst/>
          </a:prstGeom>
          <a:noFill/>
          <a:ln/>
        </p:spPr>
        <p:txBody>
          <a:bodyPr wrap="square" lIns="0" tIns="0" rIns="0" bIns="0" rtlCol="0" anchor="ctr"/>
          <a:lstStyle/>
          <a:p>
            <a:pPr marL="0" indent="0">
              <a:buNone/>
            </a:pPr>
            <a:r>
              <a:rPr lang="en-US" sz="850" b="1" dirty="0">
                <a:solidFill>
                  <a:srgbClr val="334155"/>
                </a:solidFill>
                <a:latin typeface="Calibri" pitchFamily="34" charset="0"/>
                <a:ea typeface="Calibri" pitchFamily="34" charset="-122"/>
                <a:cs typeface="Calibri" pitchFamily="34" charset="-120"/>
              </a:rPr>
              <a:t>Action: Audit lead times for all suppliers (currently 23–27 days vs target &lt;10). Renegotiate contracts. </a:t>
            </a:r>
            <a:endParaRPr lang="en-US" sz="850" dirty="0"/>
          </a:p>
        </p:txBody>
      </p:sp>
      <p:sp>
        <p:nvSpPr>
          <p:cNvPr id="11" name="Text 9"/>
          <p:cNvSpPr/>
          <p:nvPr/>
        </p:nvSpPr>
        <p:spPr>
          <a:xfrm>
            <a:off x="384048" y="2450592"/>
            <a:ext cx="3986784" cy="310896"/>
          </a:xfrm>
          <a:prstGeom prst="rect">
            <a:avLst/>
          </a:prstGeom>
          <a:noFill/>
          <a:ln/>
        </p:spPr>
        <p:txBody>
          <a:bodyPr wrap="square" lIns="0" tIns="0" rIns="0" bIns="0" rtlCol="0" anchor="ctr"/>
          <a:lstStyle/>
          <a:p>
            <a:pPr marL="0" indent="0">
              <a:buNone/>
            </a:pPr>
            <a:endParaRPr lang="en-US" sz="850" dirty="0"/>
          </a:p>
        </p:txBody>
      </p:sp>
      <p:sp>
        <p:nvSpPr>
          <p:cNvPr id="12" name="Shape 10"/>
          <p:cNvSpPr/>
          <p:nvPr/>
        </p:nvSpPr>
        <p:spPr>
          <a:xfrm>
            <a:off x="4718304" y="1005840"/>
            <a:ext cx="4242816" cy="1847088"/>
          </a:xfrm>
          <a:prstGeom prst="rect">
            <a:avLst/>
          </a:prstGeom>
          <a:solidFill>
            <a:srgbClr val="FFF7ED"/>
          </a:solidFill>
          <a:ln w="12700">
            <a:solidFill>
              <a:srgbClr val="C2410C"/>
            </a:solidFill>
            <a:prstDash val="solid"/>
          </a:ln>
          <a:effectLst>
            <a:outerShdw blurRad="101600" dist="38100" dir="8100000" algn="bl" rotWithShape="0">
              <a:srgbClr val="000000">
                <a:alpha val="10000"/>
              </a:srgbClr>
            </a:outerShdw>
          </a:effectLst>
        </p:spPr>
      </p:sp>
      <p:sp>
        <p:nvSpPr>
          <p:cNvPr id="13" name="Shape 11"/>
          <p:cNvSpPr/>
          <p:nvPr/>
        </p:nvSpPr>
        <p:spPr>
          <a:xfrm>
            <a:off x="4718304" y="1005840"/>
            <a:ext cx="4242816" cy="365760"/>
          </a:xfrm>
          <a:prstGeom prst="rect">
            <a:avLst/>
          </a:prstGeom>
          <a:solidFill>
            <a:srgbClr val="C2410C"/>
          </a:solidFill>
          <a:ln w="12700">
            <a:solidFill>
              <a:srgbClr val="C2410C"/>
            </a:solidFill>
            <a:prstDash val="solid"/>
          </a:ln>
        </p:spPr>
      </p:sp>
      <p:sp>
        <p:nvSpPr>
          <p:cNvPr id="14" name="Text 12"/>
          <p:cNvSpPr/>
          <p:nvPr/>
        </p:nvSpPr>
        <p:spPr>
          <a:xfrm>
            <a:off x="4809744" y="1005840"/>
            <a:ext cx="475488" cy="365760"/>
          </a:xfrm>
          <a:prstGeom prst="rect">
            <a:avLst/>
          </a:prstGeom>
          <a:noFill/>
          <a:ln/>
        </p:spPr>
        <p:txBody>
          <a:bodyPr wrap="square" lIns="0" tIns="0" rIns="0" bIns="0" rtlCol="0" anchor="ctr"/>
          <a:lstStyle/>
          <a:p>
            <a:pPr marL="0" indent="0">
              <a:buNone/>
            </a:pPr>
            <a:r>
              <a:rPr lang="en-US" sz="1800" b="1" dirty="0">
                <a:solidFill>
                  <a:srgbClr val="8899AA"/>
                </a:solidFill>
                <a:latin typeface="Calibri" pitchFamily="34" charset="0"/>
                <a:ea typeface="Calibri" pitchFamily="34" charset="-122"/>
                <a:cs typeface="Calibri" pitchFamily="34" charset="-120"/>
              </a:rPr>
              <a:t>02</a:t>
            </a:r>
            <a:endParaRPr lang="en-US" sz="1800" dirty="0"/>
          </a:p>
        </p:txBody>
      </p:sp>
      <p:sp>
        <p:nvSpPr>
          <p:cNvPr id="15" name="Text 13"/>
          <p:cNvSpPr/>
          <p:nvPr/>
        </p:nvSpPr>
        <p:spPr>
          <a:xfrm>
            <a:off x="5230368" y="1005840"/>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Reduce the 16.6% Cancellation Rate</a:t>
            </a:r>
            <a:endParaRPr lang="en-US" sz="1100" dirty="0"/>
          </a:p>
        </p:txBody>
      </p:sp>
      <p:sp>
        <p:nvSpPr>
          <p:cNvPr id="16" name="Text 14"/>
          <p:cNvSpPr/>
          <p:nvPr/>
        </p:nvSpPr>
        <p:spPr>
          <a:xfrm>
            <a:off x="4846320" y="1444752"/>
            <a:ext cx="3986784"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Insight: 86 out of 500 orders (17.2%) are cancelled — 8× the 2% industry benchmark. Revenue impact is significant.</a:t>
            </a:r>
            <a:endParaRPr lang="en-US" sz="850" dirty="0"/>
          </a:p>
        </p:txBody>
      </p:sp>
      <p:sp>
        <p:nvSpPr>
          <p:cNvPr id="17" name="Text 15"/>
          <p:cNvSpPr/>
          <p:nvPr/>
        </p:nvSpPr>
        <p:spPr>
          <a:xfrm>
            <a:off x="4846320" y="1865376"/>
            <a:ext cx="3986784" cy="493776"/>
          </a:xfrm>
          <a:prstGeom prst="rect">
            <a:avLst/>
          </a:prstGeom>
          <a:noFill/>
          <a:ln/>
        </p:spPr>
        <p:txBody>
          <a:bodyPr wrap="square" lIns="0" tIns="0" rIns="0" bIns="0" rtlCol="0" anchor="ctr"/>
          <a:lstStyle/>
          <a:p>
            <a:pPr marL="0" indent="0">
              <a:buNone/>
            </a:pPr>
            <a:r>
              <a:rPr lang="en-US" sz="850" b="1" dirty="0">
                <a:solidFill>
                  <a:srgbClr val="334155"/>
                </a:solidFill>
                <a:latin typeface="Calibri" pitchFamily="34" charset="0"/>
                <a:ea typeface="Calibri" pitchFamily="34" charset="-122"/>
                <a:cs typeface="Calibri" pitchFamily="34" charset="-120"/>
              </a:rPr>
              <a:t>Action: Investigate root causes per category. Electronics cancellations are most costly given $2.84M revenue stake. Add cancellation tracking by supplier.</a:t>
            </a:r>
            <a:endParaRPr lang="en-US" sz="850" dirty="0"/>
          </a:p>
        </p:txBody>
      </p:sp>
      <p:sp>
        <p:nvSpPr>
          <p:cNvPr id="19" name="Shape 17"/>
          <p:cNvSpPr/>
          <p:nvPr/>
        </p:nvSpPr>
        <p:spPr>
          <a:xfrm>
            <a:off x="256032" y="2999232"/>
            <a:ext cx="4242816" cy="1847088"/>
          </a:xfrm>
          <a:prstGeom prst="rect">
            <a:avLst/>
          </a:prstGeom>
          <a:solidFill>
            <a:srgbClr val="F5F3FF"/>
          </a:solidFill>
          <a:ln w="12700">
            <a:solidFill>
              <a:srgbClr val="6B21A8"/>
            </a:solidFill>
            <a:prstDash val="solid"/>
          </a:ln>
          <a:effectLst>
            <a:outerShdw blurRad="101600" dist="38100" dir="8100000" algn="bl" rotWithShape="0">
              <a:srgbClr val="000000">
                <a:alpha val="10000"/>
              </a:srgbClr>
            </a:outerShdw>
          </a:effectLst>
        </p:spPr>
      </p:sp>
      <p:sp>
        <p:nvSpPr>
          <p:cNvPr id="20" name="Shape 18"/>
          <p:cNvSpPr/>
          <p:nvPr/>
        </p:nvSpPr>
        <p:spPr>
          <a:xfrm>
            <a:off x="256032" y="2999232"/>
            <a:ext cx="4242816" cy="365760"/>
          </a:xfrm>
          <a:prstGeom prst="rect">
            <a:avLst/>
          </a:prstGeom>
          <a:solidFill>
            <a:srgbClr val="6B21A8"/>
          </a:solidFill>
          <a:ln w="12700">
            <a:solidFill>
              <a:srgbClr val="6B21A8"/>
            </a:solidFill>
            <a:prstDash val="solid"/>
          </a:ln>
        </p:spPr>
      </p:sp>
      <p:sp>
        <p:nvSpPr>
          <p:cNvPr id="21" name="Text 19"/>
          <p:cNvSpPr/>
          <p:nvPr/>
        </p:nvSpPr>
        <p:spPr>
          <a:xfrm>
            <a:off x="347472" y="2999232"/>
            <a:ext cx="475488" cy="365760"/>
          </a:xfrm>
          <a:prstGeom prst="rect">
            <a:avLst/>
          </a:prstGeom>
          <a:noFill/>
          <a:ln/>
        </p:spPr>
        <p:txBody>
          <a:bodyPr wrap="square" lIns="0" tIns="0" rIns="0" bIns="0" rtlCol="0" anchor="ctr"/>
          <a:lstStyle/>
          <a:p>
            <a:pPr marL="0" indent="0">
              <a:buNone/>
            </a:pPr>
            <a:r>
              <a:rPr lang="en-US" sz="1800" b="1" dirty="0">
                <a:solidFill>
                  <a:srgbClr val="8899AA"/>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768096" y="2999232"/>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Optimise Freight — Shift from Air to Sea</a:t>
            </a:r>
            <a:endParaRPr lang="en-US" sz="1100" dirty="0"/>
          </a:p>
        </p:txBody>
      </p:sp>
      <p:sp>
        <p:nvSpPr>
          <p:cNvPr id="23" name="Text 21"/>
          <p:cNvSpPr/>
          <p:nvPr/>
        </p:nvSpPr>
        <p:spPr>
          <a:xfrm>
            <a:off x="384048" y="3438144"/>
            <a:ext cx="3986784"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Insight: Air freight is the most expensive mode per KG. Total freight cost is $15.55M. DHL has the highest delay rate (40%) yet is widely used.</a:t>
            </a:r>
            <a:endParaRPr lang="en-US" sz="850" dirty="0"/>
          </a:p>
        </p:txBody>
      </p:sp>
      <p:sp>
        <p:nvSpPr>
          <p:cNvPr id="24" name="Text 22"/>
          <p:cNvSpPr/>
          <p:nvPr/>
        </p:nvSpPr>
        <p:spPr>
          <a:xfrm>
            <a:off x="384048" y="3858768"/>
            <a:ext cx="3986784" cy="493776"/>
          </a:xfrm>
          <a:prstGeom prst="rect">
            <a:avLst/>
          </a:prstGeom>
          <a:noFill/>
          <a:ln/>
        </p:spPr>
        <p:txBody>
          <a:bodyPr wrap="square" lIns="0" tIns="0" rIns="0" bIns="0" rtlCol="0" anchor="ctr"/>
          <a:lstStyle/>
          <a:p>
            <a:pPr marL="0" indent="0">
              <a:buNone/>
            </a:pPr>
            <a:r>
              <a:rPr lang="en-US" sz="850" b="1" dirty="0">
                <a:solidFill>
                  <a:srgbClr val="334155"/>
                </a:solidFill>
                <a:latin typeface="Calibri" pitchFamily="34" charset="0"/>
                <a:ea typeface="Calibri" pitchFamily="34" charset="-122"/>
                <a:cs typeface="Calibri" pitchFamily="34" charset="-120"/>
              </a:rPr>
              <a:t>Action: Shift non-urgent Air shipments to Sea or Rail. UPS has the lowest delay rate — prioritise.</a:t>
            </a:r>
            <a:endParaRPr lang="en-US" sz="850" dirty="0"/>
          </a:p>
        </p:txBody>
      </p:sp>
      <p:sp>
        <p:nvSpPr>
          <p:cNvPr id="26" name="Shape 24"/>
          <p:cNvSpPr/>
          <p:nvPr/>
        </p:nvSpPr>
        <p:spPr>
          <a:xfrm>
            <a:off x="4718304" y="2999232"/>
            <a:ext cx="4242816" cy="1847088"/>
          </a:xfrm>
          <a:prstGeom prst="rect">
            <a:avLst/>
          </a:prstGeom>
          <a:solidFill>
            <a:srgbClr val="FEF3C7"/>
          </a:solidFill>
          <a:ln w="12700">
            <a:solidFill>
              <a:srgbClr val="B45309"/>
            </a:solidFill>
            <a:prstDash val="solid"/>
          </a:ln>
          <a:effectLst>
            <a:outerShdw blurRad="101600" dist="38100" dir="8100000" algn="bl" rotWithShape="0">
              <a:srgbClr val="000000">
                <a:alpha val="10000"/>
              </a:srgbClr>
            </a:outerShdw>
          </a:effectLst>
        </p:spPr>
      </p:sp>
      <p:sp>
        <p:nvSpPr>
          <p:cNvPr id="27" name="Shape 25"/>
          <p:cNvSpPr/>
          <p:nvPr/>
        </p:nvSpPr>
        <p:spPr>
          <a:xfrm>
            <a:off x="4718304" y="2999232"/>
            <a:ext cx="4242816" cy="365760"/>
          </a:xfrm>
          <a:prstGeom prst="rect">
            <a:avLst/>
          </a:prstGeom>
          <a:solidFill>
            <a:srgbClr val="B45309"/>
          </a:solidFill>
          <a:ln w="12700">
            <a:solidFill>
              <a:srgbClr val="B45309"/>
            </a:solidFill>
            <a:prstDash val="solid"/>
          </a:ln>
        </p:spPr>
      </p:sp>
      <p:sp>
        <p:nvSpPr>
          <p:cNvPr id="28" name="Text 26"/>
          <p:cNvSpPr/>
          <p:nvPr/>
        </p:nvSpPr>
        <p:spPr>
          <a:xfrm>
            <a:off x="4809744" y="2999232"/>
            <a:ext cx="475488" cy="365760"/>
          </a:xfrm>
          <a:prstGeom prst="rect">
            <a:avLst/>
          </a:prstGeom>
          <a:noFill/>
          <a:ln/>
        </p:spPr>
        <p:txBody>
          <a:bodyPr wrap="square" lIns="0" tIns="0" rIns="0" bIns="0" rtlCol="0" anchor="ctr"/>
          <a:lstStyle/>
          <a:p>
            <a:pPr marL="0" indent="0">
              <a:buNone/>
            </a:pPr>
            <a:r>
              <a:rPr lang="en-US" sz="1800" b="1" dirty="0">
                <a:solidFill>
                  <a:srgbClr val="8899AA"/>
                </a:solidFill>
                <a:latin typeface="Calibri" pitchFamily="34" charset="0"/>
                <a:ea typeface="Calibri" pitchFamily="34" charset="-122"/>
                <a:cs typeface="Calibri" pitchFamily="34" charset="-120"/>
              </a:rPr>
              <a:t>04</a:t>
            </a:r>
            <a:endParaRPr lang="en-US" sz="1800" dirty="0"/>
          </a:p>
        </p:txBody>
      </p:sp>
      <p:sp>
        <p:nvSpPr>
          <p:cNvPr id="29" name="Text 27"/>
          <p:cNvSpPr/>
          <p:nvPr/>
        </p:nvSpPr>
        <p:spPr>
          <a:xfrm>
            <a:off x="5230368" y="2999232"/>
            <a:ext cx="36576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Increase Warehouse Utilisation from 39%</a:t>
            </a:r>
            <a:endParaRPr lang="en-US" sz="1100" dirty="0"/>
          </a:p>
        </p:txBody>
      </p:sp>
      <p:sp>
        <p:nvSpPr>
          <p:cNvPr id="30" name="Text 28"/>
          <p:cNvSpPr/>
          <p:nvPr/>
        </p:nvSpPr>
        <p:spPr>
          <a:xfrm>
            <a:off x="4846320" y="3438144"/>
            <a:ext cx="3986784" cy="420624"/>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Insight: Warehouse utilisation is only 39% — well below the 60–85% optimal range. Capacity is significantly wasted.</a:t>
            </a:r>
            <a:endParaRPr lang="en-US" sz="850" dirty="0"/>
          </a:p>
        </p:txBody>
      </p:sp>
      <p:sp>
        <p:nvSpPr>
          <p:cNvPr id="31" name="Text 29"/>
          <p:cNvSpPr/>
          <p:nvPr/>
        </p:nvSpPr>
        <p:spPr>
          <a:xfrm>
            <a:off x="4846320" y="3858768"/>
            <a:ext cx="3986784" cy="493776"/>
          </a:xfrm>
          <a:prstGeom prst="rect">
            <a:avLst/>
          </a:prstGeom>
          <a:noFill/>
          <a:ln/>
        </p:spPr>
        <p:txBody>
          <a:bodyPr wrap="square" lIns="0" tIns="0" rIns="0" bIns="0" rtlCol="0" anchor="ctr"/>
          <a:lstStyle/>
          <a:p>
            <a:pPr marL="0" indent="0">
              <a:buNone/>
            </a:pPr>
            <a:r>
              <a:rPr lang="en-US" sz="850" b="1" dirty="0">
                <a:solidFill>
                  <a:srgbClr val="334155"/>
                </a:solidFill>
                <a:latin typeface="Calibri" pitchFamily="34" charset="0"/>
                <a:ea typeface="Calibri" pitchFamily="34" charset="-122"/>
                <a:cs typeface="Calibri" pitchFamily="34" charset="-120"/>
              </a:rPr>
              <a:t>Action: Consolidate inventory into fewer locations. Review whether all 5 warehouses are needed. Consider cross-docking to reduce idle stock.</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F4E79"/>
          </a:solidFill>
          <a:ln w="12700">
            <a:solidFill>
              <a:srgbClr val="1F4E79"/>
            </a:solidFill>
            <a:prstDash val="solid"/>
          </a:ln>
        </p:spPr>
      </p:sp>
      <p:sp>
        <p:nvSpPr>
          <p:cNvPr id="3" name="Text 1"/>
          <p:cNvSpPr/>
          <p:nvPr/>
        </p:nvSpPr>
        <p:spPr>
          <a:xfrm>
            <a:off x="320040" y="0"/>
            <a:ext cx="7772400" cy="65836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Conclusion</a:t>
            </a:r>
            <a:endParaRPr lang="en-US" sz="1700" dirty="0"/>
          </a:p>
        </p:txBody>
      </p:sp>
      <p:sp>
        <p:nvSpPr>
          <p:cNvPr id="5" name="Shape 3"/>
          <p:cNvSpPr/>
          <p:nvPr/>
        </p:nvSpPr>
        <p:spPr>
          <a:xfrm>
            <a:off x="256032" y="914400"/>
            <a:ext cx="2761488" cy="1078992"/>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6" name="Shape 4"/>
          <p:cNvSpPr/>
          <p:nvPr/>
        </p:nvSpPr>
        <p:spPr>
          <a:xfrm>
            <a:off x="256032" y="914400"/>
            <a:ext cx="2761488" cy="64008"/>
          </a:xfrm>
          <a:prstGeom prst="rect">
            <a:avLst/>
          </a:prstGeom>
          <a:solidFill>
            <a:srgbClr val="991B1B"/>
          </a:solidFill>
          <a:ln w="12700">
            <a:solidFill>
              <a:srgbClr val="991B1B"/>
            </a:solidFill>
            <a:prstDash val="solid"/>
          </a:ln>
        </p:spPr>
      </p:sp>
      <p:sp>
        <p:nvSpPr>
          <p:cNvPr id="7" name="Text 5"/>
          <p:cNvSpPr/>
          <p:nvPr/>
        </p:nvSpPr>
        <p:spPr>
          <a:xfrm>
            <a:off x="256032" y="1005840"/>
            <a:ext cx="2761488" cy="539496"/>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26.40%</a:t>
            </a:r>
            <a:endParaRPr lang="en-US" sz="2600" dirty="0"/>
          </a:p>
        </p:txBody>
      </p:sp>
      <p:sp>
        <p:nvSpPr>
          <p:cNvPr id="8" name="Text 6"/>
          <p:cNvSpPr/>
          <p:nvPr/>
        </p:nvSpPr>
        <p:spPr>
          <a:xfrm>
            <a:off x="256032" y="1497056"/>
            <a:ext cx="2761488" cy="302118"/>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OTDR vs 95% Target</a:t>
            </a:r>
            <a:endParaRPr lang="en-US" sz="900" dirty="0"/>
          </a:p>
        </p:txBody>
      </p:sp>
      <p:sp>
        <p:nvSpPr>
          <p:cNvPr id="9" name="Text 7"/>
          <p:cNvSpPr/>
          <p:nvPr/>
        </p:nvSpPr>
        <p:spPr>
          <a:xfrm>
            <a:off x="256032" y="1777594"/>
            <a:ext cx="2761488" cy="194219"/>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Delivery performance is critically low</a:t>
            </a:r>
            <a:endParaRPr lang="en-US" sz="750" dirty="0"/>
          </a:p>
        </p:txBody>
      </p:sp>
      <p:sp>
        <p:nvSpPr>
          <p:cNvPr id="10" name="Shape 8"/>
          <p:cNvSpPr/>
          <p:nvPr/>
        </p:nvSpPr>
        <p:spPr>
          <a:xfrm>
            <a:off x="3200400" y="914400"/>
            <a:ext cx="2761488" cy="1078992"/>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11" name="Shape 9"/>
          <p:cNvSpPr/>
          <p:nvPr/>
        </p:nvSpPr>
        <p:spPr>
          <a:xfrm>
            <a:off x="3200400" y="914400"/>
            <a:ext cx="2761488" cy="64008"/>
          </a:xfrm>
          <a:prstGeom prst="rect">
            <a:avLst/>
          </a:prstGeom>
          <a:solidFill>
            <a:srgbClr val="991B1B"/>
          </a:solidFill>
          <a:ln w="12700">
            <a:solidFill>
              <a:srgbClr val="991B1B"/>
            </a:solidFill>
            <a:prstDash val="solid"/>
          </a:ln>
        </p:spPr>
      </p:sp>
      <p:sp>
        <p:nvSpPr>
          <p:cNvPr id="12" name="Text 10"/>
          <p:cNvSpPr/>
          <p:nvPr/>
        </p:nvSpPr>
        <p:spPr>
          <a:xfrm>
            <a:off x="3200400" y="1005840"/>
            <a:ext cx="2761488" cy="539496"/>
          </a:xfrm>
          <a:prstGeom prst="rect">
            <a:avLst/>
          </a:prstGeom>
          <a:noFill/>
          <a:ln/>
        </p:spPr>
        <p:txBody>
          <a:bodyPr wrap="square" lIns="0" tIns="0" rIns="0" bIns="0" rtlCol="0" anchor="ctr"/>
          <a:lstStyle/>
          <a:p>
            <a:pPr marL="0" indent="0" algn="ctr">
              <a:buNone/>
            </a:pPr>
            <a:r>
              <a:rPr lang="en-US" sz="2600" b="1" dirty="0">
                <a:solidFill>
                  <a:srgbClr val="991B1B"/>
                </a:solidFill>
                <a:latin typeface="Calibri" pitchFamily="34" charset="0"/>
                <a:ea typeface="Calibri" pitchFamily="34" charset="-122"/>
                <a:cs typeface="Calibri" pitchFamily="34" charset="-120"/>
              </a:rPr>
              <a:t>16.60%</a:t>
            </a:r>
            <a:endParaRPr lang="en-US" sz="2600" dirty="0"/>
          </a:p>
        </p:txBody>
      </p:sp>
      <p:sp>
        <p:nvSpPr>
          <p:cNvPr id="13" name="Text 11"/>
          <p:cNvSpPr/>
          <p:nvPr/>
        </p:nvSpPr>
        <p:spPr>
          <a:xfrm>
            <a:off x="3200400" y="1497056"/>
            <a:ext cx="2761488" cy="302118"/>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Cancellation Rate</a:t>
            </a:r>
            <a:endParaRPr lang="en-US" sz="900" dirty="0"/>
          </a:p>
        </p:txBody>
      </p:sp>
      <p:sp>
        <p:nvSpPr>
          <p:cNvPr id="14" name="Text 12"/>
          <p:cNvSpPr/>
          <p:nvPr/>
        </p:nvSpPr>
        <p:spPr>
          <a:xfrm>
            <a:off x="3200400" y="1777594"/>
            <a:ext cx="2761488" cy="194219"/>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8× above the 2% benchmark</a:t>
            </a:r>
            <a:endParaRPr lang="en-US" sz="750" dirty="0"/>
          </a:p>
        </p:txBody>
      </p:sp>
      <p:sp>
        <p:nvSpPr>
          <p:cNvPr id="15" name="Shape 13"/>
          <p:cNvSpPr/>
          <p:nvPr/>
        </p:nvSpPr>
        <p:spPr>
          <a:xfrm>
            <a:off x="6144768" y="914400"/>
            <a:ext cx="2761488" cy="1078992"/>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16" name="Shape 14"/>
          <p:cNvSpPr/>
          <p:nvPr/>
        </p:nvSpPr>
        <p:spPr>
          <a:xfrm>
            <a:off x="6144768" y="914400"/>
            <a:ext cx="2761488" cy="64008"/>
          </a:xfrm>
          <a:prstGeom prst="rect">
            <a:avLst/>
          </a:prstGeom>
          <a:solidFill>
            <a:srgbClr val="C2410C"/>
          </a:solidFill>
          <a:ln w="12700">
            <a:solidFill>
              <a:srgbClr val="C2410C"/>
            </a:solidFill>
            <a:prstDash val="solid"/>
          </a:ln>
        </p:spPr>
      </p:sp>
      <p:sp>
        <p:nvSpPr>
          <p:cNvPr id="17" name="Text 15"/>
          <p:cNvSpPr/>
          <p:nvPr/>
        </p:nvSpPr>
        <p:spPr>
          <a:xfrm>
            <a:off x="6144768" y="1005840"/>
            <a:ext cx="2761488" cy="539496"/>
          </a:xfrm>
          <a:prstGeom prst="rect">
            <a:avLst/>
          </a:prstGeom>
          <a:noFill/>
          <a:ln/>
        </p:spPr>
        <p:txBody>
          <a:bodyPr wrap="square" lIns="0" tIns="0" rIns="0" bIns="0" rtlCol="0" anchor="ctr"/>
          <a:lstStyle/>
          <a:p>
            <a:pPr marL="0" indent="0" algn="ctr">
              <a:buNone/>
            </a:pPr>
            <a:r>
              <a:rPr lang="en-US" sz="2600" b="1" dirty="0">
                <a:solidFill>
                  <a:srgbClr val="C2410C"/>
                </a:solidFill>
                <a:latin typeface="Calibri" pitchFamily="34" charset="0"/>
                <a:ea typeface="Calibri" pitchFamily="34" charset="-122"/>
                <a:cs typeface="Calibri" pitchFamily="34" charset="-120"/>
              </a:rPr>
              <a:t>39%</a:t>
            </a:r>
            <a:endParaRPr lang="en-US" sz="2600" dirty="0"/>
          </a:p>
        </p:txBody>
      </p:sp>
      <p:sp>
        <p:nvSpPr>
          <p:cNvPr id="18" name="Text 16"/>
          <p:cNvSpPr/>
          <p:nvPr/>
        </p:nvSpPr>
        <p:spPr>
          <a:xfrm>
            <a:off x="6144768" y="1497056"/>
            <a:ext cx="2761488" cy="302118"/>
          </a:xfrm>
          <a:prstGeom prst="rect">
            <a:avLst/>
          </a:prstGeom>
          <a:noFill/>
          <a:ln/>
        </p:spPr>
        <p:txBody>
          <a:bodyPr wrap="square" lIns="0" tIns="0" rIns="0" bIns="0" rtlCol="0" anchor="ctr"/>
          <a:lstStyle/>
          <a:p>
            <a:pPr marL="0" indent="0" algn="ctr">
              <a:buNone/>
            </a:pPr>
            <a:r>
              <a:rPr lang="en-US" sz="900" b="1" dirty="0">
                <a:solidFill>
                  <a:srgbClr val="334155"/>
                </a:solidFill>
                <a:latin typeface="Calibri" pitchFamily="34" charset="0"/>
                <a:ea typeface="Calibri" pitchFamily="34" charset="-122"/>
                <a:cs typeface="Calibri" pitchFamily="34" charset="-120"/>
              </a:rPr>
              <a:t>Warehouse Utilisation</a:t>
            </a:r>
            <a:endParaRPr lang="en-US" sz="900" dirty="0"/>
          </a:p>
        </p:txBody>
      </p:sp>
      <p:sp>
        <p:nvSpPr>
          <p:cNvPr id="19" name="Text 17"/>
          <p:cNvSpPr/>
          <p:nvPr/>
        </p:nvSpPr>
        <p:spPr>
          <a:xfrm>
            <a:off x="6144768" y="1777594"/>
            <a:ext cx="2761488" cy="194219"/>
          </a:xfrm>
          <a:prstGeom prst="rect">
            <a:avLst/>
          </a:prstGeom>
          <a:noFill/>
          <a:ln/>
        </p:spPr>
        <p:txBody>
          <a:bodyPr wrap="square" lIns="0" tIns="0" rIns="0" bIns="0" rtlCol="0" anchor="ctr"/>
          <a:lstStyle/>
          <a:p>
            <a:pPr marL="0" indent="0" algn="ctr">
              <a:buNone/>
            </a:pPr>
            <a:r>
              <a:rPr lang="en-US" sz="750" i="1" dirty="0">
                <a:solidFill>
                  <a:srgbClr val="991B1B"/>
                </a:solidFill>
                <a:latin typeface="Calibri" pitchFamily="34" charset="0"/>
                <a:ea typeface="Calibri" pitchFamily="34" charset="-122"/>
                <a:cs typeface="Calibri" pitchFamily="34" charset="-120"/>
              </a:rPr>
              <a:t>Far below 60–85% optimal range</a:t>
            </a:r>
            <a:endParaRPr lang="en-US" sz="750" dirty="0"/>
          </a:p>
        </p:txBody>
      </p:sp>
      <p:sp>
        <p:nvSpPr>
          <p:cNvPr id="20" name="Shape 18"/>
          <p:cNvSpPr/>
          <p:nvPr/>
        </p:nvSpPr>
        <p:spPr>
          <a:xfrm>
            <a:off x="256032" y="2084832"/>
            <a:ext cx="8631936" cy="274320"/>
          </a:xfrm>
          <a:prstGeom prst="rect">
            <a:avLst/>
          </a:prstGeom>
          <a:solidFill>
            <a:srgbClr val="1F4E79"/>
          </a:solidFill>
          <a:ln w="12700">
            <a:solidFill>
              <a:srgbClr val="1F4E79"/>
            </a:solidFill>
            <a:prstDash val="solid"/>
          </a:ln>
        </p:spPr>
      </p:sp>
      <p:sp>
        <p:nvSpPr>
          <p:cNvPr id="21" name="Text 19"/>
          <p:cNvSpPr/>
          <p:nvPr/>
        </p:nvSpPr>
        <p:spPr>
          <a:xfrm>
            <a:off x="256032" y="2084832"/>
            <a:ext cx="8631936"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This Analysis Reveals</a:t>
            </a:r>
            <a:endParaRPr lang="en-US" sz="1100" dirty="0"/>
          </a:p>
        </p:txBody>
      </p:sp>
      <p:sp>
        <p:nvSpPr>
          <p:cNvPr id="22" name="Shape 20"/>
          <p:cNvSpPr/>
          <p:nvPr/>
        </p:nvSpPr>
        <p:spPr>
          <a:xfrm>
            <a:off x="256032" y="2450592"/>
            <a:ext cx="4242816" cy="1143000"/>
          </a:xfrm>
          <a:prstGeom prst="rect">
            <a:avLst/>
          </a:prstGeom>
          <a:solidFill>
            <a:srgbClr val="FEF2F2"/>
          </a:solidFill>
          <a:ln w="12700">
            <a:solidFill>
              <a:srgbClr val="991B1B"/>
            </a:solidFill>
            <a:prstDash val="solid"/>
          </a:ln>
          <a:effectLst>
            <a:outerShdw blurRad="101600" dist="38100" dir="8100000" algn="bl" rotWithShape="0">
              <a:srgbClr val="000000">
                <a:alpha val="10000"/>
              </a:srgbClr>
            </a:outerShdw>
          </a:effectLst>
        </p:spPr>
      </p:sp>
      <p:sp>
        <p:nvSpPr>
          <p:cNvPr id="23" name="Shape 21"/>
          <p:cNvSpPr/>
          <p:nvPr/>
        </p:nvSpPr>
        <p:spPr>
          <a:xfrm>
            <a:off x="256032" y="2450592"/>
            <a:ext cx="54864" cy="1143000"/>
          </a:xfrm>
          <a:prstGeom prst="rect">
            <a:avLst/>
          </a:prstGeom>
          <a:solidFill>
            <a:srgbClr val="991B1B"/>
          </a:solidFill>
          <a:ln w="12700">
            <a:solidFill>
              <a:srgbClr val="991B1B"/>
            </a:solidFill>
            <a:prstDash val="solid"/>
          </a:ln>
        </p:spPr>
      </p:sp>
      <p:sp>
        <p:nvSpPr>
          <p:cNvPr id="24" name="Text 22"/>
          <p:cNvSpPr/>
          <p:nvPr/>
        </p:nvSpPr>
        <p:spPr>
          <a:xfrm>
            <a:off x="402336" y="2523744"/>
            <a:ext cx="3986784" cy="256032"/>
          </a:xfrm>
          <a:prstGeom prst="rect">
            <a:avLst/>
          </a:prstGeom>
          <a:noFill/>
          <a:ln/>
        </p:spPr>
        <p:txBody>
          <a:bodyPr wrap="square" lIns="0" tIns="0" rIns="0" bIns="0" rtlCol="0" anchor="ctr"/>
          <a:lstStyle/>
          <a:p>
            <a:pPr marL="0" indent="0">
              <a:buNone/>
            </a:pPr>
            <a:r>
              <a:rPr lang="en-US" sz="1000" b="1" dirty="0">
                <a:solidFill>
                  <a:srgbClr val="991B1B"/>
                </a:solidFill>
                <a:latin typeface="Calibri" pitchFamily="34" charset="0"/>
                <a:ea typeface="Calibri" pitchFamily="34" charset="-122"/>
                <a:cs typeface="Calibri" pitchFamily="34" charset="-120"/>
              </a:rPr>
              <a:t>🔴  Delivery is Broken End-to-End</a:t>
            </a:r>
            <a:endParaRPr lang="en-US" sz="1000" dirty="0"/>
          </a:p>
        </p:txBody>
      </p:sp>
      <p:sp>
        <p:nvSpPr>
          <p:cNvPr id="25" name="Text 23"/>
          <p:cNvSpPr/>
          <p:nvPr/>
        </p:nvSpPr>
        <p:spPr>
          <a:xfrm>
            <a:off x="402336" y="2779776"/>
            <a:ext cx="3986784" cy="74980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No supplier achieves even 30% OTDR. Average lead time of 25 days vs 10-day target means the supply chain has a structural timing problem that requires renegotiating supplier contracts and reviewing logistics routes entirely.</a:t>
            </a:r>
            <a:endParaRPr lang="en-US" sz="850" dirty="0"/>
          </a:p>
        </p:txBody>
      </p:sp>
      <p:sp>
        <p:nvSpPr>
          <p:cNvPr id="26" name="Shape 24"/>
          <p:cNvSpPr/>
          <p:nvPr/>
        </p:nvSpPr>
        <p:spPr>
          <a:xfrm>
            <a:off x="4718304" y="2450592"/>
            <a:ext cx="4242816" cy="1143000"/>
          </a:xfrm>
          <a:prstGeom prst="rect">
            <a:avLst/>
          </a:prstGeom>
          <a:solidFill>
            <a:srgbClr val="F0F7FF"/>
          </a:solidFill>
          <a:ln w="12700">
            <a:solidFill>
              <a:srgbClr val="1F4E79"/>
            </a:solidFill>
            <a:prstDash val="solid"/>
          </a:ln>
          <a:effectLst>
            <a:outerShdw blurRad="101600" dist="38100" dir="8100000" algn="bl" rotWithShape="0">
              <a:srgbClr val="000000">
                <a:alpha val="10000"/>
              </a:srgbClr>
            </a:outerShdw>
          </a:effectLst>
        </p:spPr>
      </p:sp>
      <p:sp>
        <p:nvSpPr>
          <p:cNvPr id="27" name="Shape 25"/>
          <p:cNvSpPr/>
          <p:nvPr/>
        </p:nvSpPr>
        <p:spPr>
          <a:xfrm>
            <a:off x="4718304" y="2450592"/>
            <a:ext cx="54864" cy="1143000"/>
          </a:xfrm>
          <a:prstGeom prst="rect">
            <a:avLst/>
          </a:prstGeom>
          <a:solidFill>
            <a:srgbClr val="1F4E79"/>
          </a:solidFill>
          <a:ln w="12700">
            <a:solidFill>
              <a:srgbClr val="1F4E79"/>
            </a:solidFill>
            <a:prstDash val="solid"/>
          </a:ln>
        </p:spPr>
      </p:sp>
      <p:sp>
        <p:nvSpPr>
          <p:cNvPr id="28" name="Text 26"/>
          <p:cNvSpPr/>
          <p:nvPr/>
        </p:nvSpPr>
        <p:spPr>
          <a:xfrm>
            <a:off x="4864608" y="2523744"/>
            <a:ext cx="3986784" cy="256032"/>
          </a:xfrm>
          <a:prstGeom prst="rect">
            <a:avLst/>
          </a:prstGeom>
          <a:noFill/>
          <a:ln/>
        </p:spPr>
        <p:txBody>
          <a:bodyPr wrap="square" lIns="0" tIns="0" rIns="0" bIns="0" rtlCol="0" anchor="ctr"/>
          <a:lstStyle/>
          <a:p>
            <a:pPr marL="0" indent="0">
              <a:buNone/>
            </a:pPr>
            <a:r>
              <a:rPr lang="en-US" sz="1000" b="1" dirty="0">
                <a:solidFill>
                  <a:srgbClr val="1F4E79"/>
                </a:solidFill>
                <a:latin typeface="Calibri" pitchFamily="34" charset="0"/>
                <a:ea typeface="Calibri" pitchFamily="34" charset="-122"/>
                <a:cs typeface="Calibri" pitchFamily="34" charset="-120"/>
              </a:rPr>
              <a:t>💰  Revenue Potential is Being Lost</a:t>
            </a:r>
            <a:endParaRPr lang="en-US" sz="1000" dirty="0"/>
          </a:p>
        </p:txBody>
      </p:sp>
      <p:sp>
        <p:nvSpPr>
          <p:cNvPr id="29" name="Text 27"/>
          <p:cNvSpPr/>
          <p:nvPr/>
        </p:nvSpPr>
        <p:spPr>
          <a:xfrm>
            <a:off x="4864608" y="2779776"/>
            <a:ext cx="3986784" cy="749808"/>
          </a:xfrm>
          <a:prstGeom prst="rect">
            <a:avLst/>
          </a:prstGeom>
          <a:noFill/>
          <a:ln/>
        </p:spPr>
        <p:txBody>
          <a:bodyPr wrap="square" lIns="0" tIns="0" rIns="0" bIns="0" rtlCol="0" anchor="t"/>
          <a:lstStyle/>
          <a:p>
            <a:r>
              <a:rPr lang="en-US" sz="850" dirty="0">
                <a:solidFill>
                  <a:srgbClr val="334155"/>
                </a:solidFill>
                <a:latin typeface="Calibri" pitchFamily="34" charset="0"/>
                <a:ea typeface="Calibri" pitchFamily="34" charset="-122"/>
                <a:cs typeface="Calibri" pitchFamily="34" charset="-120"/>
              </a:rPr>
              <a:t>$3.88M total revenue was recorded, but 86 cancelled orders and 16.6% cancellation rate represent significant unrealised revenue. Electronics at 73% of revenue is highly concentrated, posing a risk if that category falters.</a:t>
            </a:r>
            <a:endParaRPr lang="en-US" sz="850" dirty="0"/>
          </a:p>
        </p:txBody>
      </p:sp>
      <p:sp>
        <p:nvSpPr>
          <p:cNvPr id="30" name="Shape 28"/>
          <p:cNvSpPr/>
          <p:nvPr/>
        </p:nvSpPr>
        <p:spPr>
          <a:xfrm>
            <a:off x="256032" y="3685032"/>
            <a:ext cx="4242816" cy="1143000"/>
          </a:xfrm>
          <a:prstGeom prst="rect">
            <a:avLst/>
          </a:prstGeom>
          <a:solidFill>
            <a:srgbClr val="F5F3FF"/>
          </a:solidFill>
          <a:ln w="12700">
            <a:solidFill>
              <a:srgbClr val="6B21A8"/>
            </a:solidFill>
            <a:prstDash val="solid"/>
          </a:ln>
          <a:effectLst>
            <a:outerShdw blurRad="101600" dist="38100" dir="8100000" algn="bl" rotWithShape="0">
              <a:srgbClr val="000000">
                <a:alpha val="10000"/>
              </a:srgbClr>
            </a:outerShdw>
          </a:effectLst>
        </p:spPr>
      </p:sp>
      <p:sp>
        <p:nvSpPr>
          <p:cNvPr id="31" name="Shape 29"/>
          <p:cNvSpPr/>
          <p:nvPr/>
        </p:nvSpPr>
        <p:spPr>
          <a:xfrm>
            <a:off x="256032" y="3685032"/>
            <a:ext cx="54864" cy="1143000"/>
          </a:xfrm>
          <a:prstGeom prst="rect">
            <a:avLst/>
          </a:prstGeom>
          <a:solidFill>
            <a:srgbClr val="6B21A8"/>
          </a:solidFill>
          <a:ln w="12700">
            <a:solidFill>
              <a:srgbClr val="6B21A8"/>
            </a:solidFill>
            <a:prstDash val="solid"/>
          </a:ln>
        </p:spPr>
      </p:sp>
      <p:sp>
        <p:nvSpPr>
          <p:cNvPr id="32" name="Text 30"/>
          <p:cNvSpPr/>
          <p:nvPr/>
        </p:nvSpPr>
        <p:spPr>
          <a:xfrm>
            <a:off x="402336" y="3758184"/>
            <a:ext cx="3986784" cy="256032"/>
          </a:xfrm>
          <a:prstGeom prst="rect">
            <a:avLst/>
          </a:prstGeom>
          <a:noFill/>
          <a:ln/>
        </p:spPr>
        <p:txBody>
          <a:bodyPr wrap="square" lIns="0" tIns="0" rIns="0" bIns="0" rtlCol="0" anchor="ctr"/>
          <a:lstStyle/>
          <a:p>
            <a:pPr marL="0" indent="0">
              <a:buNone/>
            </a:pPr>
            <a:r>
              <a:rPr lang="en-US" sz="1000" b="1" dirty="0">
                <a:solidFill>
                  <a:srgbClr val="6B21A8"/>
                </a:solidFill>
                <a:latin typeface="Calibri" pitchFamily="34" charset="0"/>
                <a:ea typeface="Calibri" pitchFamily="34" charset="-122"/>
                <a:cs typeface="Calibri" pitchFamily="34" charset="-120"/>
              </a:rPr>
              <a:t>🚚  Freight Costs Need Urgent Review</a:t>
            </a:r>
            <a:endParaRPr lang="en-US" sz="1000" dirty="0"/>
          </a:p>
        </p:txBody>
      </p:sp>
      <p:sp>
        <p:nvSpPr>
          <p:cNvPr id="33" name="Text 31"/>
          <p:cNvSpPr/>
          <p:nvPr/>
        </p:nvSpPr>
        <p:spPr>
          <a:xfrm>
            <a:off x="402336" y="4014216"/>
            <a:ext cx="3986784" cy="74980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$15.55M in total freight cost is very high. Air freight is the most expensive mode by far, and DHL has the highest delay rate (40%). The freight strategy needs an immediate mode-mix shift towards Sea and Rail.</a:t>
            </a:r>
            <a:endParaRPr lang="en-US" sz="850" dirty="0"/>
          </a:p>
        </p:txBody>
      </p:sp>
      <p:sp>
        <p:nvSpPr>
          <p:cNvPr id="34" name="Shape 32"/>
          <p:cNvSpPr/>
          <p:nvPr/>
        </p:nvSpPr>
        <p:spPr>
          <a:xfrm>
            <a:off x="4718304" y="3685032"/>
            <a:ext cx="4242816" cy="1143000"/>
          </a:xfrm>
          <a:prstGeom prst="rect">
            <a:avLst/>
          </a:prstGeom>
          <a:solidFill>
            <a:srgbClr val="F0FDF4"/>
          </a:solidFill>
          <a:ln w="12700">
            <a:solidFill>
              <a:srgbClr val="166534"/>
            </a:solidFill>
            <a:prstDash val="solid"/>
          </a:ln>
          <a:effectLst>
            <a:outerShdw blurRad="101600" dist="38100" dir="8100000" algn="bl" rotWithShape="0">
              <a:srgbClr val="000000">
                <a:alpha val="10000"/>
              </a:srgbClr>
            </a:outerShdw>
          </a:effectLst>
        </p:spPr>
      </p:sp>
      <p:sp>
        <p:nvSpPr>
          <p:cNvPr id="35" name="Shape 33"/>
          <p:cNvSpPr/>
          <p:nvPr/>
        </p:nvSpPr>
        <p:spPr>
          <a:xfrm>
            <a:off x="4718304" y="3685032"/>
            <a:ext cx="54864" cy="1143000"/>
          </a:xfrm>
          <a:prstGeom prst="rect">
            <a:avLst/>
          </a:prstGeom>
          <a:solidFill>
            <a:srgbClr val="166534"/>
          </a:solidFill>
          <a:ln w="12700">
            <a:solidFill>
              <a:srgbClr val="166534"/>
            </a:solidFill>
            <a:prstDash val="solid"/>
          </a:ln>
        </p:spPr>
      </p:sp>
      <p:sp>
        <p:nvSpPr>
          <p:cNvPr id="36" name="Text 34"/>
          <p:cNvSpPr/>
          <p:nvPr/>
        </p:nvSpPr>
        <p:spPr>
          <a:xfrm>
            <a:off x="4864608" y="3758184"/>
            <a:ext cx="3986784" cy="256032"/>
          </a:xfrm>
          <a:prstGeom prst="rect">
            <a:avLst/>
          </a:prstGeom>
          <a:noFill/>
          <a:ln/>
        </p:spPr>
        <p:txBody>
          <a:bodyPr wrap="square" lIns="0" tIns="0" rIns="0" bIns="0" rtlCol="0" anchor="ctr"/>
          <a:lstStyle/>
          <a:p>
            <a:pPr marL="0" indent="0">
              <a:buNone/>
            </a:pPr>
            <a:r>
              <a:rPr lang="en-US" sz="1000" b="1" dirty="0">
                <a:solidFill>
                  <a:srgbClr val="166534"/>
                </a:solidFill>
                <a:latin typeface="Calibri" pitchFamily="34" charset="0"/>
                <a:ea typeface="Calibri" pitchFamily="34" charset="-122"/>
                <a:cs typeface="Calibri" pitchFamily="34" charset="-120"/>
              </a:rPr>
              <a:t>✅  Inventory is Under Control</a:t>
            </a:r>
            <a:endParaRPr lang="en-US" sz="1000" dirty="0"/>
          </a:p>
        </p:txBody>
      </p:sp>
      <p:sp>
        <p:nvSpPr>
          <p:cNvPr id="37" name="Text 35"/>
          <p:cNvSpPr/>
          <p:nvPr/>
        </p:nvSpPr>
        <p:spPr>
          <a:xfrm>
            <a:off x="4864608" y="4014216"/>
            <a:ext cx="3986784" cy="749808"/>
          </a:xfrm>
          <a:prstGeom prst="rect">
            <a:avLst/>
          </a:prstGeom>
          <a:noFill/>
          <a:ln/>
        </p:spPr>
        <p:txBody>
          <a:bodyPr wrap="square" lIns="0" tIns="0" rIns="0" bIns="0" rtlCol="0" anchor="t"/>
          <a:lstStyle/>
          <a:p>
            <a:pPr marL="0" indent="0">
              <a:buNone/>
            </a:pPr>
            <a:r>
              <a:rPr lang="en-US" sz="850" dirty="0">
                <a:solidFill>
                  <a:srgbClr val="334155"/>
                </a:solidFill>
                <a:latin typeface="Calibri" pitchFamily="34" charset="0"/>
                <a:ea typeface="Calibri" pitchFamily="34" charset="-122"/>
                <a:cs typeface="Calibri" pitchFamily="34" charset="-120"/>
              </a:rPr>
              <a:t>One positive: only 3 stockout risk products, and the average reorder level of 101 units provides a safety buffer. However, 39% utilisation means warehousing costs could be reduced significantly by consolidation.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E7490"/>
          </a:solidFill>
          <a:ln w="12700">
            <a:solidFill>
              <a:srgbClr val="0E7490"/>
            </a:solidFill>
            <a:prstDash val="solid"/>
          </a:ln>
        </p:spPr>
      </p:sp>
      <p:sp>
        <p:nvSpPr>
          <p:cNvPr id="3" name="Shape 1"/>
          <p:cNvSpPr/>
          <p:nvPr/>
        </p:nvSpPr>
        <p:spPr>
          <a:xfrm>
            <a:off x="5943600" y="-914400"/>
            <a:ext cx="4754880" cy="4754880"/>
          </a:xfrm>
          <a:prstGeom prst="ellipse">
            <a:avLst/>
          </a:prstGeom>
          <a:solidFill>
            <a:srgbClr val="0E7490">
              <a:alpha val="12000"/>
            </a:srgbClr>
          </a:solidFill>
          <a:ln w="12700">
            <a:solidFill>
              <a:srgbClr val="0E7490">
                <a:alpha val="12000"/>
              </a:srgbClr>
            </a:solidFill>
            <a:prstDash val="solid"/>
          </a:ln>
        </p:spPr>
      </p:sp>
      <p:sp>
        <p:nvSpPr>
          <p:cNvPr id="4" name="Shape 2"/>
          <p:cNvSpPr/>
          <p:nvPr/>
        </p:nvSpPr>
        <p:spPr>
          <a:xfrm>
            <a:off x="-914400" y="2926080"/>
            <a:ext cx="3657600" cy="3657600"/>
          </a:xfrm>
          <a:prstGeom prst="ellipse">
            <a:avLst/>
          </a:prstGeom>
          <a:solidFill>
            <a:srgbClr val="1F4E79">
              <a:alpha val="18000"/>
            </a:srgbClr>
          </a:solidFill>
          <a:ln w="12700">
            <a:solidFill>
              <a:srgbClr val="1F4E79">
                <a:alpha val="18000"/>
              </a:srgbClr>
            </a:solidFill>
            <a:prstDash val="solid"/>
          </a:ln>
        </p:spPr>
      </p:sp>
      <p:sp>
        <p:nvSpPr>
          <p:cNvPr id="6" name="Text 4"/>
          <p:cNvSpPr/>
          <p:nvPr/>
        </p:nvSpPr>
        <p:spPr>
          <a:xfrm>
            <a:off x="2995920" y="2057400"/>
            <a:ext cx="1518480" cy="594360"/>
          </a:xfrm>
          <a:prstGeom prst="rect">
            <a:avLst/>
          </a:prstGeom>
          <a:noFill/>
          <a:ln/>
        </p:spPr>
        <p:txBody>
          <a:bodyPr wrap="square" rtlCol="0" anchor="ctr"/>
          <a:lstStyle/>
          <a:p>
            <a:pPr marL="0" indent="0">
              <a:buNone/>
            </a:pPr>
            <a:r>
              <a:rPr lang="en-US" sz="4000" b="1" dirty="0">
                <a:solidFill>
                  <a:srgbClr val="FFFFFF"/>
                </a:solidFill>
                <a:effectLst>
                  <a:glow rad="63500">
                    <a:schemeClr val="accent1">
                      <a:satMod val="175000"/>
                      <a:alpha val="40000"/>
                    </a:schemeClr>
                  </a:glow>
                </a:effectLst>
                <a:latin typeface="Calibri" pitchFamily="34" charset="0"/>
                <a:ea typeface="Calibri" pitchFamily="34" charset="-122"/>
                <a:cs typeface="Calibri" pitchFamily="34" charset="-120"/>
              </a:rPr>
              <a:t>Thank</a:t>
            </a:r>
            <a:endParaRPr lang="en-US" sz="4000" dirty="0">
              <a:effectLst>
                <a:glow rad="63500">
                  <a:schemeClr val="accent1">
                    <a:satMod val="175000"/>
                    <a:alpha val="40000"/>
                  </a:schemeClr>
                </a:glow>
              </a:effectLst>
            </a:endParaRPr>
          </a:p>
        </p:txBody>
      </p:sp>
      <p:sp>
        <p:nvSpPr>
          <p:cNvPr id="7" name="Text 5"/>
          <p:cNvSpPr/>
          <p:nvPr/>
        </p:nvSpPr>
        <p:spPr>
          <a:xfrm>
            <a:off x="4303531" y="2668320"/>
            <a:ext cx="1009080" cy="548640"/>
          </a:xfrm>
          <a:prstGeom prst="rect">
            <a:avLst/>
          </a:prstGeom>
          <a:noFill/>
          <a:ln/>
        </p:spPr>
        <p:txBody>
          <a:bodyPr wrap="square" rtlCol="0" anchor="ctr"/>
          <a:lstStyle/>
          <a:p>
            <a:pPr marL="0" indent="0">
              <a:buNone/>
            </a:pPr>
            <a:r>
              <a:rPr lang="en-US" sz="4000" b="1" dirty="0">
                <a:solidFill>
                  <a:srgbClr val="0E7490"/>
                </a:solidFill>
                <a:effectLst>
                  <a:glow rad="63500">
                    <a:schemeClr val="accent1">
                      <a:satMod val="175000"/>
                      <a:alpha val="40000"/>
                    </a:schemeClr>
                  </a:glow>
                </a:effectLst>
                <a:latin typeface="Calibri" pitchFamily="34" charset="0"/>
                <a:ea typeface="Calibri" pitchFamily="34" charset="-122"/>
                <a:cs typeface="Calibri" pitchFamily="34" charset="-120"/>
              </a:rPr>
              <a:t>You</a:t>
            </a:r>
            <a:endParaRPr lang="en-US" sz="4000" dirty="0">
              <a:effectLst>
                <a:glow rad="63500">
                  <a:schemeClr val="accent1">
                    <a:satMod val="175000"/>
                    <a:alpha val="40000"/>
                  </a:schemeClr>
                </a:glo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TotalTime>
  <Words>1947</Words>
  <Application>Microsoft Office PowerPoint</Application>
  <PresentationFormat>On-screen Show (16:9)</PresentationFormat>
  <Paragraphs>326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Analytics Dashboard – Project Presentation</dc:title>
  <dc:subject>PptxGenJS Presentation</dc:subject>
  <dc:creator>Supply Chain Analytics</dc:creator>
  <cp:lastModifiedBy>Sahil Raval</cp:lastModifiedBy>
  <cp:revision>31</cp:revision>
  <dcterms:created xsi:type="dcterms:W3CDTF">2026-04-08T09:59:50Z</dcterms:created>
  <dcterms:modified xsi:type="dcterms:W3CDTF">2026-04-12T12:17:27Z</dcterms:modified>
</cp:coreProperties>
</file>